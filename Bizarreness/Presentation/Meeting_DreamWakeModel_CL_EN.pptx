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315" r:id="rId3"/>
    <p:sldId id="305" r:id="rId4"/>
    <p:sldId id="324" r:id="rId5"/>
    <p:sldId id="325" r:id="rId6"/>
    <p:sldId id="328" r:id="rId7"/>
    <p:sldId id="330" r:id="rId8"/>
    <p:sldId id="301" r:id="rId9"/>
    <p:sldId id="317" r:id="rId10"/>
    <p:sldId id="312" r:id="rId11"/>
    <p:sldId id="320" r:id="rId12"/>
    <p:sldId id="285" r:id="rId13"/>
    <p:sldId id="286" r:id="rId14"/>
    <p:sldId id="287" r:id="rId15"/>
    <p:sldId id="292" r:id="rId16"/>
    <p:sldId id="288" r:id="rId17"/>
    <p:sldId id="291" r:id="rId18"/>
    <p:sldId id="297" r:id="rId19"/>
    <p:sldId id="289" r:id="rId20"/>
    <p:sldId id="294" r:id="rId21"/>
    <p:sldId id="293" r:id="rId22"/>
    <p:sldId id="298"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4D9C"/>
    <a:srgbClr val="F463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5" autoAdjust="0"/>
    <p:restoredTop sz="94687"/>
  </p:normalViewPr>
  <p:slideViewPr>
    <p:cSldViewPr snapToGrid="0">
      <p:cViewPr varScale="1">
        <p:scale>
          <a:sx n="78" d="100"/>
          <a:sy n="78" d="100"/>
        </p:scale>
        <p:origin x="82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35EDFC-71B8-EF88-BBCC-3B71C1FB628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04EBAC2-616A-4577-7B3D-8E81D40AA0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5BE8135-554B-111D-23D0-169378C318D9}"/>
              </a:ext>
            </a:extLst>
          </p:cNvPr>
          <p:cNvSpPr>
            <a:spLocks noGrp="1"/>
          </p:cNvSpPr>
          <p:nvPr>
            <p:ph type="dt" sz="half" idx="10"/>
          </p:nvPr>
        </p:nvSpPr>
        <p:spPr/>
        <p:txBody>
          <a:bodyPr/>
          <a:lstStyle/>
          <a:p>
            <a:fld id="{6A604A39-AE0A-4427-8406-285C70DBDA68}" type="datetimeFigureOut">
              <a:rPr lang="fr-FR" smtClean="0"/>
              <a:t>19/03/2026</a:t>
            </a:fld>
            <a:endParaRPr lang="fr-FR"/>
          </a:p>
        </p:txBody>
      </p:sp>
      <p:sp>
        <p:nvSpPr>
          <p:cNvPr id="5" name="Espace réservé du pied de page 4">
            <a:extLst>
              <a:ext uri="{FF2B5EF4-FFF2-40B4-BE49-F238E27FC236}">
                <a16:creationId xmlns:a16="http://schemas.microsoft.com/office/drawing/2014/main" id="{D74A9B4F-4E3D-FA1B-A7D0-D7997146C3F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4D83B85-BA7D-3A24-3662-AEF950E9D86A}"/>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1236579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B83D56-1E72-0ED8-DB32-13FB75C506A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56D9D05-059C-B78F-12FB-DC3159BE1E1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E57EC1A-2117-B822-5711-519D27C794FC}"/>
              </a:ext>
            </a:extLst>
          </p:cNvPr>
          <p:cNvSpPr>
            <a:spLocks noGrp="1"/>
          </p:cNvSpPr>
          <p:nvPr>
            <p:ph type="dt" sz="half" idx="10"/>
          </p:nvPr>
        </p:nvSpPr>
        <p:spPr/>
        <p:txBody>
          <a:bodyPr/>
          <a:lstStyle/>
          <a:p>
            <a:fld id="{6A604A39-AE0A-4427-8406-285C70DBDA68}" type="datetimeFigureOut">
              <a:rPr lang="fr-FR" smtClean="0"/>
              <a:t>19/03/2026</a:t>
            </a:fld>
            <a:endParaRPr lang="fr-FR"/>
          </a:p>
        </p:txBody>
      </p:sp>
      <p:sp>
        <p:nvSpPr>
          <p:cNvPr id="5" name="Espace réservé du pied de page 4">
            <a:extLst>
              <a:ext uri="{FF2B5EF4-FFF2-40B4-BE49-F238E27FC236}">
                <a16:creationId xmlns:a16="http://schemas.microsoft.com/office/drawing/2014/main" id="{4F1F2397-D43C-D397-2C7F-F5C80209BE9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098D3EC-4550-8B2D-C9A1-6C086A201CDE}"/>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3154221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EEA999-A93E-A559-B4C6-8F62DE6BC26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6518CCF-5F1F-58C7-D150-5531198D82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B6E416F-FFD0-A3A4-DB21-0FA05C1D62EA}"/>
              </a:ext>
            </a:extLst>
          </p:cNvPr>
          <p:cNvSpPr>
            <a:spLocks noGrp="1"/>
          </p:cNvSpPr>
          <p:nvPr>
            <p:ph type="dt" sz="half" idx="10"/>
          </p:nvPr>
        </p:nvSpPr>
        <p:spPr/>
        <p:txBody>
          <a:bodyPr/>
          <a:lstStyle/>
          <a:p>
            <a:fld id="{6A604A39-AE0A-4427-8406-285C70DBDA68}" type="datetimeFigureOut">
              <a:rPr lang="fr-FR" smtClean="0"/>
              <a:t>19/03/2026</a:t>
            </a:fld>
            <a:endParaRPr lang="fr-FR"/>
          </a:p>
        </p:txBody>
      </p:sp>
      <p:sp>
        <p:nvSpPr>
          <p:cNvPr id="5" name="Espace réservé du pied de page 4">
            <a:extLst>
              <a:ext uri="{FF2B5EF4-FFF2-40B4-BE49-F238E27FC236}">
                <a16:creationId xmlns:a16="http://schemas.microsoft.com/office/drawing/2014/main" id="{59947553-5EC4-71C0-980A-2A4991E8A40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682DC53-A1DA-5A84-43FB-77D82EC98DAA}"/>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894134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C47255-F984-BD72-7C3F-318F6235EE0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84C882E-458B-31AA-B829-26383A0A5C5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1CEB3DF-CDB8-740A-DD2D-5DE564D4E2E5}"/>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9D6A0C6-D87F-6A9A-DC37-59B751E1134A}"/>
              </a:ext>
            </a:extLst>
          </p:cNvPr>
          <p:cNvSpPr>
            <a:spLocks noGrp="1"/>
          </p:cNvSpPr>
          <p:nvPr>
            <p:ph type="dt" sz="half" idx="10"/>
          </p:nvPr>
        </p:nvSpPr>
        <p:spPr/>
        <p:txBody>
          <a:bodyPr/>
          <a:lstStyle/>
          <a:p>
            <a:fld id="{6A604A39-AE0A-4427-8406-285C70DBDA68}" type="datetimeFigureOut">
              <a:rPr lang="fr-FR" smtClean="0"/>
              <a:t>19/03/2026</a:t>
            </a:fld>
            <a:endParaRPr lang="fr-FR"/>
          </a:p>
        </p:txBody>
      </p:sp>
      <p:sp>
        <p:nvSpPr>
          <p:cNvPr id="6" name="Espace réservé du pied de page 5">
            <a:extLst>
              <a:ext uri="{FF2B5EF4-FFF2-40B4-BE49-F238E27FC236}">
                <a16:creationId xmlns:a16="http://schemas.microsoft.com/office/drawing/2014/main" id="{A4DFBF88-B0EF-FC91-B7D0-E21E850D315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C4D67AB-E599-64CC-D69D-08BA686556C9}"/>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1925313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2F5564-4380-A808-1BAC-34D91B50D66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946E031-ED12-0359-BA65-E506D88A4D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04BCF2CC-C2FF-8D99-9DD3-CB38945746E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3B9DC95-4020-286D-626B-47D737933B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869EC93-366D-4D5B-E5D3-16332AD6C9D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C635177-D7F5-C649-5616-EEEB8237BFF1}"/>
              </a:ext>
            </a:extLst>
          </p:cNvPr>
          <p:cNvSpPr>
            <a:spLocks noGrp="1"/>
          </p:cNvSpPr>
          <p:nvPr>
            <p:ph type="dt" sz="half" idx="10"/>
          </p:nvPr>
        </p:nvSpPr>
        <p:spPr/>
        <p:txBody>
          <a:bodyPr/>
          <a:lstStyle/>
          <a:p>
            <a:fld id="{6A604A39-AE0A-4427-8406-285C70DBDA68}" type="datetimeFigureOut">
              <a:rPr lang="fr-FR" smtClean="0"/>
              <a:t>19/03/2026</a:t>
            </a:fld>
            <a:endParaRPr lang="fr-FR"/>
          </a:p>
        </p:txBody>
      </p:sp>
      <p:sp>
        <p:nvSpPr>
          <p:cNvPr id="8" name="Espace réservé du pied de page 7">
            <a:extLst>
              <a:ext uri="{FF2B5EF4-FFF2-40B4-BE49-F238E27FC236}">
                <a16:creationId xmlns:a16="http://schemas.microsoft.com/office/drawing/2014/main" id="{93FBF0F8-5E09-EDAB-ECC9-337D1D9E406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D110F18-6572-A96A-AB43-E151573FCA00}"/>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379077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77F1FA-F9BC-1CF7-9AC5-2535C495C44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414921B-B4C4-4181-E4EE-2D00709069FD}"/>
              </a:ext>
            </a:extLst>
          </p:cNvPr>
          <p:cNvSpPr>
            <a:spLocks noGrp="1"/>
          </p:cNvSpPr>
          <p:nvPr>
            <p:ph type="dt" sz="half" idx="10"/>
          </p:nvPr>
        </p:nvSpPr>
        <p:spPr/>
        <p:txBody>
          <a:bodyPr/>
          <a:lstStyle/>
          <a:p>
            <a:fld id="{6A604A39-AE0A-4427-8406-285C70DBDA68}" type="datetimeFigureOut">
              <a:rPr lang="fr-FR" smtClean="0"/>
              <a:t>19/03/2026</a:t>
            </a:fld>
            <a:endParaRPr lang="fr-FR"/>
          </a:p>
        </p:txBody>
      </p:sp>
      <p:sp>
        <p:nvSpPr>
          <p:cNvPr id="4" name="Espace réservé du pied de page 3">
            <a:extLst>
              <a:ext uri="{FF2B5EF4-FFF2-40B4-BE49-F238E27FC236}">
                <a16:creationId xmlns:a16="http://schemas.microsoft.com/office/drawing/2014/main" id="{CD6E05FC-AC95-6508-728E-B2647ABF166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8779261-ADA3-4A1F-D325-53FEBA41EA15}"/>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155492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F6D8093-48D5-0266-3F8E-A5D5E3831185}"/>
              </a:ext>
            </a:extLst>
          </p:cNvPr>
          <p:cNvSpPr>
            <a:spLocks noGrp="1"/>
          </p:cNvSpPr>
          <p:nvPr>
            <p:ph type="dt" sz="half" idx="10"/>
          </p:nvPr>
        </p:nvSpPr>
        <p:spPr/>
        <p:txBody>
          <a:bodyPr/>
          <a:lstStyle/>
          <a:p>
            <a:fld id="{6A604A39-AE0A-4427-8406-285C70DBDA68}" type="datetimeFigureOut">
              <a:rPr lang="fr-FR" smtClean="0"/>
              <a:t>19/03/2026</a:t>
            </a:fld>
            <a:endParaRPr lang="fr-FR"/>
          </a:p>
        </p:txBody>
      </p:sp>
      <p:sp>
        <p:nvSpPr>
          <p:cNvPr id="3" name="Espace réservé du pied de page 2">
            <a:extLst>
              <a:ext uri="{FF2B5EF4-FFF2-40B4-BE49-F238E27FC236}">
                <a16:creationId xmlns:a16="http://schemas.microsoft.com/office/drawing/2014/main" id="{954C8B59-E5A2-B0D1-F327-B7E7CF918E4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720708D-C43E-AADA-5637-7C796607E347}"/>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2066654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27266E-02CE-8400-0846-66BEFEB446D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C168B35E-30D9-0014-A0B3-3FCA904FEE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5B2C5DA-C95C-FB90-7DAF-C42A4EBFC9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61A203F-23AB-0155-35F1-B3760BBF1083}"/>
              </a:ext>
            </a:extLst>
          </p:cNvPr>
          <p:cNvSpPr>
            <a:spLocks noGrp="1"/>
          </p:cNvSpPr>
          <p:nvPr>
            <p:ph type="dt" sz="half" idx="10"/>
          </p:nvPr>
        </p:nvSpPr>
        <p:spPr/>
        <p:txBody>
          <a:bodyPr/>
          <a:lstStyle/>
          <a:p>
            <a:fld id="{6A604A39-AE0A-4427-8406-285C70DBDA68}" type="datetimeFigureOut">
              <a:rPr lang="fr-FR" smtClean="0"/>
              <a:t>19/03/2026</a:t>
            </a:fld>
            <a:endParaRPr lang="fr-FR"/>
          </a:p>
        </p:txBody>
      </p:sp>
      <p:sp>
        <p:nvSpPr>
          <p:cNvPr id="6" name="Espace réservé du pied de page 5">
            <a:extLst>
              <a:ext uri="{FF2B5EF4-FFF2-40B4-BE49-F238E27FC236}">
                <a16:creationId xmlns:a16="http://schemas.microsoft.com/office/drawing/2014/main" id="{0C4B6ED7-9A23-9584-85EF-3CFE60AEB33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5A76684-ABA1-511F-DF4E-22D18AF32460}"/>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3346000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A2AF2B-1BE8-50E0-3C73-305F8A14FC0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E5F0F77-270C-30BE-9432-E76E938ED9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12BEB9B-CC63-01C5-AD96-84EC5D899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2AFD2B1-E9FF-9563-CE5F-332E6808F32D}"/>
              </a:ext>
            </a:extLst>
          </p:cNvPr>
          <p:cNvSpPr>
            <a:spLocks noGrp="1"/>
          </p:cNvSpPr>
          <p:nvPr>
            <p:ph type="dt" sz="half" idx="10"/>
          </p:nvPr>
        </p:nvSpPr>
        <p:spPr/>
        <p:txBody>
          <a:bodyPr/>
          <a:lstStyle/>
          <a:p>
            <a:fld id="{6A604A39-AE0A-4427-8406-285C70DBDA68}" type="datetimeFigureOut">
              <a:rPr lang="fr-FR" smtClean="0"/>
              <a:t>19/03/2026</a:t>
            </a:fld>
            <a:endParaRPr lang="fr-FR"/>
          </a:p>
        </p:txBody>
      </p:sp>
      <p:sp>
        <p:nvSpPr>
          <p:cNvPr id="6" name="Espace réservé du pied de page 5">
            <a:extLst>
              <a:ext uri="{FF2B5EF4-FFF2-40B4-BE49-F238E27FC236}">
                <a16:creationId xmlns:a16="http://schemas.microsoft.com/office/drawing/2014/main" id="{5380FD85-DF6C-6991-EF89-F2131961F40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A7659CE-DD92-7352-7786-AF30E531DD50}"/>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798069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5AFF14-A6D4-19D4-F428-5C6E7BEFEE0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CAF5433-028D-7371-40E1-EDFFFC412EB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DD067C0-63DB-A1F3-EBD7-9BB879AF83B1}"/>
              </a:ext>
            </a:extLst>
          </p:cNvPr>
          <p:cNvSpPr>
            <a:spLocks noGrp="1"/>
          </p:cNvSpPr>
          <p:nvPr>
            <p:ph type="dt" sz="half" idx="10"/>
          </p:nvPr>
        </p:nvSpPr>
        <p:spPr/>
        <p:txBody>
          <a:bodyPr/>
          <a:lstStyle/>
          <a:p>
            <a:fld id="{6A604A39-AE0A-4427-8406-285C70DBDA68}" type="datetimeFigureOut">
              <a:rPr lang="fr-FR" smtClean="0"/>
              <a:t>19/03/2026</a:t>
            </a:fld>
            <a:endParaRPr lang="fr-FR"/>
          </a:p>
        </p:txBody>
      </p:sp>
      <p:sp>
        <p:nvSpPr>
          <p:cNvPr id="5" name="Espace réservé du pied de page 4">
            <a:extLst>
              <a:ext uri="{FF2B5EF4-FFF2-40B4-BE49-F238E27FC236}">
                <a16:creationId xmlns:a16="http://schemas.microsoft.com/office/drawing/2014/main" id="{162FFA37-ECC2-52A8-D22A-F08C33ED2BB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5C1E899-B670-59E6-8465-4498640896C5}"/>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2269930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AC0AEEA-F291-76F0-9268-17FA615F385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F9B7238-1657-B5FF-E285-4601E070692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04D959D-6211-F00C-A79E-D1686345B470}"/>
              </a:ext>
            </a:extLst>
          </p:cNvPr>
          <p:cNvSpPr>
            <a:spLocks noGrp="1"/>
          </p:cNvSpPr>
          <p:nvPr>
            <p:ph type="dt" sz="half" idx="10"/>
          </p:nvPr>
        </p:nvSpPr>
        <p:spPr/>
        <p:txBody>
          <a:bodyPr/>
          <a:lstStyle/>
          <a:p>
            <a:fld id="{6A604A39-AE0A-4427-8406-285C70DBDA68}" type="datetimeFigureOut">
              <a:rPr lang="fr-FR" smtClean="0"/>
              <a:t>19/03/2026</a:t>
            </a:fld>
            <a:endParaRPr lang="fr-FR"/>
          </a:p>
        </p:txBody>
      </p:sp>
      <p:sp>
        <p:nvSpPr>
          <p:cNvPr id="5" name="Espace réservé du pied de page 4">
            <a:extLst>
              <a:ext uri="{FF2B5EF4-FFF2-40B4-BE49-F238E27FC236}">
                <a16:creationId xmlns:a16="http://schemas.microsoft.com/office/drawing/2014/main" id="{93292285-ACB1-85B0-2521-588CE825B04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94F2C2F-B4D1-C66F-AA99-91B07D59449A}"/>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2476094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9F33C31-9AAB-CBCD-562B-8E8ABB8211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1F3C9FF-A55C-147E-837D-C1ED959F62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9FEE80C-544D-3F81-348E-3BEF1149C0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604A39-AE0A-4427-8406-285C70DBDA68}" type="datetimeFigureOut">
              <a:rPr lang="fr-FR" smtClean="0"/>
              <a:t>19/03/2026</a:t>
            </a:fld>
            <a:endParaRPr lang="fr-FR"/>
          </a:p>
        </p:txBody>
      </p:sp>
      <p:sp>
        <p:nvSpPr>
          <p:cNvPr id="5" name="Espace réservé du pied de page 4">
            <a:extLst>
              <a:ext uri="{FF2B5EF4-FFF2-40B4-BE49-F238E27FC236}">
                <a16:creationId xmlns:a16="http://schemas.microsoft.com/office/drawing/2014/main" id="{3CEF15ED-4F58-B921-B7F8-BB8D8B8D9B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78190D1-A639-8C01-E269-79C99F1F16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18A441-3A76-405A-823C-721D1FF4731C}" type="slidenum">
              <a:rPr lang="fr-FR" smtClean="0"/>
              <a:t>‹N°›</a:t>
            </a:fld>
            <a:endParaRPr lang="fr-FR"/>
          </a:p>
        </p:txBody>
      </p:sp>
    </p:spTree>
    <p:extLst>
      <p:ext uri="{BB962C8B-B14F-4D97-AF65-F5344CB8AC3E}">
        <p14:creationId xmlns:p14="http://schemas.microsoft.com/office/powerpoint/2010/main" val="732145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re 1">
            <a:extLst>
              <a:ext uri="{FF2B5EF4-FFF2-40B4-BE49-F238E27FC236}">
                <a16:creationId xmlns:a16="http://schemas.microsoft.com/office/drawing/2014/main" id="{073FD16B-D673-1A45-13A3-6D23C1F01AA5}"/>
              </a:ext>
            </a:extLst>
          </p:cNvPr>
          <p:cNvSpPr>
            <a:spLocks noGrp="1"/>
          </p:cNvSpPr>
          <p:nvPr>
            <p:ph type="ctrTitle"/>
          </p:nvPr>
        </p:nvSpPr>
        <p:spPr>
          <a:xfrm>
            <a:off x="753925" y="1321056"/>
            <a:ext cx="10684151" cy="1991979"/>
          </a:xfrm>
        </p:spPr>
        <p:txBody>
          <a:bodyPr anchor="b">
            <a:normAutofit/>
          </a:bodyPr>
          <a:lstStyle/>
          <a:p>
            <a:r>
              <a:rPr lang="en-GB" sz="5200" dirty="0">
                <a:solidFill>
                  <a:schemeClr val="tx2"/>
                </a:solidFill>
                <a:latin typeface="Bookman Old Style" panose="02050604050505020204" pitchFamily="18" charset="0"/>
              </a:rPr>
              <a:t>Dream/wakefulness classification through LLM</a:t>
            </a:r>
            <a:endParaRPr lang="fr-FR" sz="5200" dirty="0">
              <a:solidFill>
                <a:schemeClr val="tx2"/>
              </a:solidFill>
            </a:endParaRPr>
          </a:p>
        </p:txBody>
      </p:sp>
      <p:grpSp>
        <p:nvGrpSpPr>
          <p:cNvPr id="42" name="Group 41">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43" name="Freeform: Shape 42">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49" name="Freeform: Shape 48">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ZoneTexte 3">
            <a:extLst>
              <a:ext uri="{FF2B5EF4-FFF2-40B4-BE49-F238E27FC236}">
                <a16:creationId xmlns:a16="http://schemas.microsoft.com/office/drawing/2014/main" id="{72A9E55F-30D0-B87B-4582-99C63AA8CD3A}"/>
              </a:ext>
            </a:extLst>
          </p:cNvPr>
          <p:cNvSpPr txBox="1"/>
          <p:nvPr/>
        </p:nvSpPr>
        <p:spPr>
          <a:xfrm>
            <a:off x="4483357" y="5536944"/>
            <a:ext cx="3224980" cy="415498"/>
          </a:xfrm>
          <a:prstGeom prst="rect">
            <a:avLst/>
          </a:prstGeom>
          <a:noFill/>
        </p:spPr>
        <p:txBody>
          <a:bodyPr wrap="square" rtlCol="0">
            <a:spAutoFit/>
          </a:bodyPr>
          <a:lstStyle/>
          <a:p>
            <a:r>
              <a:rPr lang="fr-FR" sz="2100" dirty="0">
                <a:latin typeface="Bookman Old Style" panose="02050604050505020204" pitchFamily="18" charset="0"/>
              </a:rPr>
              <a:t>Enzo Gerbelot-</a:t>
            </a:r>
            <a:r>
              <a:rPr lang="fr-FR" sz="2100" dirty="0" err="1">
                <a:latin typeface="Bookman Old Style" panose="02050604050505020204" pitchFamily="18" charset="0"/>
              </a:rPr>
              <a:t>Legris</a:t>
            </a:r>
            <a:r>
              <a:rPr lang="fr-FR" sz="2100" dirty="0">
                <a:latin typeface="Bookman Old Style" panose="02050604050505020204" pitchFamily="18" charset="0"/>
              </a:rPr>
              <a:t> </a:t>
            </a:r>
          </a:p>
        </p:txBody>
      </p:sp>
    </p:spTree>
    <p:extLst>
      <p:ext uri="{BB962C8B-B14F-4D97-AF65-F5344CB8AC3E}">
        <p14:creationId xmlns:p14="http://schemas.microsoft.com/office/powerpoint/2010/main" val="2724360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B5024-34D6-B915-353F-E3D5A0A225A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8A94FAF-E318-172B-2962-E278E9CA2BBF}"/>
              </a:ext>
            </a:extLst>
          </p:cNvPr>
          <p:cNvSpPr>
            <a:spLocks noGrp="1"/>
          </p:cNvSpPr>
          <p:nvPr>
            <p:ph type="title"/>
          </p:nvPr>
        </p:nvSpPr>
        <p:spPr>
          <a:xfrm>
            <a:off x="838199" y="0"/>
            <a:ext cx="10515600" cy="1325563"/>
          </a:xfrm>
        </p:spPr>
        <p:txBody>
          <a:bodyPr>
            <a:normAutofit/>
          </a:bodyPr>
          <a:lstStyle/>
          <a:p>
            <a:pPr algn="ctr"/>
            <a:r>
              <a:rPr lang="en-GB" sz="3200" dirty="0">
                <a:solidFill>
                  <a:schemeClr val="tx2"/>
                </a:solidFill>
                <a:latin typeface="Bookman Old Style" panose="02050604050505020204" pitchFamily="18" charset="0"/>
              </a:rPr>
              <a:t>Overview</a:t>
            </a:r>
            <a:endParaRPr lang="en-GB" sz="3200" noProof="0" dirty="0">
              <a:latin typeface="Bookman Old Style" panose="02050604050505020204" pitchFamily="18" charset="0"/>
            </a:endParaRPr>
          </a:p>
        </p:txBody>
      </p:sp>
      <p:sp>
        <p:nvSpPr>
          <p:cNvPr id="3" name="Espace réservé du contenu 2">
            <a:extLst>
              <a:ext uri="{FF2B5EF4-FFF2-40B4-BE49-F238E27FC236}">
                <a16:creationId xmlns:a16="http://schemas.microsoft.com/office/drawing/2014/main" id="{B8A20E8E-66E2-CC7F-1888-F162393CB92E}"/>
              </a:ext>
            </a:extLst>
          </p:cNvPr>
          <p:cNvSpPr>
            <a:spLocks noGrp="1"/>
          </p:cNvSpPr>
          <p:nvPr>
            <p:ph idx="1"/>
          </p:nvPr>
        </p:nvSpPr>
        <p:spPr>
          <a:xfrm>
            <a:off x="266701" y="1110585"/>
            <a:ext cx="10991850" cy="672495"/>
          </a:xfrm>
        </p:spPr>
        <p:txBody>
          <a:bodyPr>
            <a:noAutofit/>
          </a:bodyPr>
          <a:lstStyle/>
          <a:p>
            <a:pPr marL="0" indent="0" algn="just">
              <a:buNone/>
            </a:pPr>
            <a:endParaRPr lang="en-US" sz="2600" dirty="0"/>
          </a:p>
          <a:p>
            <a:pPr marL="0" indent="0" algn="just">
              <a:buNone/>
            </a:pPr>
            <a:endParaRPr lang="en-US" sz="2600" dirty="0"/>
          </a:p>
          <a:p>
            <a:pPr marL="0" indent="0" algn="just">
              <a:buNone/>
            </a:pPr>
            <a:endParaRPr lang="en-US" sz="2600" noProof="0" dirty="0"/>
          </a:p>
          <a:p>
            <a:pPr marL="0" indent="0" algn="just">
              <a:buNone/>
            </a:pPr>
            <a:endParaRPr lang="en-GB" sz="2600" noProof="0" dirty="0"/>
          </a:p>
          <a:p>
            <a:pPr marL="0" indent="0">
              <a:buNone/>
            </a:pPr>
            <a:endParaRPr lang="en-GB" sz="2400" noProof="0" dirty="0"/>
          </a:p>
          <a:p>
            <a:pPr marL="0" indent="0">
              <a:buNone/>
            </a:pPr>
            <a:endParaRPr lang="en-GB" sz="2400" dirty="0"/>
          </a:p>
        </p:txBody>
      </p:sp>
      <p:sp>
        <p:nvSpPr>
          <p:cNvPr id="5" name="TextBox 4">
            <a:extLst>
              <a:ext uri="{FF2B5EF4-FFF2-40B4-BE49-F238E27FC236}">
                <a16:creationId xmlns:a16="http://schemas.microsoft.com/office/drawing/2014/main" id="{4E9B54F5-243E-195D-DA9C-5F1AAADE6B68}"/>
              </a:ext>
            </a:extLst>
          </p:cNvPr>
          <p:cNvSpPr txBox="1"/>
          <p:nvPr/>
        </p:nvSpPr>
        <p:spPr>
          <a:xfrm>
            <a:off x="426718" y="1647042"/>
            <a:ext cx="10557511" cy="523220"/>
          </a:xfrm>
          <a:prstGeom prst="rect">
            <a:avLst/>
          </a:prstGeom>
          <a:noFill/>
        </p:spPr>
        <p:txBody>
          <a:bodyPr wrap="square">
            <a:spAutoFit/>
          </a:bodyPr>
          <a:lstStyle/>
          <a:p>
            <a:pPr marL="0" indent="0" algn="just">
              <a:buNone/>
            </a:pPr>
            <a:r>
              <a:rPr lang="en-US" sz="2800" dirty="0"/>
              <a:t>Dataset : ~ 100 hypnagogic reports obtained after short naps</a:t>
            </a:r>
          </a:p>
        </p:txBody>
      </p:sp>
      <p:sp>
        <p:nvSpPr>
          <p:cNvPr id="7" name="TextBox 6">
            <a:extLst>
              <a:ext uri="{FF2B5EF4-FFF2-40B4-BE49-F238E27FC236}">
                <a16:creationId xmlns:a16="http://schemas.microsoft.com/office/drawing/2014/main" id="{64A4CC84-02B9-7A65-5DAB-74DEF4C03171}"/>
              </a:ext>
            </a:extLst>
          </p:cNvPr>
          <p:cNvSpPr txBox="1"/>
          <p:nvPr/>
        </p:nvSpPr>
        <p:spPr>
          <a:xfrm>
            <a:off x="417191" y="3254193"/>
            <a:ext cx="10576563" cy="954107"/>
          </a:xfrm>
          <a:prstGeom prst="rect">
            <a:avLst/>
          </a:prstGeom>
          <a:noFill/>
        </p:spPr>
        <p:txBody>
          <a:bodyPr wrap="square">
            <a:spAutoFit/>
          </a:bodyPr>
          <a:lstStyle/>
          <a:p>
            <a:pPr marL="285750" indent="-285750">
              <a:buFont typeface="Wingdings" pitchFamily="2" charset="2"/>
              <a:buChar char="à"/>
            </a:pPr>
            <a:r>
              <a:rPr lang="en-US" sz="2800" dirty="0">
                <a:sym typeface="Wingdings" pitchFamily="2" charset="2"/>
              </a:rPr>
              <a:t> What are the defining characteristics of hypnagogic experiences that differentiate them from dreams and wakefulness reports? </a:t>
            </a:r>
            <a:endParaRPr lang="en-US" sz="2800" dirty="0"/>
          </a:p>
        </p:txBody>
      </p:sp>
      <p:sp>
        <p:nvSpPr>
          <p:cNvPr id="9" name="TextBox 8">
            <a:extLst>
              <a:ext uri="{FF2B5EF4-FFF2-40B4-BE49-F238E27FC236}">
                <a16:creationId xmlns:a16="http://schemas.microsoft.com/office/drawing/2014/main" id="{5C1A3505-8B9E-0FDD-F206-8B97AA4DE722}"/>
              </a:ext>
            </a:extLst>
          </p:cNvPr>
          <p:cNvSpPr txBox="1"/>
          <p:nvPr/>
        </p:nvSpPr>
        <p:spPr>
          <a:xfrm>
            <a:off x="426718" y="2369631"/>
            <a:ext cx="8477252" cy="523220"/>
          </a:xfrm>
          <a:prstGeom prst="rect">
            <a:avLst/>
          </a:prstGeom>
          <a:noFill/>
        </p:spPr>
        <p:txBody>
          <a:bodyPr wrap="square">
            <a:spAutoFit/>
          </a:bodyPr>
          <a:lstStyle/>
          <a:p>
            <a:pPr marL="0" indent="0" algn="just">
              <a:buNone/>
            </a:pPr>
            <a:r>
              <a:rPr lang="en-US" sz="2800" u="sng" dirty="0"/>
              <a:t>Main goal</a:t>
            </a:r>
            <a:r>
              <a:rPr lang="en-US" sz="2800" dirty="0"/>
              <a:t>: Better characterizing </a:t>
            </a:r>
            <a:r>
              <a:rPr lang="en-US" sz="2800" b="1" dirty="0"/>
              <a:t>hypnagogia </a:t>
            </a:r>
            <a:r>
              <a:rPr lang="en-US" sz="2800" dirty="0"/>
              <a:t>using AI</a:t>
            </a:r>
          </a:p>
        </p:txBody>
      </p:sp>
      <p:sp>
        <p:nvSpPr>
          <p:cNvPr id="11" name="TextBox 10">
            <a:extLst>
              <a:ext uri="{FF2B5EF4-FFF2-40B4-BE49-F238E27FC236}">
                <a16:creationId xmlns:a16="http://schemas.microsoft.com/office/drawing/2014/main" id="{0E73CB8D-A00F-758E-6EF2-F1D16DAF3DAB}"/>
              </a:ext>
            </a:extLst>
          </p:cNvPr>
          <p:cNvSpPr txBox="1"/>
          <p:nvPr/>
        </p:nvSpPr>
        <p:spPr>
          <a:xfrm>
            <a:off x="426718" y="4559046"/>
            <a:ext cx="8077203" cy="954107"/>
          </a:xfrm>
          <a:prstGeom prst="rect">
            <a:avLst/>
          </a:prstGeom>
          <a:noFill/>
        </p:spPr>
        <p:txBody>
          <a:bodyPr wrap="square">
            <a:spAutoFit/>
          </a:bodyPr>
          <a:lstStyle/>
          <a:p>
            <a:pPr marL="0" indent="0" algn="just">
              <a:buNone/>
            </a:pPr>
            <a:r>
              <a:rPr lang="en-US" sz="2800" u="sng" dirty="0"/>
              <a:t>First step</a:t>
            </a:r>
            <a:r>
              <a:rPr lang="en-US" sz="2800" dirty="0"/>
              <a:t>: </a:t>
            </a:r>
            <a:r>
              <a:rPr lang="en-US" sz="2800" b="1" dirty="0"/>
              <a:t>Model (Claude AI)</a:t>
            </a:r>
            <a:r>
              <a:rPr lang="en-US" sz="2800" dirty="0"/>
              <a:t> capable of </a:t>
            </a:r>
            <a:r>
              <a:rPr lang="en-US" sz="2800" b="1" dirty="0"/>
              <a:t>discriminating</a:t>
            </a:r>
            <a:r>
              <a:rPr lang="en-US" sz="2800" dirty="0"/>
              <a:t> </a:t>
            </a:r>
            <a:r>
              <a:rPr lang="en-US" sz="2800" b="1" dirty="0"/>
              <a:t>dreams</a:t>
            </a:r>
            <a:r>
              <a:rPr lang="en-US" sz="2800" dirty="0"/>
              <a:t> vs. </a:t>
            </a:r>
            <a:r>
              <a:rPr lang="en-US" sz="2800" b="1" dirty="0"/>
              <a:t>wakefulness</a:t>
            </a:r>
            <a:r>
              <a:rPr lang="en-US" sz="2800" dirty="0"/>
              <a:t> reports</a:t>
            </a:r>
          </a:p>
        </p:txBody>
      </p:sp>
    </p:spTree>
    <p:extLst>
      <p:ext uri="{BB962C8B-B14F-4D97-AF65-F5344CB8AC3E}">
        <p14:creationId xmlns:p14="http://schemas.microsoft.com/office/powerpoint/2010/main" val="383033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23A4C-A5BF-C53C-97FB-4885DEBC81B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9D7DD7F-C576-4F76-5908-D4227EE37962}"/>
              </a:ext>
            </a:extLst>
          </p:cNvPr>
          <p:cNvSpPr>
            <a:spLocks noGrp="1"/>
          </p:cNvSpPr>
          <p:nvPr>
            <p:ph type="title"/>
          </p:nvPr>
        </p:nvSpPr>
        <p:spPr>
          <a:xfrm>
            <a:off x="838200" y="0"/>
            <a:ext cx="10515600" cy="1325563"/>
          </a:xfrm>
        </p:spPr>
        <p:txBody>
          <a:bodyPr>
            <a:normAutofit/>
          </a:bodyPr>
          <a:lstStyle/>
          <a:p>
            <a:pPr algn="ctr"/>
            <a:r>
              <a:rPr lang="en-GB" sz="3200" dirty="0">
                <a:solidFill>
                  <a:schemeClr val="tx2"/>
                </a:solidFill>
                <a:latin typeface="Bookman Old Style" panose="02050604050505020204" pitchFamily="18" charset="0"/>
              </a:rPr>
              <a:t>Semantics of dreams</a:t>
            </a:r>
            <a:endParaRPr lang="en-GB" sz="3200" noProof="0" dirty="0">
              <a:latin typeface="Bookman Old Style" panose="02050604050505020204" pitchFamily="18" charset="0"/>
            </a:endParaRPr>
          </a:p>
        </p:txBody>
      </p:sp>
      <p:sp>
        <p:nvSpPr>
          <p:cNvPr id="3" name="Espace réservé du contenu 2">
            <a:extLst>
              <a:ext uri="{FF2B5EF4-FFF2-40B4-BE49-F238E27FC236}">
                <a16:creationId xmlns:a16="http://schemas.microsoft.com/office/drawing/2014/main" id="{7716E935-C1DF-FC9B-BFBD-D24CAC2571BE}"/>
              </a:ext>
            </a:extLst>
          </p:cNvPr>
          <p:cNvSpPr>
            <a:spLocks noGrp="1"/>
          </p:cNvSpPr>
          <p:nvPr>
            <p:ph idx="1"/>
          </p:nvPr>
        </p:nvSpPr>
        <p:spPr>
          <a:xfrm>
            <a:off x="237556" y="2013104"/>
            <a:ext cx="5554588" cy="1628454"/>
          </a:xfrm>
        </p:spPr>
        <p:txBody>
          <a:bodyPr>
            <a:noAutofit/>
          </a:bodyPr>
          <a:lstStyle/>
          <a:p>
            <a:pPr marL="0" indent="0" algn="just">
              <a:buNone/>
            </a:pPr>
            <a:r>
              <a:rPr lang="en-US" b="1" noProof="0" dirty="0">
                <a:sym typeface="Wingdings" panose="05000000000000000000" pitchFamily="2" charset="2"/>
              </a:rPr>
              <a:t>Your study: </a:t>
            </a:r>
            <a:r>
              <a:rPr lang="en-US" noProof="0" dirty="0">
                <a:sym typeface="Wingdings" panose="05000000000000000000" pitchFamily="2" charset="2"/>
              </a:rPr>
              <a:t>Identification of key semantic dimensions that discriminate wakefulness from dream reports?</a:t>
            </a:r>
            <a:endParaRPr lang="en-GB" noProof="0" dirty="0"/>
          </a:p>
          <a:p>
            <a:pPr marL="0" indent="0">
              <a:buNone/>
            </a:pPr>
            <a:endParaRPr lang="en-GB" sz="2400" dirty="0"/>
          </a:p>
        </p:txBody>
      </p:sp>
      <p:sp>
        <p:nvSpPr>
          <p:cNvPr id="9" name="ZoneTexte 8">
            <a:extLst>
              <a:ext uri="{FF2B5EF4-FFF2-40B4-BE49-F238E27FC236}">
                <a16:creationId xmlns:a16="http://schemas.microsoft.com/office/drawing/2014/main" id="{9A0B2E39-6E28-B23D-909E-A61E6C980502}"/>
              </a:ext>
            </a:extLst>
          </p:cNvPr>
          <p:cNvSpPr txBox="1"/>
          <p:nvPr/>
        </p:nvSpPr>
        <p:spPr>
          <a:xfrm>
            <a:off x="9538884" y="5903037"/>
            <a:ext cx="2460611" cy="461665"/>
          </a:xfrm>
          <a:prstGeom prst="rect">
            <a:avLst/>
          </a:prstGeom>
          <a:noFill/>
        </p:spPr>
        <p:txBody>
          <a:bodyPr wrap="square">
            <a:spAutoFit/>
          </a:bodyPr>
          <a:lstStyle/>
          <a:p>
            <a:pPr marL="0" indent="0">
              <a:buNone/>
            </a:pPr>
            <a:r>
              <a:rPr lang="en-US" sz="2400" i="1" dirty="0">
                <a:latin typeface="+mj-lt"/>
                <a:sym typeface="Wingdings" panose="05000000000000000000" pitchFamily="2" charset="2"/>
              </a:rPr>
              <a:t>Elce et al. (2025)</a:t>
            </a:r>
          </a:p>
        </p:txBody>
      </p:sp>
      <p:pic>
        <p:nvPicPr>
          <p:cNvPr id="4" name="Image 6">
            <a:extLst>
              <a:ext uri="{FF2B5EF4-FFF2-40B4-BE49-F238E27FC236}">
                <a16:creationId xmlns:a16="http://schemas.microsoft.com/office/drawing/2014/main" id="{520C3C68-D53B-F809-BA9F-0FA806E191C8}"/>
              </a:ext>
            </a:extLst>
          </p:cNvPr>
          <p:cNvPicPr>
            <a:picLocks noChangeAspect="1"/>
          </p:cNvPicPr>
          <p:nvPr/>
        </p:nvPicPr>
        <p:blipFill>
          <a:blip r:embed="rId2"/>
          <a:srcRect t="43829" r="62654"/>
          <a:stretch>
            <a:fillRect/>
          </a:stretch>
        </p:blipFill>
        <p:spPr>
          <a:xfrm>
            <a:off x="7040310" y="1245353"/>
            <a:ext cx="2119731" cy="5378379"/>
          </a:xfrm>
          <a:prstGeom prst="rect">
            <a:avLst/>
          </a:prstGeom>
        </p:spPr>
      </p:pic>
      <p:pic>
        <p:nvPicPr>
          <p:cNvPr id="5" name="Image 6">
            <a:extLst>
              <a:ext uri="{FF2B5EF4-FFF2-40B4-BE49-F238E27FC236}">
                <a16:creationId xmlns:a16="http://schemas.microsoft.com/office/drawing/2014/main" id="{440C6578-B2A1-21E8-E53A-DB588941AD5C}"/>
              </a:ext>
            </a:extLst>
          </p:cNvPr>
          <p:cNvPicPr>
            <a:picLocks noChangeAspect="1"/>
          </p:cNvPicPr>
          <p:nvPr/>
        </p:nvPicPr>
        <p:blipFill>
          <a:blip r:embed="rId2"/>
          <a:srcRect t="4007" r="58605" b="64193"/>
          <a:stretch>
            <a:fillRect/>
          </a:stretch>
        </p:blipFill>
        <p:spPr>
          <a:xfrm>
            <a:off x="8983579" y="1713060"/>
            <a:ext cx="3009147" cy="3899587"/>
          </a:xfrm>
          <a:prstGeom prst="rect">
            <a:avLst/>
          </a:prstGeom>
        </p:spPr>
      </p:pic>
      <p:sp>
        <p:nvSpPr>
          <p:cNvPr id="6" name="TextBox 5">
            <a:extLst>
              <a:ext uri="{FF2B5EF4-FFF2-40B4-BE49-F238E27FC236}">
                <a16:creationId xmlns:a16="http://schemas.microsoft.com/office/drawing/2014/main" id="{1141EC11-3D97-3EBA-5965-E11620D13A3D}"/>
              </a:ext>
            </a:extLst>
          </p:cNvPr>
          <p:cNvSpPr txBox="1"/>
          <p:nvPr/>
        </p:nvSpPr>
        <p:spPr>
          <a:xfrm rot="16200000">
            <a:off x="8012825" y="3358777"/>
            <a:ext cx="2528897" cy="523220"/>
          </a:xfrm>
          <a:prstGeom prst="rect">
            <a:avLst/>
          </a:prstGeom>
          <a:noFill/>
        </p:spPr>
        <p:txBody>
          <a:bodyPr wrap="none" rtlCol="0">
            <a:spAutoFit/>
          </a:bodyPr>
          <a:lstStyle/>
          <a:p>
            <a:r>
              <a:rPr lang="en-CH" sz="2800" b="1" dirty="0">
                <a:solidFill>
                  <a:srgbClr val="F4634B"/>
                </a:solidFill>
              </a:rPr>
              <a:t>Wake &gt; Dream</a:t>
            </a:r>
          </a:p>
        </p:txBody>
      </p:sp>
      <p:sp>
        <p:nvSpPr>
          <p:cNvPr id="8" name="TextBox 7">
            <a:extLst>
              <a:ext uri="{FF2B5EF4-FFF2-40B4-BE49-F238E27FC236}">
                <a16:creationId xmlns:a16="http://schemas.microsoft.com/office/drawing/2014/main" id="{6C97C2E8-0685-3712-DC70-5DAFEB50AFF5}"/>
              </a:ext>
            </a:extLst>
          </p:cNvPr>
          <p:cNvSpPr txBox="1"/>
          <p:nvPr/>
        </p:nvSpPr>
        <p:spPr>
          <a:xfrm rot="16200000">
            <a:off x="5397019" y="3358777"/>
            <a:ext cx="2528897" cy="523220"/>
          </a:xfrm>
          <a:prstGeom prst="rect">
            <a:avLst/>
          </a:prstGeom>
          <a:noFill/>
        </p:spPr>
        <p:txBody>
          <a:bodyPr wrap="none" rtlCol="0">
            <a:spAutoFit/>
          </a:bodyPr>
          <a:lstStyle/>
          <a:p>
            <a:r>
              <a:rPr lang="en-CH" sz="2800" b="1" dirty="0">
                <a:solidFill>
                  <a:srgbClr val="4F4D9C"/>
                </a:solidFill>
              </a:rPr>
              <a:t>Dream &gt; Wake</a:t>
            </a:r>
          </a:p>
        </p:txBody>
      </p:sp>
      <p:sp>
        <p:nvSpPr>
          <p:cNvPr id="11" name="TextBox 10">
            <a:extLst>
              <a:ext uri="{FF2B5EF4-FFF2-40B4-BE49-F238E27FC236}">
                <a16:creationId xmlns:a16="http://schemas.microsoft.com/office/drawing/2014/main" id="{06D9B5A8-2CC5-94E8-8251-01E56875D459}"/>
              </a:ext>
            </a:extLst>
          </p:cNvPr>
          <p:cNvSpPr txBox="1"/>
          <p:nvPr/>
        </p:nvSpPr>
        <p:spPr>
          <a:xfrm>
            <a:off x="266835" y="3971416"/>
            <a:ext cx="6096000" cy="1384995"/>
          </a:xfrm>
          <a:prstGeom prst="rect">
            <a:avLst/>
          </a:prstGeom>
          <a:noFill/>
        </p:spPr>
        <p:txBody>
          <a:bodyPr wrap="square">
            <a:spAutoFit/>
          </a:bodyPr>
          <a:lstStyle/>
          <a:p>
            <a:pPr marL="0" indent="0">
              <a:buNone/>
            </a:pPr>
            <a:r>
              <a:rPr lang="en-US" sz="2800" b="1" dirty="0">
                <a:sym typeface="Wingdings" panose="05000000000000000000" pitchFamily="2" charset="2"/>
              </a:rPr>
              <a:t>Question:  </a:t>
            </a:r>
            <a:r>
              <a:rPr lang="en-US" sz="2800" dirty="0">
                <a:sym typeface="Wingdings" panose="05000000000000000000" pitchFamily="2" charset="2"/>
              </a:rPr>
              <a:t>Could an AI discriminate wakefulness from dream reports</a:t>
            </a:r>
            <a:r>
              <a:rPr lang="en-US" sz="2800" b="1" dirty="0">
                <a:sym typeface="Wingdings" panose="05000000000000000000" pitchFamily="2" charset="2"/>
              </a:rPr>
              <a:t> </a:t>
            </a:r>
            <a:r>
              <a:rPr lang="en-US" sz="2800" dirty="0">
                <a:sym typeface="Wingdings" panose="05000000000000000000" pitchFamily="2" charset="2"/>
              </a:rPr>
              <a:t>based on these key dimensions?</a:t>
            </a:r>
          </a:p>
        </p:txBody>
      </p:sp>
    </p:spTree>
    <p:extLst>
      <p:ext uri="{BB962C8B-B14F-4D97-AF65-F5344CB8AC3E}">
        <p14:creationId xmlns:p14="http://schemas.microsoft.com/office/powerpoint/2010/main" val="3796503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6" grpId="0"/>
      <p:bldP spid="8"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6E35C-3193-67E2-841A-09C269D22122}"/>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FBC9D8DF-3256-188D-0372-BE431B95E7D1}"/>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Exploratory investigation: Reports used</a:t>
            </a:r>
          </a:p>
        </p:txBody>
      </p:sp>
      <p:sp>
        <p:nvSpPr>
          <p:cNvPr id="9" name="ZoneTexte 8">
            <a:extLst>
              <a:ext uri="{FF2B5EF4-FFF2-40B4-BE49-F238E27FC236}">
                <a16:creationId xmlns:a16="http://schemas.microsoft.com/office/drawing/2014/main" id="{087D33FE-A7FE-3E81-F5AC-143A5A51CDBF}"/>
              </a:ext>
            </a:extLst>
          </p:cNvPr>
          <p:cNvSpPr txBox="1"/>
          <p:nvPr/>
        </p:nvSpPr>
        <p:spPr>
          <a:xfrm>
            <a:off x="393288" y="1305054"/>
            <a:ext cx="10960512" cy="553998"/>
          </a:xfrm>
          <a:prstGeom prst="rect">
            <a:avLst/>
          </a:prstGeom>
          <a:noFill/>
        </p:spPr>
        <p:txBody>
          <a:bodyPr wrap="square">
            <a:spAutoFit/>
          </a:bodyPr>
          <a:lstStyle/>
          <a:p>
            <a:pPr marL="0" indent="0">
              <a:buNone/>
            </a:pPr>
            <a:r>
              <a:rPr lang="fr-FR" sz="3000" b="1" u="sng" dirty="0" err="1">
                <a:latin typeface="+mj-lt"/>
              </a:rPr>
              <a:t>Wakefulness</a:t>
            </a:r>
            <a:r>
              <a:rPr lang="fr-FR" sz="3000" u="sng" dirty="0">
                <a:latin typeface="+mj-lt"/>
              </a:rPr>
              <a:t> </a:t>
            </a:r>
            <a:r>
              <a:rPr lang="fr-FR" sz="3000" b="1" u="sng" dirty="0">
                <a:latin typeface="+mj-lt"/>
              </a:rPr>
              <a:t>reports </a:t>
            </a:r>
            <a:r>
              <a:rPr lang="fr-FR" sz="3000" b="1" dirty="0">
                <a:solidFill>
                  <a:srgbClr val="FF0000"/>
                </a:solidFill>
                <a:latin typeface="+mj-lt"/>
              </a:rPr>
              <a:t>(N=42) </a:t>
            </a:r>
          </a:p>
        </p:txBody>
      </p:sp>
      <p:sp>
        <p:nvSpPr>
          <p:cNvPr id="3" name="TextBox 2">
            <a:extLst>
              <a:ext uri="{FF2B5EF4-FFF2-40B4-BE49-F238E27FC236}">
                <a16:creationId xmlns:a16="http://schemas.microsoft.com/office/drawing/2014/main" id="{5C13A70F-33D8-1129-7786-15BB80BB6E9C}"/>
              </a:ext>
            </a:extLst>
          </p:cNvPr>
          <p:cNvSpPr txBox="1"/>
          <p:nvPr/>
        </p:nvSpPr>
        <p:spPr>
          <a:xfrm>
            <a:off x="393288" y="4215665"/>
            <a:ext cx="6096000" cy="553998"/>
          </a:xfrm>
          <a:prstGeom prst="rect">
            <a:avLst/>
          </a:prstGeom>
          <a:noFill/>
        </p:spPr>
        <p:txBody>
          <a:bodyPr wrap="square">
            <a:spAutoFit/>
          </a:bodyPr>
          <a:lstStyle/>
          <a:p>
            <a:pPr marL="0" indent="0">
              <a:buNone/>
            </a:pPr>
            <a:r>
              <a:rPr lang="fr-FR" sz="3000" b="1" u="sng" dirty="0" err="1">
                <a:latin typeface="+mj-lt"/>
              </a:rPr>
              <a:t>Dream</a:t>
            </a:r>
            <a:r>
              <a:rPr lang="fr-FR" sz="3000" u="sng" dirty="0">
                <a:latin typeface="+mj-lt"/>
              </a:rPr>
              <a:t> </a:t>
            </a:r>
            <a:r>
              <a:rPr lang="fr-FR" sz="3000" b="1" u="sng" dirty="0">
                <a:latin typeface="+mj-lt"/>
              </a:rPr>
              <a:t>reports </a:t>
            </a:r>
            <a:r>
              <a:rPr lang="fr-FR" sz="3000" b="1" dirty="0">
                <a:solidFill>
                  <a:srgbClr val="FF0000"/>
                </a:solidFill>
                <a:latin typeface="+mj-lt"/>
              </a:rPr>
              <a:t>(N=42) </a:t>
            </a:r>
          </a:p>
        </p:txBody>
      </p:sp>
      <p:sp>
        <p:nvSpPr>
          <p:cNvPr id="5" name="TextBox 4">
            <a:extLst>
              <a:ext uri="{FF2B5EF4-FFF2-40B4-BE49-F238E27FC236}">
                <a16:creationId xmlns:a16="http://schemas.microsoft.com/office/drawing/2014/main" id="{3F7F68E9-AB63-6889-17FA-30EF4BC7F53A}"/>
              </a:ext>
            </a:extLst>
          </p:cNvPr>
          <p:cNvSpPr txBox="1"/>
          <p:nvPr/>
        </p:nvSpPr>
        <p:spPr>
          <a:xfrm>
            <a:off x="393288" y="1964161"/>
            <a:ext cx="9312186" cy="1938992"/>
          </a:xfrm>
          <a:prstGeom prst="rect">
            <a:avLst/>
          </a:prstGeom>
          <a:noFill/>
        </p:spPr>
        <p:txBody>
          <a:bodyPr wrap="square">
            <a:spAutoFit/>
          </a:bodyPr>
          <a:lstStyle/>
          <a:p>
            <a:pPr marL="342900" indent="-342900">
              <a:buFont typeface="Arial" panose="020B0604020202020204" pitchFamily="34" charset="0"/>
              <a:buChar char="•"/>
            </a:pPr>
            <a:r>
              <a:rPr lang="fr-FR" sz="2400" dirty="0">
                <a:latin typeface="+mj-lt"/>
              </a:rPr>
              <a:t>Spotify </a:t>
            </a:r>
            <a:r>
              <a:rPr lang="fr-FR" sz="2400" b="1" dirty="0">
                <a:latin typeface="+mj-lt"/>
              </a:rPr>
              <a:t>podcast transcriptions </a:t>
            </a:r>
            <a:r>
              <a:rPr lang="fr-FR" sz="2400" dirty="0">
                <a:latin typeface="+mj-lt"/>
              </a:rPr>
              <a:t>of </a:t>
            </a:r>
            <a:r>
              <a:rPr lang="fr-FR" sz="2400" dirty="0" err="1">
                <a:latin typeface="+mj-lt"/>
              </a:rPr>
              <a:t>autobiographical</a:t>
            </a:r>
            <a:r>
              <a:rPr lang="fr-FR" sz="2400" dirty="0">
                <a:latin typeface="+mj-lt"/>
              </a:rPr>
              <a:t> reports:</a:t>
            </a:r>
          </a:p>
          <a:p>
            <a:r>
              <a:rPr lang="fr-FR" sz="2400" i="1" dirty="0">
                <a:latin typeface="+mj-lt"/>
              </a:rPr>
              <a:t>«  </a:t>
            </a:r>
            <a:r>
              <a:rPr lang="en-US" sz="2400" i="1" dirty="0">
                <a:latin typeface="+mj-lt"/>
              </a:rPr>
              <a:t>And that’s really when I was blown away by those tropical glacier landscapes…</a:t>
            </a:r>
            <a:r>
              <a:rPr lang="fr-FR" sz="2400" i="1" dirty="0"/>
              <a:t> »</a:t>
            </a:r>
            <a:endParaRPr lang="fr-FR" sz="2400" dirty="0">
              <a:latin typeface="+mj-lt"/>
            </a:endParaRPr>
          </a:p>
          <a:p>
            <a:pPr marL="342900" indent="-342900">
              <a:buFont typeface="Arial" panose="020B0604020202020204" pitchFamily="34" charset="0"/>
              <a:buChar char="•"/>
            </a:pPr>
            <a:r>
              <a:rPr lang="fr-FR" sz="2400" b="1" dirty="0" err="1">
                <a:latin typeface="+mj-lt"/>
              </a:rPr>
              <a:t>Autobiographical</a:t>
            </a:r>
            <a:r>
              <a:rPr lang="fr-FR" sz="2400" dirty="0">
                <a:latin typeface="+mj-lt"/>
              </a:rPr>
              <a:t> book : </a:t>
            </a:r>
            <a:r>
              <a:rPr lang="fr-FR" sz="2400" i="1" dirty="0">
                <a:latin typeface="+mj-lt"/>
              </a:rPr>
              <a:t>Rousseau and </a:t>
            </a:r>
            <a:r>
              <a:rPr lang="fr-FR" sz="2400" i="1" dirty="0" err="1">
                <a:latin typeface="+mj-lt"/>
              </a:rPr>
              <a:t>Pepy’s</a:t>
            </a:r>
            <a:r>
              <a:rPr lang="fr-FR" sz="2400" i="1" dirty="0">
                <a:latin typeface="+mj-lt"/>
              </a:rPr>
              <a:t> autobiographies</a:t>
            </a:r>
            <a:endParaRPr lang="fr-FR" sz="2400" dirty="0">
              <a:latin typeface="+mj-lt"/>
            </a:endParaRPr>
          </a:p>
          <a:p>
            <a:pPr marL="342900" indent="-342900">
              <a:buFont typeface="Arial" panose="020B0604020202020204" pitchFamily="34" charset="0"/>
              <a:buChar char="•"/>
            </a:pPr>
            <a:r>
              <a:rPr lang="fr-FR" sz="2400" dirty="0">
                <a:latin typeface="+mj-lt"/>
              </a:rPr>
              <a:t>Online self-life </a:t>
            </a:r>
            <a:r>
              <a:rPr lang="fr-FR" sz="2400" dirty="0" err="1">
                <a:latin typeface="+mj-lt"/>
              </a:rPr>
              <a:t>events</a:t>
            </a:r>
            <a:r>
              <a:rPr lang="fr-FR" sz="2400" dirty="0">
                <a:latin typeface="+mj-lt"/>
              </a:rPr>
              <a:t> reports on blog (</a:t>
            </a:r>
            <a:r>
              <a:rPr lang="fr-FR" sz="2400" dirty="0" err="1">
                <a:latin typeface="+mj-lt"/>
              </a:rPr>
              <a:t>Reddit</a:t>
            </a:r>
            <a:r>
              <a:rPr lang="fr-FR" sz="2400" dirty="0">
                <a:latin typeface="+mj-lt"/>
              </a:rPr>
              <a:t>)</a:t>
            </a:r>
          </a:p>
        </p:txBody>
      </p:sp>
      <p:sp>
        <p:nvSpPr>
          <p:cNvPr id="10" name="TextBox 9">
            <a:extLst>
              <a:ext uri="{FF2B5EF4-FFF2-40B4-BE49-F238E27FC236}">
                <a16:creationId xmlns:a16="http://schemas.microsoft.com/office/drawing/2014/main" id="{3EC97AE8-AEE6-001F-B4CC-3DDDCEA0A65E}"/>
              </a:ext>
            </a:extLst>
          </p:cNvPr>
          <p:cNvSpPr txBox="1"/>
          <p:nvPr/>
        </p:nvSpPr>
        <p:spPr>
          <a:xfrm>
            <a:off x="393288" y="4857587"/>
            <a:ext cx="10716127" cy="1569660"/>
          </a:xfrm>
          <a:prstGeom prst="rect">
            <a:avLst/>
          </a:prstGeom>
          <a:noFill/>
        </p:spPr>
        <p:txBody>
          <a:bodyPr wrap="square">
            <a:spAutoFit/>
          </a:bodyPr>
          <a:lstStyle/>
          <a:p>
            <a:pPr marL="342900" indent="-342900">
              <a:buFont typeface="Arial" panose="020B0604020202020204" pitchFamily="34" charset="0"/>
              <a:buChar char="•"/>
            </a:pPr>
            <a:r>
              <a:rPr lang="fr-FR" sz="2400" b="1" dirty="0" err="1">
                <a:latin typeface="+mj-lt"/>
              </a:rPr>
              <a:t>Dream</a:t>
            </a:r>
            <a:r>
              <a:rPr lang="fr-FR" sz="2400" b="1" dirty="0">
                <a:latin typeface="+mj-lt"/>
              </a:rPr>
              <a:t> reports </a:t>
            </a:r>
            <a:r>
              <a:rPr lang="fr-FR" sz="2400" dirty="0">
                <a:latin typeface="+mj-lt"/>
              </a:rPr>
              <a:t>of </a:t>
            </a:r>
            <a:r>
              <a:rPr lang="fr-FR" sz="2400" i="1" dirty="0" err="1">
                <a:latin typeface="+mj-lt"/>
              </a:rPr>
              <a:t>Kirberg</a:t>
            </a:r>
            <a:r>
              <a:rPr lang="fr-FR" sz="2400" i="1" dirty="0">
                <a:latin typeface="+mj-lt"/>
              </a:rPr>
              <a:t> et al. (2026):</a:t>
            </a:r>
          </a:p>
          <a:p>
            <a:r>
              <a:rPr lang="fr-FR" sz="2400" i="1" dirty="0">
                <a:latin typeface="+mj-lt"/>
              </a:rPr>
              <a:t> « </a:t>
            </a:r>
            <a:r>
              <a:rPr lang="en-US" sz="2400" i="1" dirty="0">
                <a:latin typeface="+mj-lt"/>
              </a:rPr>
              <a:t>I'm in a little boat and it is all made out of Lego, the toy Lego and I'm looking around me trying to figure out why everything around me seems to be made of Lego</a:t>
            </a:r>
            <a:r>
              <a:rPr lang="fr-FR" sz="2400" i="1" dirty="0">
                <a:latin typeface="+mj-lt"/>
              </a:rPr>
              <a:t> » </a:t>
            </a:r>
          </a:p>
          <a:p>
            <a:pPr marL="342900" indent="-342900">
              <a:buFont typeface="Arial" panose="020B0604020202020204" pitchFamily="34" charset="0"/>
              <a:buChar char="•"/>
            </a:pPr>
            <a:r>
              <a:rPr lang="fr-FR" sz="2400" dirty="0"/>
              <a:t> </a:t>
            </a:r>
            <a:r>
              <a:rPr lang="fr-FR" sz="2400" dirty="0" err="1"/>
              <a:t>My</a:t>
            </a:r>
            <a:r>
              <a:rPr lang="fr-FR" sz="2400" dirty="0"/>
              <a:t> </a:t>
            </a:r>
            <a:r>
              <a:rPr lang="fr-FR" sz="2400" b="1" dirty="0" err="1"/>
              <a:t>own</a:t>
            </a:r>
            <a:r>
              <a:rPr lang="fr-FR" sz="2400" b="1" dirty="0"/>
              <a:t> </a:t>
            </a:r>
            <a:r>
              <a:rPr lang="fr-FR" sz="2400" b="1" dirty="0" err="1"/>
              <a:t>dream</a:t>
            </a:r>
            <a:r>
              <a:rPr lang="fr-FR" sz="2400" b="1" dirty="0"/>
              <a:t> journal</a:t>
            </a:r>
            <a:endParaRPr lang="fr-FR" sz="2400" dirty="0"/>
          </a:p>
        </p:txBody>
      </p:sp>
    </p:spTree>
    <p:extLst>
      <p:ext uri="{BB962C8B-B14F-4D97-AF65-F5344CB8AC3E}">
        <p14:creationId xmlns:p14="http://schemas.microsoft.com/office/powerpoint/2010/main" val="361974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DEB19-E875-C4B1-4A3C-CAED2B15B99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701B638-FB82-612E-10FB-718637E3E237}"/>
              </a:ext>
            </a:extLst>
          </p:cNvPr>
          <p:cNvSpPr>
            <a:spLocks noGrp="1"/>
          </p:cNvSpPr>
          <p:nvPr>
            <p:ph idx="1"/>
          </p:nvPr>
        </p:nvSpPr>
        <p:spPr>
          <a:xfrm>
            <a:off x="140677" y="1585937"/>
            <a:ext cx="5174901" cy="4351338"/>
          </a:xfrm>
        </p:spPr>
        <p:txBody>
          <a:bodyPr>
            <a:noAutofit/>
          </a:bodyPr>
          <a:lstStyle/>
          <a:p>
            <a:pPr marL="0" indent="0">
              <a:buNone/>
            </a:pPr>
            <a:r>
              <a:rPr lang="fr-FR" sz="2200" dirty="0">
                <a:solidFill>
                  <a:srgbClr val="FF0000"/>
                </a:solidFill>
                <a:latin typeface="+mj-lt"/>
              </a:rPr>
              <a:t>Score</a:t>
            </a:r>
            <a:r>
              <a:rPr lang="fr-FR" sz="2200" dirty="0">
                <a:latin typeface="+mj-lt"/>
              </a:rPr>
              <a:t> </a:t>
            </a:r>
            <a:r>
              <a:rPr lang="fr-FR" sz="2200" dirty="0" err="1">
                <a:latin typeface="+mj-lt"/>
              </a:rPr>
              <a:t>based</a:t>
            </a:r>
            <a:r>
              <a:rPr lang="fr-FR" sz="2200" dirty="0">
                <a:latin typeface="+mj-lt"/>
              </a:rPr>
              <a:t> on </a:t>
            </a:r>
            <a:r>
              <a:rPr lang="fr-FR" sz="2200" dirty="0" err="1">
                <a:latin typeface="+mj-lt"/>
              </a:rPr>
              <a:t>cohen’s</a:t>
            </a:r>
            <a:r>
              <a:rPr lang="fr-FR" sz="2200" dirty="0">
                <a:latin typeface="+mj-lt"/>
              </a:rPr>
              <a:t> d scores of </a:t>
            </a:r>
            <a:r>
              <a:rPr lang="en-US" sz="2200" dirty="0">
                <a:latin typeface="+mj-lt"/>
              </a:rPr>
              <a:t>differences between vigilance states and dimensions weights from your paper</a:t>
            </a:r>
          </a:p>
          <a:p>
            <a:pPr marL="0" indent="0">
              <a:buNone/>
            </a:pPr>
            <a:endParaRPr lang="en-US" sz="2200" dirty="0">
              <a:latin typeface="+mj-lt"/>
            </a:endParaRPr>
          </a:p>
          <a:p>
            <a:pPr marL="0" indent="0">
              <a:buNone/>
            </a:pPr>
            <a:r>
              <a:rPr lang="fr-FR" sz="2200" b="1" dirty="0">
                <a:solidFill>
                  <a:srgbClr val="FF0000"/>
                </a:solidFill>
                <a:latin typeface="+mj-lt"/>
              </a:rPr>
              <a:t>Score = </a:t>
            </a:r>
            <a:r>
              <a:rPr lang="en-US" sz="2200" b="1" dirty="0">
                <a:solidFill>
                  <a:srgbClr val="FF0000"/>
                </a:solidFill>
                <a:latin typeface="+mj-lt"/>
              </a:rPr>
              <a:t>Σ(</a:t>
            </a:r>
            <a:r>
              <a:rPr lang="en-US" sz="2200" b="1" dirty="0" err="1">
                <a:solidFill>
                  <a:srgbClr val="FF0000"/>
                </a:solidFill>
                <a:latin typeface="+mj-lt"/>
              </a:rPr>
              <a:t>scored_dimension</a:t>
            </a:r>
            <a:r>
              <a:rPr lang="en-US" sz="2200" b="1" baseline="-25000" dirty="0" err="1">
                <a:solidFill>
                  <a:srgbClr val="FF0000"/>
                </a:solidFill>
                <a:latin typeface="+mj-lt"/>
              </a:rPr>
              <a:t>i</a:t>
            </a:r>
            <a:r>
              <a:rPr lang="en-US" sz="2200" b="1" baseline="-25000" dirty="0">
                <a:solidFill>
                  <a:srgbClr val="FF0000"/>
                </a:solidFill>
                <a:latin typeface="+mj-lt"/>
              </a:rPr>
              <a:t> </a:t>
            </a:r>
            <a:r>
              <a:rPr lang="en-US" sz="2200" b="1" dirty="0">
                <a:solidFill>
                  <a:srgbClr val="FF0000"/>
                </a:solidFill>
                <a:latin typeface="+mj-lt"/>
              </a:rPr>
              <a:t>× </a:t>
            </a:r>
            <a:r>
              <a:rPr lang="en-US" sz="2200" b="1" dirty="0" err="1">
                <a:solidFill>
                  <a:srgbClr val="FF0000"/>
                </a:solidFill>
                <a:latin typeface="+mj-lt"/>
              </a:rPr>
              <a:t>weight</a:t>
            </a:r>
            <a:r>
              <a:rPr lang="en-US" sz="2200" b="1" baseline="-25000" dirty="0" err="1">
                <a:solidFill>
                  <a:srgbClr val="FF0000"/>
                </a:solidFill>
                <a:latin typeface="+mj-lt"/>
              </a:rPr>
              <a:t>i</a:t>
            </a:r>
            <a:r>
              <a:rPr lang="en-US" sz="2200" b="1" dirty="0">
                <a:solidFill>
                  <a:srgbClr val="FF0000"/>
                </a:solidFill>
                <a:latin typeface="+mj-lt"/>
              </a:rPr>
              <a:t>)</a:t>
            </a:r>
          </a:p>
          <a:p>
            <a:pPr marL="0" indent="0">
              <a:buNone/>
            </a:pPr>
            <a:endParaRPr lang="en-US" sz="2200" b="1" dirty="0">
              <a:solidFill>
                <a:srgbClr val="FF0000"/>
              </a:solidFill>
              <a:latin typeface="+mj-lt"/>
            </a:endParaRPr>
          </a:p>
          <a:p>
            <a:pPr marL="0" indent="0">
              <a:buNone/>
            </a:pPr>
            <a:endParaRPr lang="en-US" sz="2200" b="1" dirty="0">
              <a:solidFill>
                <a:srgbClr val="FF0000"/>
              </a:solidFill>
              <a:latin typeface="+mj-lt"/>
            </a:endParaRPr>
          </a:p>
          <a:p>
            <a:pPr marL="0" indent="0">
              <a:buNone/>
            </a:pPr>
            <a:endParaRPr lang="en-US" sz="2200" dirty="0">
              <a:latin typeface="+mj-lt"/>
            </a:endParaRPr>
          </a:p>
          <a:p>
            <a:pPr marL="0" indent="0">
              <a:buNone/>
            </a:pPr>
            <a:endParaRPr lang="en-US" sz="2200" dirty="0">
              <a:latin typeface="+mj-lt"/>
            </a:endParaRPr>
          </a:p>
          <a:p>
            <a:pPr marL="0" indent="0">
              <a:buNone/>
            </a:pPr>
            <a:endParaRPr lang="en-GB" sz="2200" noProof="0" dirty="0">
              <a:latin typeface="+mj-lt"/>
            </a:endParaRPr>
          </a:p>
        </p:txBody>
      </p:sp>
      <p:sp>
        <p:nvSpPr>
          <p:cNvPr id="6" name="Titre 1">
            <a:extLst>
              <a:ext uri="{FF2B5EF4-FFF2-40B4-BE49-F238E27FC236}">
                <a16:creationId xmlns:a16="http://schemas.microsoft.com/office/drawing/2014/main" id="{5AB68376-79B4-052F-02DF-A3A74BD2140F}"/>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solidFill>
                  <a:schemeClr val="tx2"/>
                </a:solidFill>
                <a:latin typeface="Bookman Old Style" panose="02050604050505020204" pitchFamily="18" charset="0"/>
              </a:rPr>
              <a:t>Computation of dream/wakefulness score</a:t>
            </a:r>
            <a:endParaRPr lang="en-GB" sz="2900" dirty="0">
              <a:latin typeface="Bookman Old Style" panose="02050604050505020204" pitchFamily="18" charset="0"/>
            </a:endParaRPr>
          </a:p>
        </p:txBody>
      </p:sp>
      <p:pic>
        <p:nvPicPr>
          <p:cNvPr id="2" name="Image 1">
            <a:extLst>
              <a:ext uri="{FF2B5EF4-FFF2-40B4-BE49-F238E27FC236}">
                <a16:creationId xmlns:a16="http://schemas.microsoft.com/office/drawing/2014/main" id="{9A1B4162-FA0E-4BE8-EA56-0353249E0A01}"/>
              </a:ext>
            </a:extLst>
          </p:cNvPr>
          <p:cNvPicPr>
            <a:picLocks noChangeAspect="1"/>
          </p:cNvPicPr>
          <p:nvPr/>
        </p:nvPicPr>
        <p:blipFill>
          <a:blip r:embed="rId2"/>
          <a:stretch>
            <a:fillRect/>
          </a:stretch>
        </p:blipFill>
        <p:spPr>
          <a:xfrm>
            <a:off x="5315578" y="1452997"/>
            <a:ext cx="6668331" cy="4484278"/>
          </a:xfrm>
          <a:prstGeom prst="rect">
            <a:avLst/>
          </a:prstGeom>
        </p:spPr>
      </p:pic>
      <p:sp>
        <p:nvSpPr>
          <p:cNvPr id="7" name="ZoneTexte 6">
            <a:extLst>
              <a:ext uri="{FF2B5EF4-FFF2-40B4-BE49-F238E27FC236}">
                <a16:creationId xmlns:a16="http://schemas.microsoft.com/office/drawing/2014/main" id="{144451F0-17A1-38CD-E76C-B7DB7E471C91}"/>
              </a:ext>
            </a:extLst>
          </p:cNvPr>
          <p:cNvSpPr txBox="1"/>
          <p:nvPr/>
        </p:nvSpPr>
        <p:spPr>
          <a:xfrm>
            <a:off x="7069394" y="6064709"/>
            <a:ext cx="6096000" cy="369332"/>
          </a:xfrm>
          <a:prstGeom prst="rect">
            <a:avLst/>
          </a:prstGeom>
          <a:noFill/>
        </p:spPr>
        <p:txBody>
          <a:bodyPr wrap="square">
            <a:spAutoFit/>
          </a:bodyPr>
          <a:lstStyle/>
          <a:p>
            <a:pPr marL="0" indent="0">
              <a:buNone/>
            </a:pPr>
            <a:r>
              <a:rPr lang="en-US" sz="1800" i="1" dirty="0">
                <a:latin typeface="+mj-lt"/>
                <a:sym typeface="Wingdings" panose="05000000000000000000" pitchFamily="2" charset="2"/>
              </a:rPr>
              <a:t>(Table S1 Supp Data, Elce et al., 2025)</a:t>
            </a:r>
          </a:p>
        </p:txBody>
      </p:sp>
    </p:spTree>
    <p:extLst>
      <p:ext uri="{BB962C8B-B14F-4D97-AF65-F5344CB8AC3E}">
        <p14:creationId xmlns:p14="http://schemas.microsoft.com/office/powerpoint/2010/main" val="4266230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9F29D-8C16-8F05-9472-56EA7A0244F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5E40F9C-CF24-2478-BDE0-D5E181EC2F8D}"/>
              </a:ext>
            </a:extLst>
          </p:cNvPr>
          <p:cNvSpPr>
            <a:spLocks noGrp="1"/>
          </p:cNvSpPr>
          <p:nvPr>
            <p:ph idx="1"/>
          </p:nvPr>
        </p:nvSpPr>
        <p:spPr>
          <a:xfrm>
            <a:off x="140677" y="1585937"/>
            <a:ext cx="5174901" cy="4351338"/>
          </a:xfrm>
        </p:spPr>
        <p:txBody>
          <a:bodyPr>
            <a:noAutofit/>
          </a:bodyPr>
          <a:lstStyle/>
          <a:p>
            <a:pPr marL="0" indent="0">
              <a:buNone/>
            </a:pPr>
            <a:r>
              <a:rPr lang="fr-FR" sz="2200" dirty="0">
                <a:solidFill>
                  <a:srgbClr val="FF0000"/>
                </a:solidFill>
                <a:latin typeface="+mj-lt"/>
              </a:rPr>
              <a:t>Score</a:t>
            </a:r>
            <a:r>
              <a:rPr lang="fr-FR" sz="2200" dirty="0">
                <a:latin typeface="+mj-lt"/>
              </a:rPr>
              <a:t> </a:t>
            </a:r>
            <a:r>
              <a:rPr lang="fr-FR" sz="2200" dirty="0" err="1">
                <a:latin typeface="+mj-lt"/>
              </a:rPr>
              <a:t>based</a:t>
            </a:r>
            <a:r>
              <a:rPr lang="fr-FR" sz="2200" dirty="0">
                <a:latin typeface="+mj-lt"/>
              </a:rPr>
              <a:t> on </a:t>
            </a:r>
            <a:r>
              <a:rPr lang="fr-FR" sz="2200" dirty="0" err="1">
                <a:latin typeface="+mj-lt"/>
              </a:rPr>
              <a:t>cohen’s</a:t>
            </a:r>
            <a:r>
              <a:rPr lang="fr-FR" sz="2200" dirty="0">
                <a:latin typeface="+mj-lt"/>
              </a:rPr>
              <a:t> d scores of </a:t>
            </a:r>
            <a:r>
              <a:rPr lang="en-US" sz="2200" dirty="0">
                <a:latin typeface="+mj-lt"/>
              </a:rPr>
              <a:t>differences between vigilance states and dimensions weights from your paper</a:t>
            </a:r>
          </a:p>
          <a:p>
            <a:pPr marL="0" indent="0">
              <a:buNone/>
            </a:pPr>
            <a:endParaRPr lang="en-US" sz="2200" dirty="0">
              <a:latin typeface="+mj-lt"/>
            </a:endParaRPr>
          </a:p>
          <a:p>
            <a:pPr marL="0" indent="0">
              <a:buNone/>
            </a:pPr>
            <a:r>
              <a:rPr lang="fr-FR" sz="2200" b="1" dirty="0">
                <a:solidFill>
                  <a:srgbClr val="FF0000"/>
                </a:solidFill>
                <a:latin typeface="+mj-lt"/>
              </a:rPr>
              <a:t>Score = </a:t>
            </a:r>
            <a:r>
              <a:rPr lang="en-US" sz="2200" b="1" dirty="0">
                <a:solidFill>
                  <a:srgbClr val="FF0000"/>
                </a:solidFill>
                <a:latin typeface="+mj-lt"/>
              </a:rPr>
              <a:t>Σ(</a:t>
            </a:r>
            <a:r>
              <a:rPr lang="en-US" sz="2200" b="1" dirty="0" err="1">
                <a:solidFill>
                  <a:srgbClr val="FF0000"/>
                </a:solidFill>
                <a:latin typeface="+mj-lt"/>
              </a:rPr>
              <a:t>scored_dimension</a:t>
            </a:r>
            <a:r>
              <a:rPr lang="en-US" sz="2200" b="1" baseline="-25000" dirty="0" err="1">
                <a:solidFill>
                  <a:srgbClr val="FF0000"/>
                </a:solidFill>
                <a:latin typeface="+mj-lt"/>
              </a:rPr>
              <a:t>i</a:t>
            </a:r>
            <a:r>
              <a:rPr lang="en-US" sz="2200" b="1" baseline="-25000" dirty="0">
                <a:solidFill>
                  <a:srgbClr val="FF0000"/>
                </a:solidFill>
                <a:latin typeface="+mj-lt"/>
              </a:rPr>
              <a:t> </a:t>
            </a:r>
            <a:r>
              <a:rPr lang="en-US" sz="2200" b="1" dirty="0">
                <a:solidFill>
                  <a:srgbClr val="FF0000"/>
                </a:solidFill>
                <a:latin typeface="+mj-lt"/>
              </a:rPr>
              <a:t>× </a:t>
            </a:r>
            <a:r>
              <a:rPr lang="en-US" sz="2200" b="1" dirty="0" err="1">
                <a:solidFill>
                  <a:srgbClr val="FF0000"/>
                </a:solidFill>
                <a:latin typeface="+mj-lt"/>
              </a:rPr>
              <a:t>weight</a:t>
            </a:r>
            <a:r>
              <a:rPr lang="en-US" sz="2200" b="1" baseline="-25000" dirty="0" err="1">
                <a:solidFill>
                  <a:srgbClr val="FF0000"/>
                </a:solidFill>
                <a:latin typeface="+mj-lt"/>
              </a:rPr>
              <a:t>i</a:t>
            </a:r>
            <a:r>
              <a:rPr lang="en-US" sz="2200" b="1" dirty="0">
                <a:solidFill>
                  <a:srgbClr val="FF0000"/>
                </a:solidFill>
                <a:latin typeface="+mj-lt"/>
              </a:rPr>
              <a:t>)</a:t>
            </a:r>
          </a:p>
          <a:p>
            <a:pPr marL="0" indent="0">
              <a:buNone/>
            </a:pPr>
            <a:endParaRPr lang="en-US" sz="2200" b="1" dirty="0">
              <a:solidFill>
                <a:srgbClr val="FF0000"/>
              </a:solidFill>
              <a:latin typeface="+mj-lt"/>
            </a:endParaRPr>
          </a:p>
          <a:p>
            <a:pPr marL="0" indent="0">
              <a:buNone/>
            </a:pPr>
            <a:endParaRPr lang="en-US" sz="2200" b="1" dirty="0">
              <a:solidFill>
                <a:srgbClr val="FF0000"/>
              </a:solidFill>
              <a:latin typeface="+mj-lt"/>
            </a:endParaRPr>
          </a:p>
          <a:p>
            <a:pPr marL="0" indent="0">
              <a:buNone/>
            </a:pPr>
            <a:endParaRPr lang="en-US" sz="2200" dirty="0">
              <a:latin typeface="+mj-lt"/>
            </a:endParaRPr>
          </a:p>
          <a:p>
            <a:pPr marL="0" indent="0">
              <a:buNone/>
            </a:pPr>
            <a:endParaRPr lang="en-US" sz="2200" dirty="0">
              <a:latin typeface="+mj-lt"/>
            </a:endParaRPr>
          </a:p>
          <a:p>
            <a:pPr marL="0" indent="0">
              <a:buNone/>
            </a:pPr>
            <a:endParaRPr lang="en-GB" sz="2200" noProof="0" dirty="0">
              <a:latin typeface="+mj-lt"/>
            </a:endParaRPr>
          </a:p>
        </p:txBody>
      </p:sp>
      <p:sp>
        <p:nvSpPr>
          <p:cNvPr id="6" name="Titre 1">
            <a:extLst>
              <a:ext uri="{FF2B5EF4-FFF2-40B4-BE49-F238E27FC236}">
                <a16:creationId xmlns:a16="http://schemas.microsoft.com/office/drawing/2014/main" id="{8EB4B4B8-53CF-5E99-8B3E-81315120E00A}"/>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solidFill>
                  <a:schemeClr val="tx2"/>
                </a:solidFill>
                <a:latin typeface="Bookman Old Style" panose="02050604050505020204" pitchFamily="18" charset="0"/>
              </a:rPr>
              <a:t>Computation of dream/wakefulness score</a:t>
            </a:r>
            <a:endParaRPr lang="en-GB" sz="3200" dirty="0">
              <a:latin typeface="Bookman Old Style" panose="02050604050505020204" pitchFamily="18" charset="0"/>
            </a:endParaRPr>
          </a:p>
        </p:txBody>
      </p:sp>
      <p:pic>
        <p:nvPicPr>
          <p:cNvPr id="5" name="Image 4">
            <a:extLst>
              <a:ext uri="{FF2B5EF4-FFF2-40B4-BE49-F238E27FC236}">
                <a16:creationId xmlns:a16="http://schemas.microsoft.com/office/drawing/2014/main" id="{4071ECEF-F927-386D-9862-6EF1ADC05E12}"/>
              </a:ext>
            </a:extLst>
          </p:cNvPr>
          <p:cNvPicPr>
            <a:picLocks noChangeAspect="1"/>
          </p:cNvPicPr>
          <p:nvPr/>
        </p:nvPicPr>
        <p:blipFill>
          <a:blip r:embed="rId2"/>
          <a:stretch>
            <a:fillRect/>
          </a:stretch>
        </p:blipFill>
        <p:spPr>
          <a:xfrm>
            <a:off x="6338159" y="1084403"/>
            <a:ext cx="4690165" cy="5497268"/>
          </a:xfrm>
          <a:prstGeom prst="rect">
            <a:avLst/>
          </a:prstGeom>
        </p:spPr>
      </p:pic>
    </p:spTree>
    <p:extLst>
      <p:ext uri="{BB962C8B-B14F-4D97-AF65-F5344CB8AC3E}">
        <p14:creationId xmlns:p14="http://schemas.microsoft.com/office/powerpoint/2010/main" val="3221328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EC803-0027-5B07-EEB9-F278F25B3C9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1686A15-5783-94C8-E22C-053163D79042}"/>
              </a:ext>
            </a:extLst>
          </p:cNvPr>
          <p:cNvSpPr>
            <a:spLocks noGrp="1"/>
          </p:cNvSpPr>
          <p:nvPr>
            <p:ph idx="1"/>
          </p:nvPr>
        </p:nvSpPr>
        <p:spPr>
          <a:xfrm>
            <a:off x="140676" y="972639"/>
            <a:ext cx="6067619" cy="4946900"/>
          </a:xfrm>
        </p:spPr>
        <p:txBody>
          <a:bodyPr>
            <a:noAutofit/>
          </a:bodyPr>
          <a:lstStyle/>
          <a:p>
            <a:pPr marL="0" indent="0">
              <a:buNone/>
            </a:pPr>
            <a:endParaRPr lang="en-US" sz="2200" dirty="0">
              <a:latin typeface="+mj-lt"/>
            </a:endParaRPr>
          </a:p>
          <a:p>
            <a:pPr marL="0" indent="0">
              <a:buNone/>
            </a:pPr>
            <a:r>
              <a:rPr lang="fr-FR" sz="2400" b="1" dirty="0">
                <a:solidFill>
                  <a:srgbClr val="FF0000"/>
                </a:solidFill>
                <a:latin typeface="+mj-lt"/>
              </a:rPr>
              <a:t>Score = </a:t>
            </a:r>
            <a:r>
              <a:rPr lang="en-US" sz="2400" b="1" dirty="0">
                <a:solidFill>
                  <a:srgbClr val="FF0000"/>
                </a:solidFill>
                <a:latin typeface="+mj-lt"/>
              </a:rPr>
              <a:t>Σ(</a:t>
            </a:r>
            <a:r>
              <a:rPr lang="en-US" sz="2400" b="1" dirty="0" err="1">
                <a:solidFill>
                  <a:srgbClr val="FF0000"/>
                </a:solidFill>
                <a:latin typeface="+mj-lt"/>
              </a:rPr>
              <a:t>scored_dimension</a:t>
            </a:r>
            <a:r>
              <a:rPr lang="en-US" sz="2400" b="1" baseline="-25000" dirty="0" err="1">
                <a:solidFill>
                  <a:srgbClr val="FF0000"/>
                </a:solidFill>
                <a:latin typeface="+mj-lt"/>
              </a:rPr>
              <a:t>i</a:t>
            </a:r>
            <a:r>
              <a:rPr lang="en-US" sz="2400" b="1" baseline="-25000" dirty="0">
                <a:solidFill>
                  <a:srgbClr val="FF0000"/>
                </a:solidFill>
                <a:latin typeface="+mj-lt"/>
              </a:rPr>
              <a:t> </a:t>
            </a:r>
            <a:r>
              <a:rPr lang="en-US" sz="2400" b="1" dirty="0">
                <a:solidFill>
                  <a:srgbClr val="FF0000"/>
                </a:solidFill>
                <a:latin typeface="+mj-lt"/>
              </a:rPr>
              <a:t>× </a:t>
            </a:r>
            <a:r>
              <a:rPr lang="en-US" sz="2400" b="1" dirty="0" err="1">
                <a:solidFill>
                  <a:srgbClr val="FF0000"/>
                </a:solidFill>
                <a:latin typeface="+mj-lt"/>
              </a:rPr>
              <a:t>weight</a:t>
            </a:r>
            <a:r>
              <a:rPr lang="en-US" sz="2400" b="1" baseline="-25000" dirty="0" err="1">
                <a:solidFill>
                  <a:srgbClr val="FF0000"/>
                </a:solidFill>
                <a:latin typeface="+mj-lt"/>
              </a:rPr>
              <a:t>i</a:t>
            </a:r>
            <a:r>
              <a:rPr lang="en-US" sz="2400" b="1" dirty="0">
                <a:solidFill>
                  <a:srgbClr val="FF0000"/>
                </a:solidFill>
                <a:latin typeface="+mj-lt"/>
              </a:rPr>
              <a:t>)</a:t>
            </a:r>
          </a:p>
          <a:p>
            <a:pPr marL="0" indent="0">
              <a:buNone/>
            </a:pPr>
            <a:endParaRPr lang="en-US" sz="2200" b="1" dirty="0">
              <a:solidFill>
                <a:srgbClr val="FF0000"/>
              </a:solidFill>
              <a:latin typeface="+mj-lt"/>
            </a:endParaRPr>
          </a:p>
          <a:p>
            <a:pPr marL="0" indent="0">
              <a:buNone/>
            </a:pPr>
            <a:r>
              <a:rPr lang="fr-FR" sz="2400" b="1" i="1" dirty="0"/>
              <a:t>Example: « I </a:t>
            </a:r>
            <a:r>
              <a:rPr lang="fr-FR" sz="2400" b="1" i="1" dirty="0" err="1"/>
              <a:t>was</a:t>
            </a:r>
            <a:r>
              <a:rPr lang="fr-FR" sz="2400" b="1" i="1" dirty="0"/>
              <a:t> </a:t>
            </a:r>
            <a:r>
              <a:rPr lang="fr-FR" sz="2400" b="1" i="1" dirty="0" err="1"/>
              <a:t>flying</a:t>
            </a:r>
            <a:r>
              <a:rPr lang="fr-FR" sz="2400" b="1" i="1" dirty="0"/>
              <a:t> »</a:t>
            </a:r>
          </a:p>
          <a:p>
            <a:pPr marL="0" indent="0">
              <a:buNone/>
            </a:pPr>
            <a:endParaRPr lang="fr-FR" sz="2200" b="1" dirty="0"/>
          </a:p>
          <a:p>
            <a:pPr marL="0" indent="0">
              <a:buNone/>
            </a:pPr>
            <a:r>
              <a:rPr lang="fr-FR" sz="2400" b="1" u="sng" dirty="0" err="1"/>
              <a:t>Scorable</a:t>
            </a:r>
            <a:r>
              <a:rPr lang="fr-FR" sz="2400" b="1" u="sng" dirty="0"/>
              <a:t> dimensions:</a:t>
            </a:r>
            <a:br>
              <a:rPr lang="fr-FR" sz="2400" b="1" u="sng" dirty="0"/>
            </a:br>
            <a:endParaRPr lang="fr-FR" sz="2400" b="1" u="sng" dirty="0"/>
          </a:p>
          <a:p>
            <a:pPr marL="0" indent="0">
              <a:buNone/>
            </a:pPr>
            <a:r>
              <a:rPr lang="fr-FR" sz="2200" dirty="0"/>
              <a:t>BIZARRENESS = 9, </a:t>
            </a:r>
            <a:r>
              <a:rPr lang="fr-FR" sz="2200" dirty="0" err="1"/>
              <a:t>weight</a:t>
            </a:r>
            <a:r>
              <a:rPr lang="fr-FR" sz="2200" dirty="0"/>
              <a:t> = +2.85 → +25.65</a:t>
            </a:r>
          </a:p>
          <a:p>
            <a:pPr marL="0" indent="0">
              <a:buNone/>
            </a:pPr>
            <a:r>
              <a:rPr lang="fr-FR" sz="2200" dirty="0"/>
              <a:t>VISUAL = 5, </a:t>
            </a:r>
            <a:r>
              <a:rPr lang="fr-FR" sz="2200" dirty="0" err="1"/>
              <a:t>weight</a:t>
            </a:r>
            <a:r>
              <a:rPr lang="fr-FR" sz="2200" dirty="0"/>
              <a:t> = +1.52 → +7.60</a:t>
            </a:r>
          </a:p>
          <a:p>
            <a:pPr marL="0" indent="0">
              <a:buNone/>
            </a:pPr>
            <a:r>
              <a:rPr lang="fr-FR" sz="2200" dirty="0"/>
              <a:t>MOVEMENTS = 7, </a:t>
            </a:r>
            <a:r>
              <a:rPr lang="fr-FR" sz="2200" dirty="0" err="1"/>
              <a:t>weight</a:t>
            </a:r>
            <a:r>
              <a:rPr lang="fr-FR" sz="2200" dirty="0"/>
              <a:t> = +0.83 → +5.81</a:t>
            </a:r>
          </a:p>
          <a:p>
            <a:pPr marL="0" indent="0">
              <a:buNone/>
            </a:pPr>
            <a:r>
              <a:rPr lang="fr-FR" sz="2200" dirty="0"/>
              <a:t>BODY = 4, </a:t>
            </a:r>
            <a:r>
              <a:rPr lang="fr-FR" sz="2200" dirty="0" err="1"/>
              <a:t>weight</a:t>
            </a:r>
            <a:r>
              <a:rPr lang="fr-FR" sz="2200" dirty="0"/>
              <a:t> = −0.73 → −2.92</a:t>
            </a:r>
          </a:p>
          <a:p>
            <a:pPr marL="0" indent="0">
              <a:buNone/>
            </a:pPr>
            <a:endParaRPr lang="fr-FR" sz="2200" dirty="0"/>
          </a:p>
          <a:p>
            <a:pPr marL="0" indent="0">
              <a:buNone/>
            </a:pPr>
            <a:r>
              <a:rPr lang="fr-FR" sz="2200" dirty="0">
                <a:sym typeface="Wingdings" pitchFamily="2" charset="2"/>
              </a:rPr>
              <a:t> </a:t>
            </a:r>
            <a:r>
              <a:rPr lang="fr-FR" sz="2200" dirty="0"/>
              <a:t>Score = 28.50 + 7.60 + 5.81 − 2.92 = </a:t>
            </a:r>
            <a:r>
              <a:rPr lang="fr-FR" sz="2200" b="1" dirty="0"/>
              <a:t>+36.14</a:t>
            </a:r>
            <a:endParaRPr lang="en-US" sz="2200" dirty="0">
              <a:solidFill>
                <a:srgbClr val="FF0000"/>
              </a:solidFill>
            </a:endParaRPr>
          </a:p>
          <a:p>
            <a:pPr marL="0" indent="0">
              <a:buNone/>
            </a:pPr>
            <a:endParaRPr lang="en-US" sz="2200" dirty="0">
              <a:latin typeface="+mj-lt"/>
            </a:endParaRPr>
          </a:p>
          <a:p>
            <a:pPr marL="0" indent="0">
              <a:buNone/>
            </a:pPr>
            <a:endParaRPr lang="en-GB" sz="2200" noProof="0" dirty="0">
              <a:latin typeface="+mj-lt"/>
            </a:endParaRPr>
          </a:p>
        </p:txBody>
      </p:sp>
      <p:sp>
        <p:nvSpPr>
          <p:cNvPr id="6" name="Titre 1">
            <a:extLst>
              <a:ext uri="{FF2B5EF4-FFF2-40B4-BE49-F238E27FC236}">
                <a16:creationId xmlns:a16="http://schemas.microsoft.com/office/drawing/2014/main" id="{914C4D1A-7C30-4551-E5AE-C0194F3E2131}"/>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solidFill>
                  <a:schemeClr val="tx2"/>
                </a:solidFill>
                <a:latin typeface="Bookman Old Style" panose="02050604050505020204" pitchFamily="18" charset="0"/>
              </a:rPr>
              <a:t>Computation of dream/wakefulness score</a:t>
            </a:r>
            <a:endParaRPr lang="en-GB" sz="3200" dirty="0">
              <a:latin typeface="Bookman Old Style" panose="02050604050505020204" pitchFamily="18" charset="0"/>
            </a:endParaRPr>
          </a:p>
        </p:txBody>
      </p:sp>
      <p:pic>
        <p:nvPicPr>
          <p:cNvPr id="5" name="Image 4">
            <a:extLst>
              <a:ext uri="{FF2B5EF4-FFF2-40B4-BE49-F238E27FC236}">
                <a16:creationId xmlns:a16="http://schemas.microsoft.com/office/drawing/2014/main" id="{3A886F22-F6CD-79D4-F61B-E35FAE40BF72}"/>
              </a:ext>
            </a:extLst>
          </p:cNvPr>
          <p:cNvPicPr>
            <a:picLocks noChangeAspect="1"/>
          </p:cNvPicPr>
          <p:nvPr/>
        </p:nvPicPr>
        <p:blipFill>
          <a:blip r:embed="rId2"/>
          <a:stretch>
            <a:fillRect/>
          </a:stretch>
        </p:blipFill>
        <p:spPr>
          <a:xfrm>
            <a:off x="6338159" y="1084403"/>
            <a:ext cx="4690165" cy="5497268"/>
          </a:xfrm>
          <a:prstGeom prst="rect">
            <a:avLst/>
          </a:prstGeom>
        </p:spPr>
      </p:pic>
    </p:spTree>
    <p:extLst>
      <p:ext uri="{BB962C8B-B14F-4D97-AF65-F5344CB8AC3E}">
        <p14:creationId xmlns:p14="http://schemas.microsoft.com/office/powerpoint/2010/main" val="3100939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F6E3-F721-26FF-8E06-7E40BA4BF52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1896CD0-4F43-A22F-64A0-063F9933AD16}"/>
              </a:ext>
            </a:extLst>
          </p:cNvPr>
          <p:cNvSpPr>
            <a:spLocks noGrp="1"/>
          </p:cNvSpPr>
          <p:nvPr>
            <p:ph idx="1"/>
          </p:nvPr>
        </p:nvSpPr>
        <p:spPr>
          <a:xfrm>
            <a:off x="122119" y="1224841"/>
            <a:ext cx="3729785" cy="2831690"/>
          </a:xfrm>
        </p:spPr>
        <p:txBody>
          <a:bodyPr>
            <a:noAutofit/>
          </a:bodyPr>
          <a:lstStyle/>
          <a:p>
            <a:pPr marL="0" indent="0">
              <a:buNone/>
            </a:pPr>
            <a:endParaRPr lang="fr-FR" sz="2000" dirty="0">
              <a:solidFill>
                <a:srgbClr val="FF0000"/>
              </a:solidFill>
              <a:latin typeface="+mj-lt"/>
            </a:endParaRPr>
          </a:p>
          <a:p>
            <a:pPr marL="0" indent="0">
              <a:buNone/>
            </a:pPr>
            <a:endParaRPr lang="fr-FR" sz="2000" b="1" dirty="0">
              <a:latin typeface="+mj-lt"/>
            </a:endParaRPr>
          </a:p>
          <a:p>
            <a:pPr marL="0" indent="0">
              <a:buNone/>
            </a:pPr>
            <a:r>
              <a:rPr lang="fr-FR" sz="2000" dirty="0">
                <a:latin typeface="+mj-lt"/>
              </a:rPr>
              <a:t>74/84 reports </a:t>
            </a:r>
            <a:r>
              <a:rPr lang="fr-FR" sz="2000" dirty="0" err="1">
                <a:latin typeface="+mj-lt"/>
              </a:rPr>
              <a:t>well-classified</a:t>
            </a:r>
            <a:r>
              <a:rPr lang="fr-FR" sz="2000" dirty="0">
                <a:latin typeface="+mj-lt"/>
              </a:rPr>
              <a:t> </a:t>
            </a:r>
          </a:p>
          <a:p>
            <a:pPr marL="0" indent="0">
              <a:buNone/>
            </a:pPr>
            <a:r>
              <a:rPr lang="fr-FR" sz="2000" dirty="0">
                <a:latin typeface="+mj-lt"/>
              </a:rPr>
              <a:t>=</a:t>
            </a:r>
            <a:r>
              <a:rPr lang="fr-FR" sz="2000" b="1" dirty="0">
                <a:latin typeface="+mj-lt"/>
              </a:rPr>
              <a:t> 88%</a:t>
            </a:r>
            <a:r>
              <a:rPr lang="fr-FR" sz="2000" dirty="0">
                <a:latin typeface="+mj-lt"/>
              </a:rPr>
              <a:t> </a:t>
            </a:r>
            <a:r>
              <a:rPr lang="fr-FR" sz="2000" dirty="0" err="1">
                <a:latin typeface="+mj-lt"/>
              </a:rPr>
              <a:t>accuracy</a:t>
            </a:r>
            <a:endParaRPr lang="fr-FR" sz="2000" dirty="0">
              <a:latin typeface="+mj-lt"/>
            </a:endParaRPr>
          </a:p>
          <a:p>
            <a:pPr marL="0" indent="0">
              <a:buNone/>
            </a:pPr>
            <a:endParaRPr lang="fr-FR" sz="2000" dirty="0">
              <a:latin typeface="+mj-lt"/>
              <a:sym typeface="Wingdings" panose="05000000000000000000" pitchFamily="2" charset="2"/>
            </a:endParaRPr>
          </a:p>
          <a:p>
            <a:pPr marL="0" indent="0">
              <a:buNone/>
            </a:pPr>
            <a:endParaRPr lang="fr-FR" sz="2000" dirty="0">
              <a:latin typeface="+mj-lt"/>
              <a:sym typeface="Wingdings" panose="05000000000000000000" pitchFamily="2" charset="2"/>
            </a:endParaRPr>
          </a:p>
          <a:p>
            <a:pPr marL="0" indent="0">
              <a:buNone/>
            </a:pPr>
            <a:r>
              <a:rPr lang="fr-FR" sz="2000" b="1" u="sng" dirty="0"/>
              <a:t>10 </a:t>
            </a:r>
            <a:r>
              <a:rPr lang="fr-FR" sz="2000" b="1" u="sng" dirty="0" err="1"/>
              <a:t>errors</a:t>
            </a:r>
            <a:r>
              <a:rPr lang="fr-FR" sz="2000" b="1" u="sng" dirty="0"/>
              <a:t>:</a:t>
            </a:r>
          </a:p>
          <a:p>
            <a:r>
              <a:rPr lang="fr-FR" sz="2000" dirty="0">
                <a:sym typeface="Wingdings" panose="05000000000000000000" pitchFamily="2" charset="2"/>
              </a:rPr>
              <a:t>9 </a:t>
            </a:r>
            <a:r>
              <a:rPr lang="fr-FR" sz="2000" dirty="0" err="1">
                <a:sym typeface="Wingdings" panose="05000000000000000000" pitchFamily="2" charset="2"/>
              </a:rPr>
              <a:t>wakefulness</a:t>
            </a:r>
            <a:r>
              <a:rPr lang="fr-FR" sz="2000" dirty="0">
                <a:sym typeface="Wingdings" panose="05000000000000000000" pitchFamily="2" charset="2"/>
              </a:rPr>
              <a:t> reports </a:t>
            </a:r>
            <a:r>
              <a:rPr lang="fr-FR" sz="2000" dirty="0" err="1">
                <a:sym typeface="Wingdings" panose="05000000000000000000" pitchFamily="2" charset="2"/>
              </a:rPr>
              <a:t>misclassified</a:t>
            </a:r>
            <a:r>
              <a:rPr lang="fr-FR" sz="2000" dirty="0">
                <a:sym typeface="Wingdings" panose="05000000000000000000" pitchFamily="2" charset="2"/>
              </a:rPr>
              <a:t> as </a:t>
            </a:r>
            <a:r>
              <a:rPr lang="fr-FR" sz="2000" dirty="0" err="1">
                <a:sym typeface="Wingdings" panose="05000000000000000000" pitchFamily="2" charset="2"/>
              </a:rPr>
              <a:t>dreams</a:t>
            </a:r>
            <a:endParaRPr lang="fr-FR" sz="2000" dirty="0">
              <a:sym typeface="Wingdings" panose="05000000000000000000" pitchFamily="2" charset="2"/>
            </a:endParaRPr>
          </a:p>
          <a:p>
            <a:r>
              <a:rPr lang="fr-FR" sz="2000" dirty="0">
                <a:sym typeface="Wingdings" panose="05000000000000000000" pitchFamily="2" charset="2"/>
              </a:rPr>
              <a:t>1 </a:t>
            </a:r>
            <a:r>
              <a:rPr lang="fr-FR" sz="2000" dirty="0" err="1">
                <a:sym typeface="Wingdings" panose="05000000000000000000" pitchFamily="2" charset="2"/>
              </a:rPr>
              <a:t>dream</a:t>
            </a:r>
            <a:r>
              <a:rPr lang="fr-FR" sz="2000" dirty="0">
                <a:sym typeface="Wingdings" panose="05000000000000000000" pitchFamily="2" charset="2"/>
              </a:rPr>
              <a:t> report </a:t>
            </a:r>
            <a:r>
              <a:rPr lang="fr-FR" sz="2000" dirty="0" err="1">
                <a:sym typeface="Wingdings" panose="05000000000000000000" pitchFamily="2" charset="2"/>
              </a:rPr>
              <a:t>misclassified</a:t>
            </a:r>
            <a:r>
              <a:rPr lang="fr-FR" sz="2000" dirty="0">
                <a:sym typeface="Wingdings" panose="05000000000000000000" pitchFamily="2" charset="2"/>
              </a:rPr>
              <a:t> as </a:t>
            </a:r>
            <a:r>
              <a:rPr lang="fr-FR" sz="2000" dirty="0" err="1">
                <a:sym typeface="Wingdings" panose="05000000000000000000" pitchFamily="2" charset="2"/>
              </a:rPr>
              <a:t>wakefulness</a:t>
            </a:r>
            <a:r>
              <a:rPr lang="fr-FR" sz="2000" dirty="0">
                <a:sym typeface="Wingdings" panose="05000000000000000000" pitchFamily="2" charset="2"/>
              </a:rPr>
              <a:t> </a:t>
            </a:r>
          </a:p>
          <a:p>
            <a:pPr marL="0" indent="0">
              <a:buNone/>
            </a:pPr>
            <a:endParaRPr lang="fr-FR" sz="2200" dirty="0">
              <a:latin typeface="+mj-lt"/>
              <a:sym typeface="Wingdings" panose="05000000000000000000" pitchFamily="2" charset="2"/>
            </a:endParaRPr>
          </a:p>
          <a:p>
            <a:pPr marL="0" indent="0">
              <a:buNone/>
            </a:pPr>
            <a:endParaRPr lang="fr-FR" sz="2200" b="1" dirty="0">
              <a:latin typeface="+mj-lt"/>
            </a:endParaRPr>
          </a:p>
          <a:p>
            <a:pPr marL="0" indent="0">
              <a:buNone/>
            </a:pP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p:txBody>
      </p:sp>
      <p:sp>
        <p:nvSpPr>
          <p:cNvPr id="6" name="Titre 1">
            <a:extLst>
              <a:ext uri="{FF2B5EF4-FFF2-40B4-BE49-F238E27FC236}">
                <a16:creationId xmlns:a16="http://schemas.microsoft.com/office/drawing/2014/main" id="{5A4E2792-6495-CE44-1E47-7DC0DE80E998}"/>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Overall performance</a:t>
            </a:r>
          </a:p>
        </p:txBody>
      </p:sp>
      <p:pic>
        <p:nvPicPr>
          <p:cNvPr id="8" name="Image 7">
            <a:extLst>
              <a:ext uri="{FF2B5EF4-FFF2-40B4-BE49-F238E27FC236}">
                <a16:creationId xmlns:a16="http://schemas.microsoft.com/office/drawing/2014/main" id="{8F5055FD-B5FB-3C3C-4DF8-9EF70810ED68}"/>
              </a:ext>
            </a:extLst>
          </p:cNvPr>
          <p:cNvPicPr>
            <a:picLocks noChangeAspect="1"/>
          </p:cNvPicPr>
          <p:nvPr/>
        </p:nvPicPr>
        <p:blipFill>
          <a:blip r:embed="rId2"/>
          <a:stretch>
            <a:fillRect/>
          </a:stretch>
        </p:blipFill>
        <p:spPr>
          <a:xfrm>
            <a:off x="3851904" y="1224841"/>
            <a:ext cx="7965241" cy="5140286"/>
          </a:xfrm>
          <a:prstGeom prst="rect">
            <a:avLst/>
          </a:prstGeom>
        </p:spPr>
      </p:pic>
    </p:spTree>
    <p:extLst>
      <p:ext uri="{BB962C8B-B14F-4D97-AF65-F5344CB8AC3E}">
        <p14:creationId xmlns:p14="http://schemas.microsoft.com/office/powerpoint/2010/main" val="1803073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85752-CB4A-8D55-E7AE-2DAB9E46EC38}"/>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68C26FE5-A08F-9749-C817-0B1C5C36CD45}"/>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r>
              <a:rPr lang="fr-FR" sz="3200" dirty="0" err="1">
                <a:latin typeface="Bookman Old Style" panose="02050604050505020204" pitchFamily="18" charset="0"/>
              </a:rPr>
              <a:t>Summary</a:t>
            </a:r>
            <a:r>
              <a:rPr lang="fr-FR" sz="3200" dirty="0">
                <a:latin typeface="Bookman Old Style" panose="02050604050505020204" pitchFamily="18" charset="0"/>
              </a:rPr>
              <a:t>: Main questions</a:t>
            </a:r>
          </a:p>
        </p:txBody>
      </p:sp>
      <p:sp>
        <p:nvSpPr>
          <p:cNvPr id="4" name="TextBox 3">
            <a:extLst>
              <a:ext uri="{FF2B5EF4-FFF2-40B4-BE49-F238E27FC236}">
                <a16:creationId xmlns:a16="http://schemas.microsoft.com/office/drawing/2014/main" id="{889FA09F-A6D2-1F85-8E29-5717611AA8C2}"/>
              </a:ext>
            </a:extLst>
          </p:cNvPr>
          <p:cNvSpPr txBox="1"/>
          <p:nvPr/>
        </p:nvSpPr>
        <p:spPr>
          <a:xfrm>
            <a:off x="721894" y="1912200"/>
            <a:ext cx="10331117" cy="553998"/>
          </a:xfrm>
          <a:prstGeom prst="rect">
            <a:avLst/>
          </a:prstGeom>
          <a:noFill/>
        </p:spPr>
        <p:txBody>
          <a:bodyPr wrap="square">
            <a:spAutoFit/>
          </a:bodyPr>
          <a:lstStyle/>
          <a:p>
            <a:pPr marL="457200" indent="-457200">
              <a:buFont typeface="Arial" panose="020B0604020202020204" pitchFamily="34" charset="0"/>
              <a:buChar char="•"/>
            </a:pPr>
            <a:r>
              <a:rPr lang="en-US" sz="3000" dirty="0">
                <a:latin typeface="+mj-lt"/>
              </a:rPr>
              <a:t>What are the </a:t>
            </a:r>
            <a:r>
              <a:rPr lang="en-US" sz="3000" b="1" dirty="0">
                <a:latin typeface="+mj-lt"/>
              </a:rPr>
              <a:t>principal</a:t>
            </a:r>
            <a:r>
              <a:rPr lang="en-US" sz="3000" dirty="0">
                <a:latin typeface="+mj-lt"/>
              </a:rPr>
              <a:t> </a:t>
            </a:r>
            <a:r>
              <a:rPr lang="en-US" sz="3000" b="1" dirty="0">
                <a:latin typeface="+mj-lt"/>
              </a:rPr>
              <a:t>dimensions</a:t>
            </a:r>
            <a:r>
              <a:rPr lang="en-US" sz="3000" dirty="0">
                <a:latin typeface="+mj-lt"/>
              </a:rPr>
              <a:t> relevant for </a:t>
            </a:r>
            <a:r>
              <a:rPr lang="en-US" sz="3000" b="1" dirty="0">
                <a:latin typeface="+mj-lt"/>
              </a:rPr>
              <a:t>AI scoring</a:t>
            </a:r>
            <a:r>
              <a:rPr lang="en-US" sz="3000" dirty="0">
                <a:latin typeface="+mj-lt"/>
              </a:rPr>
              <a:t>?</a:t>
            </a:r>
          </a:p>
        </p:txBody>
      </p:sp>
      <p:sp>
        <p:nvSpPr>
          <p:cNvPr id="7" name="TextBox 6">
            <a:extLst>
              <a:ext uri="{FF2B5EF4-FFF2-40B4-BE49-F238E27FC236}">
                <a16:creationId xmlns:a16="http://schemas.microsoft.com/office/drawing/2014/main" id="{03C06C7F-5989-B61C-E390-52B85C528E4F}"/>
              </a:ext>
            </a:extLst>
          </p:cNvPr>
          <p:cNvSpPr txBox="1"/>
          <p:nvPr/>
        </p:nvSpPr>
        <p:spPr>
          <a:xfrm>
            <a:off x="721894" y="3042121"/>
            <a:ext cx="9015663" cy="553998"/>
          </a:xfrm>
          <a:prstGeom prst="rect">
            <a:avLst/>
          </a:prstGeom>
          <a:noFill/>
        </p:spPr>
        <p:txBody>
          <a:bodyPr wrap="square">
            <a:spAutoFit/>
          </a:bodyPr>
          <a:lstStyle/>
          <a:p>
            <a:pPr marL="457200" indent="-457200">
              <a:buFont typeface="Arial" panose="020B0604020202020204" pitchFamily="34" charset="0"/>
              <a:buChar char="•"/>
            </a:pPr>
            <a:r>
              <a:rPr lang="en-US" sz="3000" noProof="0" dirty="0">
                <a:latin typeface="+mj-lt"/>
              </a:rPr>
              <a:t>Do they</a:t>
            </a:r>
            <a:r>
              <a:rPr lang="en-US" sz="3000" dirty="0">
                <a:latin typeface="+mj-lt"/>
              </a:rPr>
              <a:t> overlap with your </a:t>
            </a:r>
            <a:r>
              <a:rPr lang="en-US" sz="3000" b="1" dirty="0">
                <a:latin typeface="+mj-lt"/>
              </a:rPr>
              <a:t>defining dimensions</a:t>
            </a:r>
            <a:r>
              <a:rPr lang="en-US" sz="3000" dirty="0">
                <a:latin typeface="+mj-lt"/>
              </a:rPr>
              <a:t>?</a:t>
            </a:r>
          </a:p>
        </p:txBody>
      </p:sp>
      <p:sp>
        <p:nvSpPr>
          <p:cNvPr id="9" name="TextBox 8">
            <a:extLst>
              <a:ext uri="{FF2B5EF4-FFF2-40B4-BE49-F238E27FC236}">
                <a16:creationId xmlns:a16="http://schemas.microsoft.com/office/drawing/2014/main" id="{48EA1BD8-F899-A655-D48C-7E9A7C231721}"/>
              </a:ext>
            </a:extLst>
          </p:cNvPr>
          <p:cNvSpPr txBox="1"/>
          <p:nvPr/>
        </p:nvSpPr>
        <p:spPr>
          <a:xfrm>
            <a:off x="721894" y="4236210"/>
            <a:ext cx="9813759" cy="553998"/>
          </a:xfrm>
          <a:prstGeom prst="rect">
            <a:avLst/>
          </a:prstGeom>
          <a:noFill/>
        </p:spPr>
        <p:txBody>
          <a:bodyPr wrap="square">
            <a:spAutoFit/>
          </a:bodyPr>
          <a:lstStyle/>
          <a:p>
            <a:pPr marL="457200" indent="-457200">
              <a:buFont typeface="Arial" panose="020B0604020202020204" pitchFamily="34" charset="0"/>
              <a:buChar char="•"/>
            </a:pPr>
            <a:r>
              <a:rPr lang="en-US" sz="3000" dirty="0">
                <a:latin typeface="+mj-lt"/>
              </a:rPr>
              <a:t>Are these dimensions </a:t>
            </a:r>
            <a:r>
              <a:rPr lang="en-US" sz="3000" b="1" dirty="0">
                <a:latin typeface="+mj-lt"/>
              </a:rPr>
              <a:t>homogenous</a:t>
            </a:r>
            <a:r>
              <a:rPr lang="en-US" sz="3000" dirty="0">
                <a:latin typeface="+mj-lt"/>
              </a:rPr>
              <a:t> </a:t>
            </a:r>
            <a:r>
              <a:rPr lang="en-US" sz="3000" b="1" dirty="0">
                <a:latin typeface="+mj-lt"/>
              </a:rPr>
              <a:t>across</a:t>
            </a:r>
            <a:r>
              <a:rPr lang="en-US" sz="3000" dirty="0">
                <a:latin typeface="+mj-lt"/>
              </a:rPr>
              <a:t> </a:t>
            </a:r>
            <a:r>
              <a:rPr lang="en-US" sz="3000" b="1" dirty="0">
                <a:latin typeface="+mj-lt"/>
              </a:rPr>
              <a:t>individuals</a:t>
            </a:r>
            <a:r>
              <a:rPr lang="en-US" sz="3000" dirty="0">
                <a:latin typeface="+mj-lt"/>
              </a:rPr>
              <a:t>? </a:t>
            </a:r>
            <a:endParaRPr lang="en-GB" sz="3000" noProof="0" dirty="0">
              <a:latin typeface="+mj-lt"/>
            </a:endParaRPr>
          </a:p>
        </p:txBody>
      </p:sp>
    </p:spTree>
    <p:extLst>
      <p:ext uri="{BB962C8B-B14F-4D97-AF65-F5344CB8AC3E}">
        <p14:creationId xmlns:p14="http://schemas.microsoft.com/office/powerpoint/2010/main" val="1786395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9CBA9-E1B8-B71C-8FE2-0E241565401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FE9176A-6841-5C7F-DD73-A65C3E3BDA94}"/>
              </a:ext>
            </a:extLst>
          </p:cNvPr>
          <p:cNvSpPr>
            <a:spLocks noGrp="1"/>
          </p:cNvSpPr>
          <p:nvPr>
            <p:ph idx="1"/>
          </p:nvPr>
        </p:nvSpPr>
        <p:spPr>
          <a:xfrm>
            <a:off x="471858" y="1452997"/>
            <a:ext cx="10228225" cy="1976003"/>
          </a:xfrm>
        </p:spPr>
        <p:txBody>
          <a:bodyPr>
            <a:noAutofit/>
          </a:bodyPr>
          <a:lstStyle/>
          <a:p>
            <a:pPr marL="0" indent="0">
              <a:buNone/>
            </a:pPr>
            <a:endParaRPr lang="en-US" sz="3000" dirty="0">
              <a:latin typeface="+mj-lt"/>
            </a:endParaRPr>
          </a:p>
          <a:p>
            <a:r>
              <a:rPr lang="en-US" sz="3000" dirty="0">
                <a:latin typeface="+mj-lt"/>
              </a:rPr>
              <a:t>Could the </a:t>
            </a:r>
            <a:r>
              <a:rPr lang="en-US" sz="3000" b="1" dirty="0">
                <a:latin typeface="+mj-lt"/>
              </a:rPr>
              <a:t>domains</a:t>
            </a:r>
            <a:r>
              <a:rPr lang="en-US" sz="3000" dirty="0">
                <a:latin typeface="+mj-lt"/>
              </a:rPr>
              <a:t> differ in-between </a:t>
            </a:r>
            <a:r>
              <a:rPr lang="en-US" sz="3000" b="1" dirty="0">
                <a:latin typeface="+mj-lt"/>
              </a:rPr>
              <a:t>languages</a:t>
            </a:r>
            <a:r>
              <a:rPr lang="en-US" sz="3000" dirty="0">
                <a:latin typeface="+mj-lt"/>
              </a:rPr>
              <a:t> or </a:t>
            </a:r>
            <a:r>
              <a:rPr lang="en-US" sz="3000" b="1" dirty="0">
                <a:latin typeface="+mj-lt"/>
              </a:rPr>
              <a:t>cultures</a:t>
            </a:r>
            <a:r>
              <a:rPr lang="en-US" sz="3000" dirty="0">
                <a:latin typeface="+mj-lt"/>
              </a:rPr>
              <a:t>?</a:t>
            </a:r>
          </a:p>
          <a:p>
            <a:pPr marL="0" indent="0">
              <a:buNone/>
            </a:pPr>
            <a:endParaRPr lang="en-US" sz="3000" dirty="0">
              <a:latin typeface="+mj-lt"/>
            </a:endParaRPr>
          </a:p>
          <a:p>
            <a:pPr marL="0" indent="0">
              <a:buNone/>
            </a:pPr>
            <a:endParaRPr lang="en-US" sz="3000" noProof="0" dirty="0">
              <a:latin typeface="+mj-lt"/>
            </a:endParaRPr>
          </a:p>
        </p:txBody>
      </p:sp>
      <p:sp>
        <p:nvSpPr>
          <p:cNvPr id="6" name="Titre 1">
            <a:extLst>
              <a:ext uri="{FF2B5EF4-FFF2-40B4-BE49-F238E27FC236}">
                <a16:creationId xmlns:a16="http://schemas.microsoft.com/office/drawing/2014/main" id="{53E481FD-902D-A19F-CFA2-349A1287B267}"/>
              </a:ext>
            </a:extLst>
          </p:cNvPr>
          <p:cNvSpPr txBox="1">
            <a:spLocks/>
          </p:cNvSpPr>
          <p:nvPr/>
        </p:nvSpPr>
        <p:spPr>
          <a:xfrm>
            <a:off x="838200" y="-1347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r>
              <a:rPr lang="fr-FR" sz="3200" dirty="0" err="1">
                <a:latin typeface="Bookman Old Style" panose="02050604050505020204" pitchFamily="18" charset="0"/>
              </a:rPr>
              <a:t>Subsidary</a:t>
            </a:r>
            <a:r>
              <a:rPr lang="fr-FR" sz="3200" dirty="0">
                <a:latin typeface="Bookman Old Style" panose="02050604050505020204" pitchFamily="18" charset="0"/>
              </a:rPr>
              <a:t> questions</a:t>
            </a:r>
          </a:p>
        </p:txBody>
      </p:sp>
      <p:sp>
        <p:nvSpPr>
          <p:cNvPr id="4" name="TextBox 3">
            <a:extLst>
              <a:ext uri="{FF2B5EF4-FFF2-40B4-BE49-F238E27FC236}">
                <a16:creationId xmlns:a16="http://schemas.microsoft.com/office/drawing/2014/main" id="{86307AC1-94C6-F4BA-C307-62797E8B97F3}"/>
              </a:ext>
            </a:extLst>
          </p:cNvPr>
          <p:cNvSpPr txBox="1"/>
          <p:nvPr/>
        </p:nvSpPr>
        <p:spPr>
          <a:xfrm>
            <a:off x="471858" y="3429000"/>
            <a:ext cx="8752353" cy="1015663"/>
          </a:xfrm>
          <a:prstGeom prst="rect">
            <a:avLst/>
          </a:prstGeom>
          <a:noFill/>
        </p:spPr>
        <p:txBody>
          <a:bodyPr wrap="square">
            <a:spAutoFit/>
          </a:bodyPr>
          <a:lstStyle/>
          <a:p>
            <a:pPr marL="457200" indent="-457200">
              <a:buFont typeface="Arial" panose="020B0604020202020204" pitchFamily="34" charset="0"/>
              <a:buChar char="•"/>
            </a:pPr>
            <a:r>
              <a:rPr lang="en-US" sz="3000" dirty="0">
                <a:latin typeface="+mj-lt"/>
              </a:rPr>
              <a:t>What is the best way to </a:t>
            </a:r>
            <a:r>
              <a:rPr lang="en-US" sz="3000" b="1" dirty="0">
                <a:latin typeface="+mj-lt"/>
              </a:rPr>
              <a:t>normalize</a:t>
            </a:r>
            <a:r>
              <a:rPr lang="en-US" sz="3000" dirty="0">
                <a:latin typeface="+mj-lt"/>
              </a:rPr>
              <a:t> the scores to </a:t>
            </a:r>
            <a:r>
              <a:rPr lang="en-US" sz="3000" b="1" dirty="0">
                <a:latin typeface="+mj-lt"/>
              </a:rPr>
              <a:t>suppress the length report bias?</a:t>
            </a:r>
          </a:p>
        </p:txBody>
      </p:sp>
    </p:spTree>
    <p:extLst>
      <p:ext uri="{BB962C8B-B14F-4D97-AF65-F5344CB8AC3E}">
        <p14:creationId xmlns:p14="http://schemas.microsoft.com/office/powerpoint/2010/main" val="2892992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FD7B7F-4983-5B4F-9B0B-CB2452E504E4}"/>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D4A09F08-8362-801D-5B09-0826087616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324DDC9-A486-8405-D4BA-7029286577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re 1">
            <a:extLst>
              <a:ext uri="{FF2B5EF4-FFF2-40B4-BE49-F238E27FC236}">
                <a16:creationId xmlns:a16="http://schemas.microsoft.com/office/drawing/2014/main" id="{0E47A6D6-CBD4-0686-3767-57575343E907}"/>
              </a:ext>
            </a:extLst>
          </p:cNvPr>
          <p:cNvSpPr>
            <a:spLocks noGrp="1"/>
          </p:cNvSpPr>
          <p:nvPr>
            <p:ph type="ctrTitle"/>
          </p:nvPr>
        </p:nvSpPr>
        <p:spPr>
          <a:xfrm>
            <a:off x="753925" y="1321056"/>
            <a:ext cx="10684151" cy="1991979"/>
          </a:xfrm>
        </p:spPr>
        <p:txBody>
          <a:bodyPr anchor="b">
            <a:normAutofit/>
          </a:bodyPr>
          <a:lstStyle/>
          <a:p>
            <a:r>
              <a:rPr lang="en-GB" sz="5200" dirty="0">
                <a:solidFill>
                  <a:schemeClr val="tx2"/>
                </a:solidFill>
                <a:latin typeface="Bookman Old Style" panose="02050604050505020204" pitchFamily="18" charset="0"/>
              </a:rPr>
              <a:t>Supplementary Data</a:t>
            </a:r>
            <a:endParaRPr lang="fr-FR" sz="5200" dirty="0">
              <a:solidFill>
                <a:schemeClr val="tx2"/>
              </a:solidFill>
            </a:endParaRPr>
          </a:p>
        </p:txBody>
      </p:sp>
      <p:grpSp>
        <p:nvGrpSpPr>
          <p:cNvPr id="42" name="Group 41">
            <a:extLst>
              <a:ext uri="{FF2B5EF4-FFF2-40B4-BE49-F238E27FC236}">
                <a16:creationId xmlns:a16="http://schemas.microsoft.com/office/drawing/2014/main" id="{D92420A2-B36F-8C31-C262-2754EEAD5E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43" name="Freeform: Shape 42">
              <a:extLst>
                <a:ext uri="{FF2B5EF4-FFF2-40B4-BE49-F238E27FC236}">
                  <a16:creationId xmlns:a16="http://schemas.microsoft.com/office/drawing/2014/main" id="{76B8CFBC-A343-9716-9748-BE1283D3EF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0B791AFF-5FAE-A0BD-E49A-2A87275D5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AA4F4951-2996-E43D-D1BD-B9D31017E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4FC11D59-3B1B-C7DF-AD05-3EBB35889E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3A2487CB-2E2D-C501-0151-0B83D81935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49" name="Freeform: Shape 48">
              <a:extLst>
                <a:ext uri="{FF2B5EF4-FFF2-40B4-BE49-F238E27FC236}">
                  <a16:creationId xmlns:a16="http://schemas.microsoft.com/office/drawing/2014/main" id="{B605AC42-1A91-102E-5F05-D98176D82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92E1CD0D-C21E-53EE-0B75-8800D981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AF21E2BD-C26F-0EE9-49E9-CADD28B93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D41BE2B6-11FE-AB65-A256-3A5E48EAF2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14086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5BC1F-C9FD-8FB0-4574-25679F7A0A7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67A176A-129A-F09C-5D7F-24751DA0E75C}"/>
              </a:ext>
            </a:extLst>
          </p:cNvPr>
          <p:cNvSpPr>
            <a:spLocks noGrp="1"/>
          </p:cNvSpPr>
          <p:nvPr>
            <p:ph idx="1"/>
          </p:nvPr>
        </p:nvSpPr>
        <p:spPr>
          <a:xfrm>
            <a:off x="710381" y="953729"/>
            <a:ext cx="10193594" cy="5663380"/>
          </a:xfrm>
        </p:spPr>
        <p:txBody>
          <a:bodyPr>
            <a:noAutofit/>
          </a:bodyPr>
          <a:lstStyle/>
          <a:p>
            <a:pPr marL="0" indent="0">
              <a:buNone/>
            </a:pPr>
            <a:endParaRPr lang="fr-FR" sz="1800" dirty="0">
              <a:solidFill>
                <a:srgbClr val="FF0000"/>
              </a:solidFill>
            </a:endParaRPr>
          </a:p>
          <a:p>
            <a:pPr marL="0" indent="0">
              <a:buNone/>
            </a:pPr>
            <a:r>
              <a:rPr lang="fr-FR" sz="1800" b="1" dirty="0">
                <a:solidFill>
                  <a:srgbClr val="FF0000"/>
                </a:solidFill>
                <a:latin typeface="+mj-lt"/>
              </a:rPr>
              <a:t>NDS RAW Score = </a:t>
            </a:r>
            <a:r>
              <a:rPr lang="en-US" sz="1800" b="1" dirty="0">
                <a:solidFill>
                  <a:srgbClr val="FF0000"/>
                </a:solidFill>
                <a:latin typeface="+mj-lt"/>
              </a:rPr>
              <a:t>Σ(</a:t>
            </a:r>
            <a:r>
              <a:rPr lang="en-US" sz="1800" b="1" dirty="0" err="1">
                <a:solidFill>
                  <a:srgbClr val="FF0000"/>
                </a:solidFill>
                <a:latin typeface="+mj-lt"/>
              </a:rPr>
              <a:t>score_i</a:t>
            </a:r>
            <a:r>
              <a:rPr lang="en-US" sz="1800" b="1" dirty="0">
                <a:solidFill>
                  <a:srgbClr val="FF0000"/>
                </a:solidFill>
                <a:latin typeface="+mj-lt"/>
              </a:rPr>
              <a:t> × </a:t>
            </a:r>
            <a:r>
              <a:rPr lang="en-US" sz="1800" b="1" dirty="0" err="1">
                <a:solidFill>
                  <a:srgbClr val="FF0000"/>
                </a:solidFill>
                <a:latin typeface="+mj-lt"/>
              </a:rPr>
              <a:t>weight_i</a:t>
            </a:r>
            <a:r>
              <a:rPr lang="en-US" sz="1800" b="1" dirty="0">
                <a:solidFill>
                  <a:srgbClr val="FF0000"/>
                </a:solidFill>
                <a:latin typeface="+mj-lt"/>
              </a:rPr>
              <a:t>)</a:t>
            </a:r>
          </a:p>
          <a:p>
            <a:pPr marL="0" indent="0">
              <a:buNone/>
            </a:pPr>
            <a:endParaRPr lang="en-US" sz="1800" dirty="0">
              <a:solidFill>
                <a:srgbClr val="FF0000"/>
              </a:solidFill>
              <a:latin typeface="+mj-lt"/>
            </a:endParaRPr>
          </a:p>
          <a:p>
            <a:pPr marL="0" indent="0">
              <a:buNone/>
            </a:pPr>
            <a:r>
              <a:rPr lang="en-US" sz="1800" dirty="0">
                <a:latin typeface="+mj-lt"/>
              </a:rPr>
              <a:t>To avoid bias of report length size </a:t>
            </a:r>
            <a:r>
              <a:rPr lang="en-US" sz="1800" dirty="0">
                <a:latin typeface="+mj-lt"/>
                <a:sym typeface="Wingdings" panose="05000000000000000000" pitchFamily="2" charset="2"/>
              </a:rPr>
              <a:t> </a:t>
            </a:r>
            <a:r>
              <a:rPr lang="en-US" sz="1800" dirty="0" err="1">
                <a:latin typeface="+mj-lt"/>
                <a:sym typeface="Wingdings" panose="05000000000000000000" pitchFamily="2" charset="2"/>
              </a:rPr>
              <a:t>Normalisation</a:t>
            </a:r>
            <a:r>
              <a:rPr lang="en-US" sz="1800" dirty="0">
                <a:latin typeface="+mj-lt"/>
                <a:sym typeface="Wingdings" panose="05000000000000000000" pitchFamily="2" charset="2"/>
              </a:rPr>
              <a:t> : </a:t>
            </a:r>
            <a:r>
              <a:rPr lang="fr-FR" sz="1800" dirty="0">
                <a:latin typeface="+mj-lt"/>
              </a:rPr>
              <a:t>DENOM = </a:t>
            </a:r>
            <a:r>
              <a:rPr lang="el-GR" sz="1800" dirty="0">
                <a:latin typeface="+mj-lt"/>
              </a:rPr>
              <a:t>Σ|</a:t>
            </a:r>
            <a:r>
              <a:rPr lang="fr-FR" sz="1800" dirty="0" err="1">
                <a:latin typeface="+mj-lt"/>
              </a:rPr>
              <a:t>weight_i</a:t>
            </a:r>
            <a:r>
              <a:rPr lang="fr-FR" sz="1800" dirty="0">
                <a:latin typeface="+mj-lt"/>
              </a:rPr>
              <a:t>| </a:t>
            </a:r>
            <a:endParaRPr lang="en-US" sz="1800" dirty="0">
              <a:latin typeface="+mj-lt"/>
              <a:sym typeface="Wingdings" panose="05000000000000000000" pitchFamily="2" charset="2"/>
            </a:endParaRPr>
          </a:p>
          <a:p>
            <a:pPr marL="0" indent="0">
              <a:buNone/>
            </a:pPr>
            <a:endParaRPr lang="en-US" sz="1800" dirty="0">
              <a:solidFill>
                <a:srgbClr val="FF0000"/>
              </a:solidFill>
            </a:endParaRPr>
          </a:p>
        </p:txBody>
      </p:sp>
      <p:sp>
        <p:nvSpPr>
          <p:cNvPr id="6" name="Titre 1">
            <a:extLst>
              <a:ext uri="{FF2B5EF4-FFF2-40B4-BE49-F238E27FC236}">
                <a16:creationId xmlns:a16="http://schemas.microsoft.com/office/drawing/2014/main" id="{AFDF56C8-19BA-C298-F62C-E4DA14ADD8A8}"/>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solidFill>
                  <a:schemeClr val="tx2"/>
                </a:solidFill>
                <a:latin typeface="Bookman Old Style" panose="02050604050505020204" pitchFamily="18" charset="0"/>
              </a:rPr>
              <a:t>Normalised Discriminant Score</a:t>
            </a:r>
            <a:endParaRPr lang="en-GB" sz="2900" dirty="0">
              <a:latin typeface="Bookman Old Style" panose="02050604050505020204" pitchFamily="18" charset="0"/>
            </a:endParaRPr>
          </a:p>
        </p:txBody>
      </p:sp>
    </p:spTree>
    <p:extLst>
      <p:ext uri="{BB962C8B-B14F-4D97-AF65-F5344CB8AC3E}">
        <p14:creationId xmlns:p14="http://schemas.microsoft.com/office/powerpoint/2010/main" val="4120934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FCD98-919B-6E64-1741-71EF431BE46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6437607-FB2E-268F-8211-66B2C9B67A79}"/>
              </a:ext>
            </a:extLst>
          </p:cNvPr>
          <p:cNvSpPr>
            <a:spLocks noGrp="1"/>
          </p:cNvSpPr>
          <p:nvPr>
            <p:ph idx="1"/>
          </p:nvPr>
        </p:nvSpPr>
        <p:spPr>
          <a:xfrm>
            <a:off x="710381" y="953729"/>
            <a:ext cx="10193594" cy="5663380"/>
          </a:xfrm>
        </p:spPr>
        <p:txBody>
          <a:bodyPr>
            <a:noAutofit/>
          </a:bodyPr>
          <a:lstStyle/>
          <a:p>
            <a:pPr marL="0" indent="0">
              <a:buNone/>
            </a:pPr>
            <a:endParaRPr lang="fr-FR" sz="1800" dirty="0">
              <a:solidFill>
                <a:srgbClr val="FF0000"/>
              </a:solidFill>
              <a:latin typeface="+mj-lt"/>
            </a:endParaRPr>
          </a:p>
          <a:p>
            <a:pPr marL="0" indent="0">
              <a:buNone/>
            </a:pPr>
            <a:r>
              <a:rPr lang="fr-FR" sz="1800" b="1" dirty="0">
                <a:solidFill>
                  <a:srgbClr val="FF0000"/>
                </a:solidFill>
                <a:latin typeface="+mj-lt"/>
              </a:rPr>
              <a:t>NDS RAW Score = </a:t>
            </a:r>
            <a:r>
              <a:rPr lang="en-US" sz="1800" b="1" dirty="0">
                <a:solidFill>
                  <a:srgbClr val="FF0000"/>
                </a:solidFill>
                <a:latin typeface="+mj-lt"/>
              </a:rPr>
              <a:t>Σ(</a:t>
            </a:r>
            <a:r>
              <a:rPr lang="en-US" sz="1800" b="1" dirty="0" err="1">
                <a:solidFill>
                  <a:srgbClr val="FF0000"/>
                </a:solidFill>
                <a:latin typeface="+mj-lt"/>
              </a:rPr>
              <a:t>score_i</a:t>
            </a:r>
            <a:r>
              <a:rPr lang="en-US" sz="1800" b="1" dirty="0">
                <a:solidFill>
                  <a:srgbClr val="FF0000"/>
                </a:solidFill>
                <a:latin typeface="+mj-lt"/>
              </a:rPr>
              <a:t> × </a:t>
            </a:r>
            <a:r>
              <a:rPr lang="en-US" sz="1800" b="1" dirty="0" err="1">
                <a:solidFill>
                  <a:srgbClr val="FF0000"/>
                </a:solidFill>
                <a:latin typeface="+mj-lt"/>
              </a:rPr>
              <a:t>weight_i</a:t>
            </a:r>
            <a:r>
              <a:rPr lang="en-US" sz="1800" b="1" dirty="0">
                <a:solidFill>
                  <a:srgbClr val="FF0000"/>
                </a:solidFill>
                <a:latin typeface="+mj-lt"/>
              </a:rPr>
              <a:t>)</a:t>
            </a:r>
          </a:p>
          <a:p>
            <a:pPr marL="0" indent="0">
              <a:buNone/>
            </a:pPr>
            <a:endParaRPr lang="en-US" sz="1800" dirty="0">
              <a:solidFill>
                <a:srgbClr val="FF0000"/>
              </a:solidFill>
              <a:latin typeface="+mj-lt"/>
            </a:endParaRPr>
          </a:p>
          <a:p>
            <a:pPr marL="0" indent="0">
              <a:buNone/>
            </a:pPr>
            <a:r>
              <a:rPr lang="en-US" sz="1800" dirty="0"/>
              <a:t>To avoid bias of report length size </a:t>
            </a:r>
            <a:r>
              <a:rPr lang="en-US" sz="1800" dirty="0">
                <a:latin typeface="+mj-lt"/>
                <a:sym typeface="Wingdings" panose="05000000000000000000" pitchFamily="2" charset="2"/>
              </a:rPr>
              <a:t> </a:t>
            </a:r>
            <a:r>
              <a:rPr lang="en-US" sz="1800" dirty="0" err="1">
                <a:latin typeface="+mj-lt"/>
                <a:sym typeface="Wingdings" panose="05000000000000000000" pitchFamily="2" charset="2"/>
              </a:rPr>
              <a:t>Normalisation</a:t>
            </a:r>
            <a:r>
              <a:rPr lang="en-US" sz="1800" dirty="0">
                <a:latin typeface="+mj-lt"/>
                <a:sym typeface="Wingdings" panose="05000000000000000000" pitchFamily="2" charset="2"/>
              </a:rPr>
              <a:t> : </a:t>
            </a:r>
            <a:r>
              <a:rPr lang="fr-FR" sz="1800" dirty="0">
                <a:latin typeface="+mj-lt"/>
              </a:rPr>
              <a:t>DENOM = </a:t>
            </a:r>
            <a:r>
              <a:rPr lang="el-GR" sz="1800" dirty="0">
                <a:latin typeface="+mj-lt"/>
              </a:rPr>
              <a:t>Σ|</a:t>
            </a:r>
            <a:r>
              <a:rPr lang="fr-FR" sz="1800" dirty="0" err="1">
                <a:latin typeface="+mj-lt"/>
              </a:rPr>
              <a:t>weight_i</a:t>
            </a:r>
            <a:r>
              <a:rPr lang="fr-FR" sz="1800" dirty="0">
                <a:latin typeface="+mj-lt"/>
              </a:rPr>
              <a:t>| </a:t>
            </a:r>
            <a:endParaRPr lang="en-US" sz="1800" dirty="0">
              <a:latin typeface="+mj-lt"/>
              <a:sym typeface="Wingdings" panose="05000000000000000000" pitchFamily="2" charset="2"/>
            </a:endParaRPr>
          </a:p>
          <a:p>
            <a:pPr marL="0" indent="0">
              <a:buNone/>
            </a:pPr>
            <a:r>
              <a:rPr lang="en-US" sz="1800" dirty="0">
                <a:latin typeface="+mj-lt"/>
                <a:sym typeface="Wingdings" panose="05000000000000000000" pitchFamily="2" charset="2"/>
              </a:rPr>
              <a:t> </a:t>
            </a:r>
          </a:p>
          <a:p>
            <a:pPr marL="0" indent="0">
              <a:buNone/>
            </a:pPr>
            <a:r>
              <a:rPr lang="fr-FR" sz="1800" b="1" dirty="0">
                <a:solidFill>
                  <a:srgbClr val="FF0000"/>
                </a:solidFill>
                <a:latin typeface="+mj-lt"/>
              </a:rPr>
              <a:t>NDS = RAW / DENOM</a:t>
            </a:r>
            <a:endParaRPr lang="en-US" sz="1800" b="1" dirty="0">
              <a:solidFill>
                <a:srgbClr val="FF0000"/>
              </a:solidFill>
              <a:latin typeface="+mj-lt"/>
              <a:sym typeface="Wingdings" panose="05000000000000000000" pitchFamily="2" charset="2"/>
            </a:endParaRPr>
          </a:p>
          <a:p>
            <a:pPr marL="0" indent="0">
              <a:buNone/>
            </a:pPr>
            <a:endParaRPr lang="en-US" sz="1800" dirty="0">
              <a:latin typeface="+mj-lt"/>
            </a:endParaRPr>
          </a:p>
          <a:p>
            <a:pPr marL="0" indent="0">
              <a:buNone/>
            </a:pPr>
            <a:endParaRPr lang="en-US" sz="1800" dirty="0">
              <a:solidFill>
                <a:srgbClr val="FF0000"/>
              </a:solidFill>
              <a:latin typeface="+mj-lt"/>
            </a:endParaRPr>
          </a:p>
        </p:txBody>
      </p:sp>
      <p:sp>
        <p:nvSpPr>
          <p:cNvPr id="6" name="Titre 1">
            <a:extLst>
              <a:ext uri="{FF2B5EF4-FFF2-40B4-BE49-F238E27FC236}">
                <a16:creationId xmlns:a16="http://schemas.microsoft.com/office/drawing/2014/main" id="{7E2A78E3-FBFF-BDB6-D3D4-6C7BC4EAF2DA}"/>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solidFill>
                  <a:schemeClr val="tx2"/>
                </a:solidFill>
                <a:latin typeface="Bookman Old Style" panose="02050604050505020204" pitchFamily="18" charset="0"/>
              </a:rPr>
              <a:t>Normalised Discriminant Score</a:t>
            </a:r>
            <a:endParaRPr lang="en-GB" sz="2900" dirty="0">
              <a:latin typeface="Bookman Old Style" panose="02050604050505020204" pitchFamily="18" charset="0"/>
            </a:endParaRPr>
          </a:p>
        </p:txBody>
      </p:sp>
    </p:spTree>
    <p:extLst>
      <p:ext uri="{BB962C8B-B14F-4D97-AF65-F5344CB8AC3E}">
        <p14:creationId xmlns:p14="http://schemas.microsoft.com/office/powerpoint/2010/main" val="3983078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190B7-8C69-53D3-2A57-E349DB22661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F7D11C7-C006-0315-441F-A977112B4F04}"/>
              </a:ext>
            </a:extLst>
          </p:cNvPr>
          <p:cNvSpPr>
            <a:spLocks noGrp="1"/>
          </p:cNvSpPr>
          <p:nvPr>
            <p:ph idx="1"/>
          </p:nvPr>
        </p:nvSpPr>
        <p:spPr>
          <a:xfrm>
            <a:off x="710381" y="953729"/>
            <a:ext cx="10193594" cy="5663380"/>
          </a:xfrm>
        </p:spPr>
        <p:txBody>
          <a:bodyPr>
            <a:noAutofit/>
          </a:bodyPr>
          <a:lstStyle/>
          <a:p>
            <a:pPr marL="0" indent="0">
              <a:buNone/>
            </a:pPr>
            <a:endParaRPr lang="fr-FR" sz="1800" dirty="0">
              <a:solidFill>
                <a:srgbClr val="FF0000"/>
              </a:solidFill>
              <a:latin typeface="+mj-lt"/>
            </a:endParaRPr>
          </a:p>
          <a:p>
            <a:pPr marL="0" indent="0">
              <a:buNone/>
            </a:pPr>
            <a:r>
              <a:rPr lang="fr-FR" sz="1800" b="1" dirty="0">
                <a:solidFill>
                  <a:srgbClr val="FF0000"/>
                </a:solidFill>
                <a:latin typeface="+mj-lt"/>
              </a:rPr>
              <a:t>NDS RAW Score = </a:t>
            </a:r>
            <a:r>
              <a:rPr lang="en-US" sz="1800" b="1" dirty="0">
                <a:solidFill>
                  <a:srgbClr val="FF0000"/>
                </a:solidFill>
                <a:latin typeface="+mj-lt"/>
              </a:rPr>
              <a:t>Σ(</a:t>
            </a:r>
            <a:r>
              <a:rPr lang="en-US" sz="1800" b="1" dirty="0" err="1">
                <a:solidFill>
                  <a:srgbClr val="FF0000"/>
                </a:solidFill>
                <a:latin typeface="+mj-lt"/>
              </a:rPr>
              <a:t>score_i</a:t>
            </a:r>
            <a:r>
              <a:rPr lang="en-US" sz="1800" b="1" dirty="0">
                <a:solidFill>
                  <a:srgbClr val="FF0000"/>
                </a:solidFill>
                <a:latin typeface="+mj-lt"/>
              </a:rPr>
              <a:t> × </a:t>
            </a:r>
            <a:r>
              <a:rPr lang="en-US" sz="1800" b="1" dirty="0" err="1">
                <a:solidFill>
                  <a:srgbClr val="FF0000"/>
                </a:solidFill>
                <a:latin typeface="+mj-lt"/>
              </a:rPr>
              <a:t>weight_i</a:t>
            </a:r>
            <a:r>
              <a:rPr lang="en-US" sz="1800" b="1" dirty="0">
                <a:solidFill>
                  <a:srgbClr val="FF0000"/>
                </a:solidFill>
                <a:latin typeface="+mj-lt"/>
              </a:rPr>
              <a:t>)</a:t>
            </a:r>
          </a:p>
          <a:p>
            <a:pPr marL="0" indent="0">
              <a:buNone/>
            </a:pPr>
            <a:endParaRPr lang="en-US" sz="1800" dirty="0">
              <a:solidFill>
                <a:srgbClr val="FF0000"/>
              </a:solidFill>
              <a:latin typeface="+mj-lt"/>
            </a:endParaRPr>
          </a:p>
          <a:p>
            <a:pPr marL="0" indent="0">
              <a:buNone/>
            </a:pPr>
            <a:r>
              <a:rPr lang="en-US" sz="1800" dirty="0"/>
              <a:t>To avoid bias of report length size </a:t>
            </a:r>
            <a:r>
              <a:rPr lang="en-US" sz="1800" dirty="0">
                <a:latin typeface="+mj-lt"/>
                <a:sym typeface="Wingdings" panose="05000000000000000000" pitchFamily="2" charset="2"/>
              </a:rPr>
              <a:t> </a:t>
            </a:r>
            <a:r>
              <a:rPr lang="en-US" sz="1800" dirty="0" err="1">
                <a:latin typeface="+mj-lt"/>
                <a:sym typeface="Wingdings" panose="05000000000000000000" pitchFamily="2" charset="2"/>
              </a:rPr>
              <a:t>Normalisation</a:t>
            </a:r>
            <a:r>
              <a:rPr lang="en-US" sz="1800" dirty="0">
                <a:latin typeface="+mj-lt"/>
                <a:sym typeface="Wingdings" panose="05000000000000000000" pitchFamily="2" charset="2"/>
              </a:rPr>
              <a:t> : </a:t>
            </a:r>
            <a:r>
              <a:rPr lang="fr-FR" sz="1800" dirty="0">
                <a:latin typeface="+mj-lt"/>
              </a:rPr>
              <a:t>DENOM = </a:t>
            </a:r>
            <a:r>
              <a:rPr lang="el-GR" sz="1800" dirty="0">
                <a:latin typeface="+mj-lt"/>
              </a:rPr>
              <a:t>Σ|</a:t>
            </a:r>
            <a:r>
              <a:rPr lang="fr-FR" sz="1800" dirty="0" err="1">
                <a:latin typeface="+mj-lt"/>
              </a:rPr>
              <a:t>weight_i</a:t>
            </a:r>
            <a:r>
              <a:rPr lang="fr-FR" sz="1800" dirty="0">
                <a:latin typeface="+mj-lt"/>
              </a:rPr>
              <a:t>| </a:t>
            </a:r>
            <a:endParaRPr lang="en-US" sz="1800" dirty="0">
              <a:latin typeface="+mj-lt"/>
              <a:sym typeface="Wingdings" panose="05000000000000000000" pitchFamily="2" charset="2"/>
            </a:endParaRPr>
          </a:p>
          <a:p>
            <a:pPr marL="0" indent="0">
              <a:buNone/>
            </a:pPr>
            <a:r>
              <a:rPr lang="en-US" sz="1800" dirty="0">
                <a:latin typeface="+mj-lt"/>
                <a:sym typeface="Wingdings" panose="05000000000000000000" pitchFamily="2" charset="2"/>
              </a:rPr>
              <a:t> </a:t>
            </a:r>
          </a:p>
          <a:p>
            <a:pPr marL="0" indent="0">
              <a:buNone/>
            </a:pPr>
            <a:r>
              <a:rPr lang="fr-FR" sz="1800" b="1" dirty="0">
                <a:solidFill>
                  <a:srgbClr val="FF0000"/>
                </a:solidFill>
                <a:latin typeface="+mj-lt"/>
              </a:rPr>
              <a:t>NDS = RAW / DENOM</a:t>
            </a:r>
            <a:endParaRPr lang="en-US" sz="1800" b="1" dirty="0">
              <a:solidFill>
                <a:srgbClr val="FF0000"/>
              </a:solidFill>
              <a:latin typeface="+mj-lt"/>
              <a:sym typeface="Wingdings" panose="05000000000000000000" pitchFamily="2" charset="2"/>
            </a:endParaRPr>
          </a:p>
          <a:p>
            <a:pPr marL="0" indent="0">
              <a:buNone/>
            </a:pPr>
            <a:endParaRPr lang="en-US" sz="1800" dirty="0">
              <a:latin typeface="+mj-lt"/>
            </a:endParaRPr>
          </a:p>
          <a:p>
            <a:pPr marL="0" indent="0">
              <a:buNone/>
            </a:pPr>
            <a:r>
              <a:rPr lang="fr-FR" sz="1800" b="1" i="1" dirty="0">
                <a:latin typeface="+mj-lt"/>
              </a:rPr>
              <a:t>« I </a:t>
            </a:r>
            <a:r>
              <a:rPr lang="fr-FR" sz="1800" b="1" i="1" dirty="0" err="1">
                <a:latin typeface="+mj-lt"/>
              </a:rPr>
              <a:t>was</a:t>
            </a:r>
            <a:r>
              <a:rPr lang="fr-FR" sz="1800" b="1" i="1" dirty="0">
                <a:latin typeface="+mj-lt"/>
              </a:rPr>
              <a:t> </a:t>
            </a:r>
            <a:r>
              <a:rPr lang="fr-FR" sz="1800" b="1" i="1" dirty="0" err="1">
                <a:latin typeface="+mj-lt"/>
              </a:rPr>
              <a:t>flying</a:t>
            </a:r>
            <a:r>
              <a:rPr lang="fr-FR" sz="1800" b="1" i="1" dirty="0">
                <a:latin typeface="+mj-lt"/>
              </a:rPr>
              <a:t> »</a:t>
            </a:r>
            <a:endParaRPr lang="fr-FR" sz="1800" b="1" dirty="0">
              <a:latin typeface="+mj-lt"/>
            </a:endParaRPr>
          </a:p>
          <a:p>
            <a:pPr marL="0" indent="0">
              <a:buNone/>
            </a:pPr>
            <a:r>
              <a:rPr lang="fr-FR" sz="1800" dirty="0" err="1">
                <a:latin typeface="+mj-lt"/>
              </a:rPr>
              <a:t>Scorables</a:t>
            </a:r>
            <a:r>
              <a:rPr lang="fr-FR" sz="1800" dirty="0">
                <a:latin typeface="+mj-lt"/>
              </a:rPr>
              <a:t> dimensions :</a:t>
            </a:r>
          </a:p>
          <a:p>
            <a:pPr marL="0" indent="0">
              <a:buNone/>
            </a:pPr>
            <a:r>
              <a:rPr lang="fr-FR" sz="1800" dirty="0">
                <a:latin typeface="+mj-lt"/>
              </a:rPr>
              <a:t>BIZARRENESS = 10, </a:t>
            </a:r>
            <a:r>
              <a:rPr lang="fr-FR" sz="1800" dirty="0" err="1">
                <a:latin typeface="+mj-lt"/>
              </a:rPr>
              <a:t>weight</a:t>
            </a:r>
            <a:r>
              <a:rPr lang="fr-FR" sz="1800" dirty="0">
                <a:latin typeface="+mj-lt"/>
              </a:rPr>
              <a:t> = +2.85 → +28.50</a:t>
            </a:r>
          </a:p>
          <a:p>
            <a:pPr marL="0" indent="0">
              <a:buNone/>
            </a:pPr>
            <a:r>
              <a:rPr lang="fr-FR" sz="1800" dirty="0">
                <a:latin typeface="+mj-lt"/>
              </a:rPr>
              <a:t>VISUAL = 5, </a:t>
            </a:r>
            <a:r>
              <a:rPr lang="fr-FR" sz="1800" dirty="0" err="1">
                <a:latin typeface="+mj-lt"/>
              </a:rPr>
              <a:t>weight</a:t>
            </a:r>
            <a:r>
              <a:rPr lang="fr-FR" sz="1800" dirty="0">
                <a:latin typeface="+mj-lt"/>
              </a:rPr>
              <a:t> = +1.52 → +7.60</a:t>
            </a:r>
          </a:p>
          <a:p>
            <a:pPr marL="0" indent="0">
              <a:buNone/>
            </a:pPr>
            <a:r>
              <a:rPr lang="fr-FR" sz="1800" dirty="0">
                <a:latin typeface="+mj-lt"/>
              </a:rPr>
              <a:t>MOVEMENTS = 7, </a:t>
            </a:r>
            <a:r>
              <a:rPr lang="fr-FR" sz="1800" dirty="0" err="1">
                <a:latin typeface="+mj-lt"/>
              </a:rPr>
              <a:t>weight</a:t>
            </a:r>
            <a:r>
              <a:rPr lang="fr-FR" sz="1800" dirty="0">
                <a:latin typeface="+mj-lt"/>
              </a:rPr>
              <a:t> = +0.83 → +5.81</a:t>
            </a:r>
          </a:p>
          <a:p>
            <a:pPr marL="0" indent="0">
              <a:buNone/>
            </a:pPr>
            <a:r>
              <a:rPr lang="fr-FR" sz="1800" dirty="0">
                <a:latin typeface="+mj-lt"/>
              </a:rPr>
              <a:t>BODY = 4, </a:t>
            </a:r>
            <a:r>
              <a:rPr lang="fr-FR" sz="1800" dirty="0" err="1">
                <a:latin typeface="+mj-lt"/>
              </a:rPr>
              <a:t>weight</a:t>
            </a:r>
            <a:r>
              <a:rPr lang="fr-FR" sz="1800" dirty="0">
                <a:latin typeface="+mj-lt"/>
              </a:rPr>
              <a:t> = −0.73 → −2.92</a:t>
            </a:r>
          </a:p>
          <a:p>
            <a:pPr marL="0" indent="0">
              <a:buNone/>
            </a:pPr>
            <a:r>
              <a:rPr lang="fr-FR" sz="1800" dirty="0">
                <a:latin typeface="+mj-lt"/>
              </a:rPr>
              <a:t>RAW = 28.50 + 7.60 + 5.81 − 2.92 = </a:t>
            </a:r>
            <a:r>
              <a:rPr lang="fr-FR" sz="1800" b="1" dirty="0">
                <a:latin typeface="+mj-lt"/>
              </a:rPr>
              <a:t>+39.00</a:t>
            </a:r>
            <a:r>
              <a:rPr lang="fr-FR" sz="1800" dirty="0">
                <a:latin typeface="+mj-lt"/>
              </a:rPr>
              <a:t> DENOM = 2.85 + 1.52 + 0.83 + 0.73 = </a:t>
            </a:r>
            <a:r>
              <a:rPr lang="fr-FR" sz="1800" b="1" dirty="0">
                <a:latin typeface="+mj-lt"/>
              </a:rPr>
              <a:t>5.93</a:t>
            </a:r>
            <a:r>
              <a:rPr lang="fr-FR" sz="1800" dirty="0">
                <a:latin typeface="+mj-lt"/>
              </a:rPr>
              <a:t> NDS = 39.00 / 5.93 = </a:t>
            </a:r>
            <a:r>
              <a:rPr lang="fr-FR" sz="1800" b="1" dirty="0">
                <a:latin typeface="+mj-lt"/>
              </a:rPr>
              <a:t>+6.58</a:t>
            </a:r>
            <a:endParaRPr lang="fr-FR" sz="1800" dirty="0">
              <a:latin typeface="+mj-lt"/>
            </a:endParaRPr>
          </a:p>
          <a:p>
            <a:pPr marL="0" indent="0">
              <a:buNone/>
            </a:pPr>
            <a:endParaRPr lang="en-US" sz="1800" dirty="0">
              <a:solidFill>
                <a:srgbClr val="FF0000"/>
              </a:solidFill>
              <a:latin typeface="+mj-lt"/>
            </a:endParaRPr>
          </a:p>
        </p:txBody>
      </p:sp>
      <p:sp>
        <p:nvSpPr>
          <p:cNvPr id="6" name="Titre 1">
            <a:extLst>
              <a:ext uri="{FF2B5EF4-FFF2-40B4-BE49-F238E27FC236}">
                <a16:creationId xmlns:a16="http://schemas.microsoft.com/office/drawing/2014/main" id="{29EE8BB6-6BDC-9976-5A94-1A399C867EDB}"/>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solidFill>
                  <a:schemeClr val="tx2"/>
                </a:solidFill>
                <a:latin typeface="Bookman Old Style" panose="02050604050505020204" pitchFamily="18" charset="0"/>
              </a:rPr>
              <a:t>Normalised Discriminant Score</a:t>
            </a:r>
            <a:endParaRPr lang="en-GB" sz="2900" dirty="0">
              <a:latin typeface="Bookman Old Style" panose="02050604050505020204" pitchFamily="18" charset="0"/>
            </a:endParaRPr>
          </a:p>
        </p:txBody>
      </p:sp>
    </p:spTree>
    <p:extLst>
      <p:ext uri="{BB962C8B-B14F-4D97-AF65-F5344CB8AC3E}">
        <p14:creationId xmlns:p14="http://schemas.microsoft.com/office/powerpoint/2010/main" val="2776615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34B64-5618-ACF4-A5AB-78B3408B366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DCD0DE4-136C-1DFB-33CB-9120BCF40E36}"/>
              </a:ext>
            </a:extLst>
          </p:cNvPr>
          <p:cNvSpPr>
            <a:spLocks noGrp="1"/>
          </p:cNvSpPr>
          <p:nvPr>
            <p:ph idx="1"/>
          </p:nvPr>
        </p:nvSpPr>
        <p:spPr>
          <a:xfrm>
            <a:off x="527255" y="597310"/>
            <a:ext cx="11137490" cy="5663380"/>
          </a:xfrm>
        </p:spPr>
        <p:txBody>
          <a:bodyPr>
            <a:noAutofit/>
          </a:bodyPr>
          <a:lstStyle/>
          <a:p>
            <a:pPr marL="0" indent="0">
              <a:buNone/>
            </a:pPr>
            <a:endParaRPr lang="fr-FR" sz="2200" dirty="0">
              <a:solidFill>
                <a:srgbClr val="FF0000"/>
              </a:solidFill>
              <a:latin typeface="+mj-lt"/>
            </a:endParaRPr>
          </a:p>
          <a:p>
            <a:pPr marL="0" indent="0">
              <a:buNone/>
            </a:pPr>
            <a:endParaRPr lang="en-US" sz="2200" b="1" dirty="0">
              <a:latin typeface="+mj-lt"/>
            </a:endParaRPr>
          </a:p>
          <a:p>
            <a:pPr marL="0" indent="0">
              <a:buNone/>
            </a:pPr>
            <a:endParaRPr lang="en-US" sz="2200" b="1" dirty="0">
              <a:latin typeface="+mj-lt"/>
            </a:endParaRPr>
          </a:p>
          <a:p>
            <a:pPr marL="0" indent="0">
              <a:buNone/>
            </a:pPr>
            <a:r>
              <a:rPr lang="en-US" sz="2200" b="1" dirty="0">
                <a:latin typeface="+mj-lt"/>
              </a:rPr>
              <a:t>182 </a:t>
            </a:r>
            <a:r>
              <a:rPr lang="en-US" sz="2200" dirty="0">
                <a:latin typeface="+mj-lt"/>
              </a:rPr>
              <a:t>reports scored for now</a:t>
            </a:r>
          </a:p>
          <a:p>
            <a:pPr marL="0" indent="0">
              <a:buNone/>
            </a:pPr>
            <a:endParaRPr lang="en-US" sz="2200" dirty="0">
              <a:latin typeface="+mj-lt"/>
            </a:endParaRPr>
          </a:p>
          <a:p>
            <a:pPr marL="0" indent="0">
              <a:buNone/>
            </a:pPr>
            <a:r>
              <a:rPr lang="fr-FR" sz="2200" b="1" dirty="0" err="1">
                <a:latin typeface="+mj-lt"/>
              </a:rPr>
              <a:t>Overall</a:t>
            </a:r>
            <a:r>
              <a:rPr lang="fr-FR" sz="2200" dirty="0">
                <a:latin typeface="+mj-lt"/>
              </a:rPr>
              <a:t> </a:t>
            </a:r>
            <a:r>
              <a:rPr lang="fr-FR" sz="2200" b="1" dirty="0" err="1">
                <a:latin typeface="+mj-lt"/>
              </a:rPr>
              <a:t>Precision</a:t>
            </a:r>
            <a:r>
              <a:rPr lang="fr-FR" sz="2200" dirty="0">
                <a:latin typeface="+mj-lt"/>
              </a:rPr>
              <a:t> :</a:t>
            </a:r>
            <a:r>
              <a:rPr lang="fr-FR" sz="2200" b="1" dirty="0">
                <a:latin typeface="+mj-lt"/>
              </a:rPr>
              <a:t> </a:t>
            </a:r>
            <a:r>
              <a:rPr lang="fr-FR" sz="2200" dirty="0">
                <a:latin typeface="+mj-lt"/>
              </a:rPr>
              <a:t>178/182 =</a:t>
            </a:r>
            <a:r>
              <a:rPr lang="fr-FR" sz="2200" b="1" dirty="0">
                <a:latin typeface="+mj-lt"/>
              </a:rPr>
              <a:t> 97.8%</a:t>
            </a:r>
            <a:r>
              <a:rPr lang="fr-FR" sz="2200" dirty="0">
                <a:latin typeface="+mj-lt"/>
              </a:rPr>
              <a:t> </a:t>
            </a:r>
          </a:p>
          <a:p>
            <a:pPr marL="0" indent="0">
              <a:buNone/>
            </a:pPr>
            <a:endParaRPr lang="fr-FR" sz="2200" b="1" dirty="0">
              <a:latin typeface="+mj-lt"/>
            </a:endParaRPr>
          </a:p>
          <a:p>
            <a:pPr marL="0" indent="0">
              <a:buNone/>
            </a:pPr>
            <a:r>
              <a:rPr lang="fr-FR" sz="2200" dirty="0">
                <a:latin typeface="+mj-lt"/>
              </a:rPr>
              <a:t>4 </a:t>
            </a:r>
            <a:r>
              <a:rPr lang="fr-FR" sz="2200" dirty="0" err="1">
                <a:latin typeface="+mj-lt"/>
              </a:rPr>
              <a:t>errors</a:t>
            </a:r>
            <a:r>
              <a:rPr lang="fr-FR" sz="2200" dirty="0">
                <a:latin typeface="+mj-lt"/>
              </a:rPr>
              <a:t> are </a:t>
            </a:r>
            <a:r>
              <a:rPr lang="fr-FR" sz="2200" dirty="0" err="1">
                <a:latin typeface="+mj-lt"/>
              </a:rPr>
              <a:t>from</a:t>
            </a:r>
            <a:r>
              <a:rPr lang="fr-FR" sz="2200" dirty="0">
                <a:latin typeface="+mj-lt"/>
              </a:rPr>
              <a:t> the corpus of </a:t>
            </a:r>
            <a:r>
              <a:rPr lang="fr-FR" sz="2200" dirty="0" err="1">
                <a:latin typeface="+mj-lt"/>
              </a:rPr>
              <a:t>Dream</a:t>
            </a:r>
            <a:r>
              <a:rPr lang="fr-FR" sz="2200" dirty="0">
                <a:latin typeface="+mj-lt"/>
              </a:rPr>
              <a:t> and </a:t>
            </a:r>
            <a:r>
              <a:rPr lang="fr-FR" sz="2200" dirty="0" err="1">
                <a:latin typeface="+mj-lt"/>
              </a:rPr>
              <a:t>Mind</a:t>
            </a:r>
            <a:r>
              <a:rPr lang="fr-FR" sz="2200" dirty="0">
                <a:latin typeface="+mj-lt"/>
              </a:rPr>
              <a:t> </a:t>
            </a:r>
            <a:r>
              <a:rPr lang="fr-FR" sz="2200" dirty="0" err="1">
                <a:latin typeface="+mj-lt"/>
              </a:rPr>
              <a:t>wandering</a:t>
            </a:r>
            <a:r>
              <a:rPr lang="fr-FR" sz="2200" dirty="0">
                <a:latin typeface="+mj-lt"/>
              </a:rPr>
              <a:t> reports (</a:t>
            </a:r>
            <a:r>
              <a:rPr lang="fr-FR" sz="2200" dirty="0" err="1">
                <a:latin typeface="+mj-lt"/>
              </a:rPr>
              <a:t>Kirberg</a:t>
            </a:r>
            <a:r>
              <a:rPr lang="fr-FR" sz="2200" dirty="0">
                <a:latin typeface="+mj-lt"/>
              </a:rPr>
              <a:t> 2026) : </a:t>
            </a:r>
            <a:r>
              <a:rPr lang="fr-FR" sz="2200" b="1" dirty="0">
                <a:latin typeface="+mj-lt"/>
              </a:rPr>
              <a:t>71/75 = 94.7%</a:t>
            </a:r>
            <a:endParaRPr lang="en-US" sz="2200" dirty="0">
              <a:latin typeface="+mj-lt"/>
            </a:endParaRPr>
          </a:p>
          <a:p>
            <a:pPr marL="0" indent="0">
              <a:buNone/>
            </a:pPr>
            <a:endParaRPr lang="en-US" sz="2200" dirty="0">
              <a:latin typeface="+mj-lt"/>
            </a:endParaRPr>
          </a:p>
          <a:p>
            <a:pPr marL="0" indent="0">
              <a:buNone/>
            </a:pPr>
            <a:r>
              <a:rPr lang="en-US" sz="2200" dirty="0">
                <a:latin typeface="+mj-lt"/>
              </a:rPr>
              <a:t>4 false negative : Realistic dreams scored as wakefulness – low confidence and ambiguous zone </a:t>
            </a:r>
          </a:p>
          <a:p>
            <a:pPr marL="0" indent="0">
              <a:buNone/>
            </a:pP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p:txBody>
      </p:sp>
      <p:sp>
        <p:nvSpPr>
          <p:cNvPr id="6" name="Titre 1">
            <a:extLst>
              <a:ext uri="{FF2B5EF4-FFF2-40B4-BE49-F238E27FC236}">
                <a16:creationId xmlns:a16="http://schemas.microsoft.com/office/drawing/2014/main" id="{EB5A52A0-0D4B-EBE5-1BE1-84CC0D435070}"/>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Performance</a:t>
            </a:r>
          </a:p>
        </p:txBody>
      </p:sp>
    </p:spTree>
    <p:extLst>
      <p:ext uri="{BB962C8B-B14F-4D97-AF65-F5344CB8AC3E}">
        <p14:creationId xmlns:p14="http://schemas.microsoft.com/office/powerpoint/2010/main" val="1612614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B4A49-4B75-F31A-8423-8B768F1D1E7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DE397F6-C35F-6178-24AA-DFB5F395C7BF}"/>
              </a:ext>
            </a:extLst>
          </p:cNvPr>
          <p:cNvSpPr>
            <a:spLocks noGrp="1"/>
          </p:cNvSpPr>
          <p:nvPr>
            <p:ph idx="1"/>
          </p:nvPr>
        </p:nvSpPr>
        <p:spPr>
          <a:xfrm>
            <a:off x="710381" y="953729"/>
            <a:ext cx="10193594" cy="5663380"/>
          </a:xfrm>
        </p:spPr>
        <p:txBody>
          <a:bodyPr>
            <a:noAutofit/>
          </a:bodyPr>
          <a:lstStyle/>
          <a:p>
            <a:pPr marL="0" indent="0">
              <a:buNone/>
            </a:pPr>
            <a:endParaRPr lang="fr-FR" sz="1800" dirty="0">
              <a:solidFill>
                <a:srgbClr val="FF0000"/>
              </a:solidFill>
            </a:endParaRPr>
          </a:p>
          <a:p>
            <a:pPr marL="0" indent="0">
              <a:buNone/>
            </a:pPr>
            <a:endParaRPr lang="en-US" sz="1800" dirty="0">
              <a:solidFill>
                <a:srgbClr val="FF0000"/>
              </a:solidFill>
            </a:endParaRPr>
          </a:p>
        </p:txBody>
      </p:sp>
      <p:sp>
        <p:nvSpPr>
          <p:cNvPr id="6" name="Titre 1">
            <a:extLst>
              <a:ext uri="{FF2B5EF4-FFF2-40B4-BE49-F238E27FC236}">
                <a16:creationId xmlns:a16="http://schemas.microsoft.com/office/drawing/2014/main" id="{4A21A474-3F8C-32A1-A3F9-FC01A281466A}"/>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The ambiguous zone</a:t>
            </a:r>
          </a:p>
        </p:txBody>
      </p:sp>
      <p:pic>
        <p:nvPicPr>
          <p:cNvPr id="4" name="Image 3">
            <a:extLst>
              <a:ext uri="{FF2B5EF4-FFF2-40B4-BE49-F238E27FC236}">
                <a16:creationId xmlns:a16="http://schemas.microsoft.com/office/drawing/2014/main" id="{414EC128-F96D-8032-B3F5-15329D4659B1}"/>
              </a:ext>
            </a:extLst>
          </p:cNvPr>
          <p:cNvPicPr>
            <a:picLocks noChangeAspect="1"/>
          </p:cNvPicPr>
          <p:nvPr/>
        </p:nvPicPr>
        <p:blipFill>
          <a:blip r:embed="rId2"/>
          <a:stretch>
            <a:fillRect/>
          </a:stretch>
        </p:blipFill>
        <p:spPr>
          <a:xfrm>
            <a:off x="2307068" y="1459420"/>
            <a:ext cx="7577864" cy="3545869"/>
          </a:xfrm>
          <a:prstGeom prst="rect">
            <a:avLst/>
          </a:prstGeom>
        </p:spPr>
      </p:pic>
      <p:sp>
        <p:nvSpPr>
          <p:cNvPr id="7" name="ZoneTexte 6">
            <a:extLst>
              <a:ext uri="{FF2B5EF4-FFF2-40B4-BE49-F238E27FC236}">
                <a16:creationId xmlns:a16="http://schemas.microsoft.com/office/drawing/2014/main" id="{EDAB7DE7-0832-5D0A-7E0E-4169B1ED97EC}"/>
              </a:ext>
            </a:extLst>
          </p:cNvPr>
          <p:cNvSpPr txBox="1"/>
          <p:nvPr/>
        </p:nvSpPr>
        <p:spPr>
          <a:xfrm>
            <a:off x="3482463" y="5595755"/>
            <a:ext cx="4649429" cy="430887"/>
          </a:xfrm>
          <a:prstGeom prst="rect">
            <a:avLst/>
          </a:prstGeom>
          <a:noFill/>
        </p:spPr>
        <p:txBody>
          <a:bodyPr wrap="square">
            <a:spAutoFit/>
          </a:bodyPr>
          <a:lstStyle/>
          <a:p>
            <a:pPr marL="0" indent="0">
              <a:buNone/>
            </a:pPr>
            <a:r>
              <a:rPr lang="en-US" sz="2200" b="1" dirty="0">
                <a:latin typeface="+mj-lt"/>
                <a:sym typeface="Wingdings" panose="05000000000000000000" pitchFamily="2" charset="2"/>
              </a:rPr>
              <a:t>100% Accuracy</a:t>
            </a:r>
            <a:r>
              <a:rPr lang="en-US" sz="2200" dirty="0">
                <a:latin typeface="+mj-lt"/>
                <a:sym typeface="Wingdings" panose="05000000000000000000" pitchFamily="2" charset="2"/>
              </a:rPr>
              <a:t> for </a:t>
            </a:r>
            <a:r>
              <a:rPr lang="en-US" sz="2200" b="1" dirty="0">
                <a:latin typeface="+mj-lt"/>
                <a:sym typeface="Wingdings" panose="05000000000000000000" pitchFamily="2" charset="2"/>
              </a:rPr>
              <a:t>NDS</a:t>
            </a:r>
            <a:r>
              <a:rPr lang="en-US" sz="2200" dirty="0">
                <a:latin typeface="+mj-lt"/>
                <a:sym typeface="Wingdings" panose="05000000000000000000" pitchFamily="2" charset="2"/>
              </a:rPr>
              <a:t> &lt; -3 and &gt; +3</a:t>
            </a:r>
          </a:p>
        </p:txBody>
      </p:sp>
    </p:spTree>
    <p:extLst>
      <p:ext uri="{BB962C8B-B14F-4D97-AF65-F5344CB8AC3E}">
        <p14:creationId xmlns:p14="http://schemas.microsoft.com/office/powerpoint/2010/main" val="1724626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FA045-8348-00EA-040B-0E703E03E67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BC9FE89-4862-6E64-5949-7FFB64050E95}"/>
              </a:ext>
            </a:extLst>
          </p:cNvPr>
          <p:cNvSpPr>
            <a:spLocks noGrp="1"/>
          </p:cNvSpPr>
          <p:nvPr>
            <p:ph idx="1"/>
          </p:nvPr>
        </p:nvSpPr>
        <p:spPr>
          <a:xfrm>
            <a:off x="710381" y="806245"/>
            <a:ext cx="10193594" cy="5663380"/>
          </a:xfrm>
        </p:spPr>
        <p:txBody>
          <a:bodyPr>
            <a:noAutofit/>
          </a:bodyPr>
          <a:lstStyle/>
          <a:p>
            <a:pPr marL="0" indent="0">
              <a:buNone/>
            </a:pPr>
            <a:endParaRPr lang="fr-FR" sz="1800" dirty="0">
              <a:solidFill>
                <a:srgbClr val="FF0000"/>
              </a:solidFill>
              <a:latin typeface="+mj-lt"/>
            </a:endParaRPr>
          </a:p>
          <a:p>
            <a:pPr marL="0" indent="0">
              <a:buNone/>
            </a:pPr>
            <a:endParaRPr lang="fr-FR" sz="1800" dirty="0">
              <a:solidFill>
                <a:srgbClr val="FF0000"/>
              </a:solidFill>
              <a:latin typeface="+mj-lt"/>
            </a:endParaRPr>
          </a:p>
          <a:p>
            <a:pPr marL="0" indent="0">
              <a:buNone/>
            </a:pPr>
            <a:endParaRPr lang="fr-FR" sz="1800" dirty="0">
              <a:solidFill>
                <a:srgbClr val="FF0000"/>
              </a:solidFill>
              <a:latin typeface="+mj-lt"/>
            </a:endParaRPr>
          </a:p>
          <a:p>
            <a:pPr marL="0" indent="0">
              <a:buNone/>
            </a:pPr>
            <a:endParaRPr lang="fr-FR" sz="1800" dirty="0">
              <a:solidFill>
                <a:srgbClr val="FF0000"/>
              </a:solidFill>
              <a:latin typeface="+mj-lt"/>
            </a:endParaRPr>
          </a:p>
          <a:p>
            <a:pPr marL="0" indent="0">
              <a:buNone/>
            </a:pPr>
            <a:r>
              <a:rPr lang="en-US" sz="2200" dirty="0">
                <a:latin typeface="+mj-lt"/>
              </a:rPr>
              <a:t>Performance measures of the GLME model for the </a:t>
            </a:r>
            <a:r>
              <a:rPr lang="en-US" sz="2200" b="1" dirty="0">
                <a:latin typeface="+mj-lt"/>
              </a:rPr>
              <a:t>prediction of lexical domains across vigilance states</a:t>
            </a:r>
            <a:r>
              <a:rPr lang="en-US" sz="2200" dirty="0">
                <a:latin typeface="+mj-lt"/>
              </a:rPr>
              <a:t> </a:t>
            </a:r>
            <a:r>
              <a:rPr lang="en-US" sz="2200" dirty="0">
                <a:latin typeface="+mj-lt"/>
                <a:sym typeface="Wingdings" panose="05000000000000000000" pitchFamily="2" charset="2"/>
              </a:rPr>
              <a:t> 32 Lexical domain with Cohen’s d. </a:t>
            </a:r>
            <a:r>
              <a:rPr lang="en-US" sz="2200" i="1" dirty="0">
                <a:latin typeface="+mj-lt"/>
                <a:sym typeface="Wingdings" panose="05000000000000000000" pitchFamily="2" charset="2"/>
              </a:rPr>
              <a:t>(table S4, Elche 2025)</a:t>
            </a:r>
          </a:p>
          <a:p>
            <a:pPr marL="0" indent="0">
              <a:buNone/>
            </a:pPr>
            <a:endParaRPr lang="en-US" sz="2200" i="1" dirty="0">
              <a:solidFill>
                <a:srgbClr val="FF0000"/>
              </a:solidFill>
              <a:latin typeface="+mj-lt"/>
              <a:sym typeface="Wingdings" panose="05000000000000000000" pitchFamily="2" charset="2"/>
            </a:endParaRPr>
          </a:p>
          <a:p>
            <a:pPr marL="0" indent="0">
              <a:buNone/>
            </a:pPr>
            <a:r>
              <a:rPr lang="en-US" sz="2200" b="1" dirty="0">
                <a:latin typeface="+mj-lt"/>
                <a:sym typeface="Wingdings" panose="05000000000000000000" pitchFamily="2" charset="2"/>
              </a:rPr>
              <a:t>Statistical association between lexical domain and vigilance states </a:t>
            </a:r>
          </a:p>
          <a:p>
            <a:pPr marL="0" indent="0">
              <a:buNone/>
            </a:pPr>
            <a:endParaRPr lang="en-US" sz="1800" dirty="0">
              <a:latin typeface="+mj-lt"/>
              <a:sym typeface="Wingdings" panose="05000000000000000000" pitchFamily="2" charset="2"/>
            </a:endParaRPr>
          </a:p>
          <a:p>
            <a:pPr marL="0" indent="0">
              <a:buNone/>
            </a:pPr>
            <a:endParaRPr lang="en-US" sz="1800" dirty="0">
              <a:latin typeface="+mj-lt"/>
            </a:endParaRPr>
          </a:p>
        </p:txBody>
      </p:sp>
      <p:sp>
        <p:nvSpPr>
          <p:cNvPr id="6" name="Titre 1">
            <a:extLst>
              <a:ext uri="{FF2B5EF4-FFF2-40B4-BE49-F238E27FC236}">
                <a16:creationId xmlns:a16="http://schemas.microsoft.com/office/drawing/2014/main" id="{C9C97FB1-367B-0DCD-C5C6-C38F0AAC1B06}"/>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Lexical Adjustment</a:t>
            </a:r>
          </a:p>
        </p:txBody>
      </p:sp>
    </p:spTree>
    <p:extLst>
      <p:ext uri="{BB962C8B-B14F-4D97-AF65-F5344CB8AC3E}">
        <p14:creationId xmlns:p14="http://schemas.microsoft.com/office/powerpoint/2010/main" val="2722751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01766-5823-3273-397D-FC22C5CCA58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6FF4E58-7E8D-8A56-C59B-DB1503328A15}"/>
              </a:ext>
            </a:extLst>
          </p:cNvPr>
          <p:cNvSpPr>
            <a:spLocks noGrp="1"/>
          </p:cNvSpPr>
          <p:nvPr>
            <p:ph idx="1"/>
          </p:nvPr>
        </p:nvSpPr>
        <p:spPr>
          <a:xfrm>
            <a:off x="710381" y="806245"/>
            <a:ext cx="10193594" cy="5663380"/>
          </a:xfrm>
        </p:spPr>
        <p:txBody>
          <a:bodyPr>
            <a:noAutofit/>
          </a:bodyPr>
          <a:lstStyle/>
          <a:p>
            <a:pPr marL="0" indent="0">
              <a:buNone/>
            </a:pPr>
            <a:endParaRPr lang="fr-FR" sz="1800" dirty="0">
              <a:solidFill>
                <a:srgbClr val="FF0000"/>
              </a:solidFill>
              <a:latin typeface="+mj-lt"/>
            </a:endParaRPr>
          </a:p>
          <a:p>
            <a:pPr marL="0" indent="0">
              <a:buNone/>
            </a:pPr>
            <a:r>
              <a:rPr lang="en-US" sz="2200" dirty="0">
                <a:latin typeface="+mj-lt"/>
              </a:rPr>
              <a:t>Performance measures of the GLME model for the </a:t>
            </a:r>
            <a:r>
              <a:rPr lang="en-US" sz="2200" b="1" dirty="0">
                <a:latin typeface="+mj-lt"/>
              </a:rPr>
              <a:t>prediction of lexical domains across vigilance states</a:t>
            </a:r>
            <a:r>
              <a:rPr lang="en-US" sz="2200" dirty="0">
                <a:latin typeface="+mj-lt"/>
              </a:rPr>
              <a:t> </a:t>
            </a:r>
            <a:r>
              <a:rPr lang="en-US" sz="2200" dirty="0">
                <a:latin typeface="+mj-lt"/>
                <a:sym typeface="Wingdings" panose="05000000000000000000" pitchFamily="2" charset="2"/>
              </a:rPr>
              <a:t> 32 Lexical domain with Cohen’s d. </a:t>
            </a:r>
            <a:r>
              <a:rPr lang="en-US" sz="2200" i="1" dirty="0">
                <a:latin typeface="+mj-lt"/>
                <a:sym typeface="Wingdings" panose="05000000000000000000" pitchFamily="2" charset="2"/>
              </a:rPr>
              <a:t>(table S4, Elche 2025)</a:t>
            </a:r>
          </a:p>
          <a:p>
            <a:pPr marL="0" indent="0">
              <a:buNone/>
            </a:pPr>
            <a:endParaRPr lang="en-US" sz="2200" i="1" dirty="0">
              <a:solidFill>
                <a:srgbClr val="FF0000"/>
              </a:solidFill>
              <a:latin typeface="+mj-lt"/>
              <a:sym typeface="Wingdings" panose="05000000000000000000" pitchFamily="2" charset="2"/>
            </a:endParaRPr>
          </a:p>
          <a:p>
            <a:pPr marL="0" indent="0">
              <a:buNone/>
            </a:pPr>
            <a:r>
              <a:rPr lang="en-US" sz="2200" b="1" dirty="0">
                <a:latin typeface="+mj-lt"/>
                <a:sym typeface="Wingdings" panose="05000000000000000000" pitchFamily="2" charset="2"/>
              </a:rPr>
              <a:t>Statistical association between lexical domain and vigilance states </a:t>
            </a:r>
          </a:p>
          <a:p>
            <a:pPr marL="0" indent="0">
              <a:buNone/>
            </a:pPr>
            <a:endParaRPr lang="en-US" sz="2200" dirty="0">
              <a:latin typeface="+mj-lt"/>
              <a:sym typeface="Wingdings" panose="05000000000000000000" pitchFamily="2" charset="2"/>
            </a:endParaRPr>
          </a:p>
          <a:p>
            <a:pPr marL="0" indent="0">
              <a:buNone/>
            </a:pPr>
            <a:r>
              <a:rPr lang="en-US" sz="2200" dirty="0">
                <a:latin typeface="+mj-lt"/>
                <a:sym typeface="Wingdings" panose="05000000000000000000" pitchFamily="2" charset="2"/>
              </a:rPr>
              <a:t>18 Lexical domain used (statistical significance)</a:t>
            </a:r>
          </a:p>
          <a:p>
            <a:pPr marL="0" indent="0">
              <a:buNone/>
            </a:pPr>
            <a:r>
              <a:rPr lang="en-US" sz="2200" dirty="0">
                <a:latin typeface="+mj-lt"/>
                <a:sym typeface="Wingdings" panose="05000000000000000000" pitchFamily="2" charset="2"/>
              </a:rPr>
              <a:t> </a:t>
            </a:r>
            <a:r>
              <a:rPr lang="fr-FR" sz="2200" b="1" dirty="0">
                <a:latin typeface="+mj-lt"/>
              </a:rPr>
              <a:t>Domaines </a:t>
            </a:r>
            <a:r>
              <a:rPr lang="fr-FR" sz="2200" b="1" dirty="0" err="1">
                <a:latin typeface="+mj-lt"/>
              </a:rPr>
              <a:t>dream-favoring</a:t>
            </a:r>
            <a:r>
              <a:rPr lang="fr-FR" sz="2200" b="1" dirty="0">
                <a:latin typeface="+mj-lt"/>
              </a:rPr>
              <a:t> (exemples) :</a:t>
            </a:r>
            <a:endParaRPr lang="fr-FR" sz="2200" dirty="0">
              <a:latin typeface="+mj-lt"/>
            </a:endParaRPr>
          </a:p>
          <a:p>
            <a:pPr marL="0" indent="0">
              <a:buNone/>
            </a:pPr>
            <a:r>
              <a:rPr lang="fr-FR" sz="2200" dirty="0">
                <a:latin typeface="+mj-lt"/>
              </a:rPr>
              <a:t>APPEARANCE (+0.30), ARCHITECTURE/GEOMETRY (+0.25), ANIMALS (+0.25), LOCATIONS (+0.20), THRILLER (+0.20)</a:t>
            </a:r>
          </a:p>
          <a:p>
            <a:pPr marL="0" indent="0">
              <a:buNone/>
            </a:pPr>
            <a:r>
              <a:rPr lang="fr-FR" sz="2200" b="1" dirty="0">
                <a:latin typeface="+mj-lt"/>
              </a:rPr>
              <a:t>Domaines </a:t>
            </a:r>
            <a:r>
              <a:rPr lang="fr-FR" sz="2200" b="1" dirty="0" err="1">
                <a:latin typeface="+mj-lt"/>
              </a:rPr>
              <a:t>wakefulness-favoring</a:t>
            </a:r>
            <a:r>
              <a:rPr lang="fr-FR" sz="2200" b="1" dirty="0">
                <a:latin typeface="+mj-lt"/>
              </a:rPr>
              <a:t> (exemples) :</a:t>
            </a:r>
            <a:endParaRPr lang="fr-FR" sz="2200" dirty="0">
              <a:latin typeface="+mj-lt"/>
            </a:endParaRPr>
          </a:p>
          <a:p>
            <a:pPr marL="0" indent="0">
              <a:buNone/>
            </a:pPr>
            <a:r>
              <a:rPr lang="fr-FR" sz="2200" dirty="0">
                <a:latin typeface="+mj-lt"/>
              </a:rPr>
              <a:t>TIMING (−0.40), HUMANITIES (−0.25), HEALTHCARE (−0.25), TECHNOLOGY (−0.20)</a:t>
            </a:r>
          </a:p>
          <a:p>
            <a:pPr marL="0" indent="0">
              <a:buNone/>
            </a:pPr>
            <a:endParaRPr lang="fr-FR" sz="2200" dirty="0">
              <a:latin typeface="+mj-lt"/>
            </a:endParaRPr>
          </a:p>
          <a:p>
            <a:pPr marL="0" indent="0">
              <a:buNone/>
            </a:pPr>
            <a:r>
              <a:rPr lang="fr-FR" sz="2200" dirty="0" err="1">
                <a:latin typeface="+mj-lt"/>
              </a:rPr>
              <a:t>Allow</a:t>
            </a:r>
            <a:r>
              <a:rPr lang="fr-FR" sz="2200" dirty="0">
                <a:latin typeface="+mj-lt"/>
              </a:rPr>
              <a:t> a </a:t>
            </a:r>
            <a:r>
              <a:rPr lang="fr-FR" sz="2200" b="1" dirty="0" err="1">
                <a:latin typeface="+mj-lt"/>
              </a:rPr>
              <a:t>better</a:t>
            </a:r>
            <a:r>
              <a:rPr lang="fr-FR" sz="2200" b="1" dirty="0">
                <a:latin typeface="+mj-lt"/>
              </a:rPr>
              <a:t> </a:t>
            </a:r>
            <a:r>
              <a:rPr lang="fr-FR" sz="2200" b="1" dirty="0" err="1">
                <a:latin typeface="+mj-lt"/>
              </a:rPr>
              <a:t>judgement</a:t>
            </a:r>
            <a:r>
              <a:rPr lang="fr-FR" sz="2200" b="1" dirty="0">
                <a:latin typeface="+mj-lt"/>
              </a:rPr>
              <a:t> </a:t>
            </a:r>
            <a:r>
              <a:rPr lang="fr-FR" sz="2200" dirty="0">
                <a:latin typeface="+mj-lt"/>
              </a:rPr>
              <a:t>in </a:t>
            </a:r>
            <a:r>
              <a:rPr lang="fr-FR" sz="2200" b="1" dirty="0" err="1">
                <a:latin typeface="+mj-lt"/>
              </a:rPr>
              <a:t>ambiguous</a:t>
            </a:r>
            <a:r>
              <a:rPr lang="fr-FR" sz="2200" dirty="0">
                <a:latin typeface="+mj-lt"/>
              </a:rPr>
              <a:t> zone  </a:t>
            </a:r>
          </a:p>
          <a:p>
            <a:pPr marL="0" indent="0">
              <a:buNone/>
            </a:pPr>
            <a:endParaRPr lang="en-US" sz="1800" dirty="0">
              <a:latin typeface="+mj-lt"/>
              <a:sym typeface="Wingdings" panose="05000000000000000000" pitchFamily="2" charset="2"/>
            </a:endParaRPr>
          </a:p>
          <a:p>
            <a:pPr marL="0" indent="0">
              <a:buNone/>
            </a:pPr>
            <a:endParaRPr lang="en-US" sz="1800" dirty="0">
              <a:latin typeface="+mj-lt"/>
            </a:endParaRPr>
          </a:p>
        </p:txBody>
      </p:sp>
      <p:sp>
        <p:nvSpPr>
          <p:cNvPr id="6" name="Titre 1">
            <a:extLst>
              <a:ext uri="{FF2B5EF4-FFF2-40B4-BE49-F238E27FC236}">
                <a16:creationId xmlns:a16="http://schemas.microsoft.com/office/drawing/2014/main" id="{D045F0FE-0CB7-03E2-A867-3C102459121D}"/>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Lexical Adjustment</a:t>
            </a:r>
          </a:p>
        </p:txBody>
      </p:sp>
    </p:spTree>
    <p:extLst>
      <p:ext uri="{BB962C8B-B14F-4D97-AF65-F5344CB8AC3E}">
        <p14:creationId xmlns:p14="http://schemas.microsoft.com/office/powerpoint/2010/main" val="1921421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792D-2014-B89E-3298-C6ECBF785AF1}"/>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0C489EFC-0922-9825-D710-BC1FFBF52962}"/>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Structural Overrides</a:t>
            </a:r>
          </a:p>
        </p:txBody>
      </p:sp>
      <p:pic>
        <p:nvPicPr>
          <p:cNvPr id="8" name="Image 7">
            <a:extLst>
              <a:ext uri="{FF2B5EF4-FFF2-40B4-BE49-F238E27FC236}">
                <a16:creationId xmlns:a16="http://schemas.microsoft.com/office/drawing/2014/main" id="{685AEAE6-A456-3883-0D23-20082C21C470}"/>
              </a:ext>
            </a:extLst>
          </p:cNvPr>
          <p:cNvPicPr>
            <a:picLocks noChangeAspect="1"/>
          </p:cNvPicPr>
          <p:nvPr/>
        </p:nvPicPr>
        <p:blipFill>
          <a:blip r:embed="rId2"/>
          <a:stretch>
            <a:fillRect/>
          </a:stretch>
        </p:blipFill>
        <p:spPr>
          <a:xfrm>
            <a:off x="5604387" y="1762576"/>
            <a:ext cx="6240920" cy="3332847"/>
          </a:xfrm>
          <a:prstGeom prst="rect">
            <a:avLst/>
          </a:prstGeom>
        </p:spPr>
      </p:pic>
      <p:sp>
        <p:nvSpPr>
          <p:cNvPr id="12" name="Espace réservé du contenu 2">
            <a:extLst>
              <a:ext uri="{FF2B5EF4-FFF2-40B4-BE49-F238E27FC236}">
                <a16:creationId xmlns:a16="http://schemas.microsoft.com/office/drawing/2014/main" id="{1D42A785-4482-C15A-CADF-52F7ACD8E6E8}"/>
              </a:ext>
            </a:extLst>
          </p:cNvPr>
          <p:cNvSpPr>
            <a:spLocks noGrp="1"/>
          </p:cNvSpPr>
          <p:nvPr>
            <p:ph idx="1"/>
          </p:nvPr>
        </p:nvSpPr>
        <p:spPr>
          <a:xfrm>
            <a:off x="572729" y="1194620"/>
            <a:ext cx="4638367" cy="5663380"/>
          </a:xfrm>
        </p:spPr>
        <p:txBody>
          <a:bodyPr>
            <a:noAutofit/>
          </a:bodyPr>
          <a:lstStyle/>
          <a:p>
            <a:pPr marL="0" indent="0">
              <a:buNone/>
            </a:pPr>
            <a:endParaRPr lang="fr-FR" sz="2200" dirty="0">
              <a:solidFill>
                <a:srgbClr val="FF0000"/>
              </a:solidFill>
              <a:latin typeface="+mj-lt"/>
            </a:endParaRPr>
          </a:p>
          <a:p>
            <a:pPr marL="0" indent="0">
              <a:buNone/>
            </a:pPr>
            <a:r>
              <a:rPr lang="en-US" sz="2200" b="1" dirty="0">
                <a:latin typeface="+mj-lt"/>
              </a:rPr>
              <a:t>Overrides</a:t>
            </a:r>
            <a:r>
              <a:rPr lang="en-US" sz="2200" dirty="0">
                <a:latin typeface="+mj-lt"/>
              </a:rPr>
              <a:t> : discrete, binary rules designed to capture </a:t>
            </a:r>
            <a:r>
              <a:rPr lang="en-US" sz="2200" b="1" dirty="0">
                <a:latin typeface="+mj-lt"/>
              </a:rPr>
              <a:t>dream </a:t>
            </a:r>
            <a:r>
              <a:rPr lang="en-US" sz="2200" dirty="0">
                <a:latin typeface="+mj-lt"/>
              </a:rPr>
              <a:t>and</a:t>
            </a:r>
            <a:r>
              <a:rPr lang="en-US" sz="2200" b="1" dirty="0">
                <a:latin typeface="+mj-lt"/>
              </a:rPr>
              <a:t> wakefulness features </a:t>
            </a:r>
            <a:r>
              <a:rPr lang="en-US" sz="2200" dirty="0">
                <a:latin typeface="+mj-lt"/>
              </a:rPr>
              <a:t>that are immediately diagnostic to a human scorer.</a:t>
            </a:r>
          </a:p>
          <a:p>
            <a:pPr marL="0" indent="0">
              <a:buNone/>
            </a:pPr>
            <a:r>
              <a:rPr lang="en-US" sz="2200" dirty="0">
                <a:latin typeface="+mj-lt"/>
              </a:rPr>
              <a:t>Can overpass NDS ambiguous zone.</a:t>
            </a:r>
          </a:p>
          <a:p>
            <a:pPr marL="0" indent="0">
              <a:buNone/>
            </a:pPr>
            <a:endParaRPr lang="en-US" sz="2200" dirty="0">
              <a:latin typeface="+mj-lt"/>
            </a:endParaRPr>
          </a:p>
          <a:p>
            <a:pPr marL="0" indent="0">
              <a:buNone/>
            </a:pPr>
            <a:r>
              <a:rPr lang="en-US" sz="2200" dirty="0">
                <a:latin typeface="+mj-lt"/>
              </a:rPr>
              <a:t>8 Overrides in dreams – 1 is enough to assess dream </a:t>
            </a:r>
          </a:p>
          <a:p>
            <a:pPr marL="0" indent="0">
              <a:buNone/>
            </a:pPr>
            <a:endParaRPr lang="en-US" sz="2200" dirty="0">
              <a:latin typeface="+mj-lt"/>
            </a:endParaRPr>
          </a:p>
          <a:p>
            <a:pPr marL="0" indent="0">
              <a:buNone/>
            </a:pPr>
            <a:r>
              <a:rPr lang="en-US" sz="2200" dirty="0">
                <a:latin typeface="+mj-lt"/>
              </a:rPr>
              <a:t>4 Overrides in wakefulness – 4 need to be present to assess wakefulness</a:t>
            </a:r>
          </a:p>
          <a:p>
            <a:pPr marL="0" indent="0">
              <a:buNone/>
            </a:pP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p:txBody>
      </p:sp>
    </p:spTree>
    <p:extLst>
      <p:ext uri="{BB962C8B-B14F-4D97-AF65-F5344CB8AC3E}">
        <p14:creationId xmlns:p14="http://schemas.microsoft.com/office/powerpoint/2010/main" val="1619997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3F413-F300-72A5-14F4-FBE165C8025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D654364-BD1D-2DFF-0394-2BAE1CC0788D}"/>
              </a:ext>
            </a:extLst>
          </p:cNvPr>
          <p:cNvSpPr>
            <a:spLocks noGrp="1"/>
          </p:cNvSpPr>
          <p:nvPr>
            <p:ph idx="1"/>
          </p:nvPr>
        </p:nvSpPr>
        <p:spPr>
          <a:xfrm>
            <a:off x="572729" y="1194620"/>
            <a:ext cx="4638367" cy="5663380"/>
          </a:xfrm>
        </p:spPr>
        <p:txBody>
          <a:bodyPr>
            <a:noAutofit/>
          </a:bodyPr>
          <a:lstStyle/>
          <a:p>
            <a:pPr marL="0" indent="0">
              <a:buNone/>
            </a:pPr>
            <a:endParaRPr lang="fr-FR" sz="2200" dirty="0">
              <a:solidFill>
                <a:srgbClr val="FF0000"/>
              </a:solidFill>
              <a:latin typeface="+mj-lt"/>
            </a:endParaRPr>
          </a:p>
          <a:p>
            <a:pPr marL="0" indent="0">
              <a:buNone/>
            </a:pPr>
            <a:r>
              <a:rPr lang="en-US" sz="2200" b="1" dirty="0">
                <a:latin typeface="+mj-lt"/>
              </a:rPr>
              <a:t>Overrides</a:t>
            </a:r>
            <a:r>
              <a:rPr lang="en-US" sz="2200" dirty="0">
                <a:latin typeface="+mj-lt"/>
              </a:rPr>
              <a:t> : discrete, binary rules designed to capture </a:t>
            </a:r>
            <a:r>
              <a:rPr lang="en-US" sz="2200" b="1" dirty="0">
                <a:latin typeface="+mj-lt"/>
              </a:rPr>
              <a:t>dream </a:t>
            </a:r>
            <a:r>
              <a:rPr lang="en-US" sz="2200" dirty="0">
                <a:latin typeface="+mj-lt"/>
              </a:rPr>
              <a:t>and</a:t>
            </a:r>
            <a:r>
              <a:rPr lang="en-US" sz="2200" b="1" dirty="0">
                <a:latin typeface="+mj-lt"/>
              </a:rPr>
              <a:t> wakefulness features </a:t>
            </a:r>
            <a:r>
              <a:rPr lang="en-US" sz="2200" dirty="0">
                <a:latin typeface="+mj-lt"/>
              </a:rPr>
              <a:t>that are immediately diagnostic to a human scorer.</a:t>
            </a:r>
          </a:p>
          <a:p>
            <a:pPr marL="0" indent="0">
              <a:buNone/>
            </a:pPr>
            <a:r>
              <a:rPr lang="en-US" sz="2200" dirty="0">
                <a:latin typeface="+mj-lt"/>
              </a:rPr>
              <a:t>Can overpass NDS ambiguous zone.</a:t>
            </a:r>
          </a:p>
          <a:p>
            <a:pPr marL="0" indent="0">
              <a:buNone/>
            </a:pPr>
            <a:endParaRPr lang="en-US" sz="2200" dirty="0">
              <a:latin typeface="+mj-lt"/>
            </a:endParaRPr>
          </a:p>
          <a:p>
            <a:pPr marL="0" indent="0">
              <a:buNone/>
            </a:pPr>
            <a:r>
              <a:rPr lang="en-US" sz="2200" dirty="0">
                <a:latin typeface="+mj-lt"/>
              </a:rPr>
              <a:t>8 Overrides in dreams – 1 is enough to assess dream </a:t>
            </a:r>
          </a:p>
          <a:p>
            <a:pPr marL="0" indent="0">
              <a:buNone/>
            </a:pPr>
            <a:endParaRPr lang="en-US" sz="2200" dirty="0">
              <a:latin typeface="+mj-lt"/>
            </a:endParaRPr>
          </a:p>
          <a:p>
            <a:pPr marL="0" indent="0">
              <a:buNone/>
            </a:pPr>
            <a:r>
              <a:rPr lang="en-US" sz="2200" dirty="0">
                <a:latin typeface="+mj-lt"/>
              </a:rPr>
              <a:t>4 Overrides in wakefulness – 4 need to be present to assess wakefulness</a:t>
            </a:r>
          </a:p>
          <a:p>
            <a:pPr marL="0" indent="0">
              <a:buNone/>
            </a:pP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p:txBody>
      </p:sp>
      <p:sp>
        <p:nvSpPr>
          <p:cNvPr id="6" name="Titre 1">
            <a:extLst>
              <a:ext uri="{FF2B5EF4-FFF2-40B4-BE49-F238E27FC236}">
                <a16:creationId xmlns:a16="http://schemas.microsoft.com/office/drawing/2014/main" id="{D080FA63-B8B6-8294-B7CF-2280F15D523F}"/>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Structural Overrides</a:t>
            </a:r>
          </a:p>
        </p:txBody>
      </p:sp>
      <p:sp>
        <p:nvSpPr>
          <p:cNvPr id="4" name="ZoneTexte 3">
            <a:extLst>
              <a:ext uri="{FF2B5EF4-FFF2-40B4-BE49-F238E27FC236}">
                <a16:creationId xmlns:a16="http://schemas.microsoft.com/office/drawing/2014/main" id="{D46A50B1-3090-B5A7-32AF-4CE7F42CF12B}"/>
              </a:ext>
            </a:extLst>
          </p:cNvPr>
          <p:cNvSpPr txBox="1"/>
          <p:nvPr/>
        </p:nvSpPr>
        <p:spPr>
          <a:xfrm>
            <a:off x="6096000" y="1900364"/>
            <a:ext cx="5820697" cy="3477875"/>
          </a:xfrm>
          <a:prstGeom prst="rect">
            <a:avLst/>
          </a:prstGeom>
          <a:noFill/>
        </p:spPr>
        <p:txBody>
          <a:bodyPr wrap="square">
            <a:spAutoFit/>
          </a:bodyPr>
          <a:lstStyle/>
          <a:p>
            <a:pPr>
              <a:buNone/>
            </a:pPr>
            <a:r>
              <a:rPr lang="fr-FR" sz="2200" dirty="0"/>
              <a:t>4 </a:t>
            </a:r>
            <a:r>
              <a:rPr lang="fr-FR" sz="2200" dirty="0" err="1"/>
              <a:t>overrides</a:t>
            </a:r>
            <a:r>
              <a:rPr lang="fr-FR" sz="2200" dirty="0"/>
              <a:t> → </a:t>
            </a:r>
            <a:r>
              <a:rPr lang="fr-FR" sz="2200" b="1" dirty="0"/>
              <a:t>WAKEFULNESS</a:t>
            </a:r>
            <a:r>
              <a:rPr lang="fr-FR" sz="2200" dirty="0"/>
              <a:t> ≥90 :</a:t>
            </a:r>
          </a:p>
          <a:p>
            <a:pPr>
              <a:buNone/>
            </a:pPr>
            <a:endParaRPr lang="fr-FR" sz="2200" dirty="0"/>
          </a:p>
          <a:p>
            <a:pPr>
              <a:buFont typeface="+mj-lt"/>
              <a:buAutoNum type="arabicPeriod"/>
            </a:pPr>
            <a:r>
              <a:rPr lang="fr-FR" sz="2200" dirty="0"/>
              <a:t>Explicit temporal </a:t>
            </a:r>
            <a:r>
              <a:rPr lang="fr-FR" sz="2200" dirty="0" err="1"/>
              <a:t>réference</a:t>
            </a:r>
            <a:endParaRPr lang="fr-FR" sz="2200" dirty="0"/>
          </a:p>
          <a:p>
            <a:pPr>
              <a:buFont typeface="+mj-lt"/>
              <a:buAutoNum type="arabicPeriod"/>
            </a:pPr>
            <a:endParaRPr lang="fr-FR" sz="2200" dirty="0"/>
          </a:p>
          <a:p>
            <a:pPr>
              <a:buFont typeface="+mj-lt"/>
              <a:buAutoNum type="arabicPeriod"/>
            </a:pPr>
            <a:r>
              <a:rPr lang="fr-FR" sz="2200" dirty="0"/>
              <a:t>Métacognitive process</a:t>
            </a:r>
          </a:p>
          <a:p>
            <a:pPr>
              <a:buFont typeface="+mj-lt"/>
              <a:buAutoNum type="arabicPeriod"/>
            </a:pPr>
            <a:endParaRPr lang="fr-FR" sz="2200" dirty="0"/>
          </a:p>
          <a:p>
            <a:pPr>
              <a:buFont typeface="+mj-lt"/>
              <a:buAutoNum type="arabicPeriod"/>
            </a:pPr>
            <a:r>
              <a:rPr lang="fr-FR" sz="2200" dirty="0" err="1"/>
              <a:t>Narrator</a:t>
            </a:r>
            <a:r>
              <a:rPr lang="fr-FR" sz="2200" dirty="0"/>
              <a:t> </a:t>
            </a:r>
            <a:r>
              <a:rPr lang="fr-FR" sz="2200" dirty="0" err="1"/>
              <a:t>is</a:t>
            </a:r>
            <a:r>
              <a:rPr lang="fr-FR" sz="2200" dirty="0"/>
              <a:t> </a:t>
            </a:r>
            <a:r>
              <a:rPr lang="fr-FR" sz="2200" dirty="0" err="1"/>
              <a:t>actively</a:t>
            </a:r>
            <a:r>
              <a:rPr lang="fr-FR" sz="2200" dirty="0"/>
              <a:t> </a:t>
            </a:r>
            <a:r>
              <a:rPr lang="fr-FR" sz="2200" dirty="0" err="1"/>
              <a:t>initiating</a:t>
            </a:r>
            <a:r>
              <a:rPr lang="fr-FR" sz="2200" dirty="0"/>
              <a:t> all key actions </a:t>
            </a:r>
            <a:r>
              <a:rPr lang="fr-FR" sz="2200" dirty="0" err="1"/>
              <a:t>deliberately</a:t>
            </a:r>
            <a:endParaRPr lang="fr-FR" sz="2200" dirty="0"/>
          </a:p>
          <a:p>
            <a:pPr>
              <a:buFont typeface="+mj-lt"/>
              <a:buAutoNum type="arabicPeriod"/>
            </a:pPr>
            <a:endParaRPr lang="fr-FR" sz="2200" dirty="0"/>
          </a:p>
          <a:p>
            <a:pPr>
              <a:buFont typeface="+mj-lt"/>
              <a:buAutoNum type="arabicPeriod"/>
            </a:pPr>
            <a:r>
              <a:rPr lang="fr-FR" sz="2200" dirty="0"/>
              <a:t>None bizarre or impossible </a:t>
            </a:r>
            <a:r>
              <a:rPr lang="fr-FR" sz="2200" dirty="0" err="1"/>
              <a:t>event</a:t>
            </a:r>
            <a:r>
              <a:rPr lang="fr-FR" sz="2200" dirty="0"/>
              <a:t> or </a:t>
            </a:r>
            <a:r>
              <a:rPr lang="fr-FR" sz="2200" dirty="0" err="1"/>
              <a:t>element</a:t>
            </a:r>
            <a:r>
              <a:rPr lang="fr-FR" sz="2200" dirty="0"/>
              <a:t> </a:t>
            </a:r>
          </a:p>
        </p:txBody>
      </p:sp>
    </p:spTree>
    <p:extLst>
      <p:ext uri="{BB962C8B-B14F-4D97-AF65-F5344CB8AC3E}">
        <p14:creationId xmlns:p14="http://schemas.microsoft.com/office/powerpoint/2010/main" val="805761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557B6-12AF-5EC3-82E5-7D158A0C8ED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4DBACDC-2961-50D6-C299-86A9958191D8}"/>
              </a:ext>
            </a:extLst>
          </p:cNvPr>
          <p:cNvSpPr>
            <a:spLocks noGrp="1"/>
          </p:cNvSpPr>
          <p:nvPr>
            <p:ph idx="1"/>
          </p:nvPr>
        </p:nvSpPr>
        <p:spPr>
          <a:xfrm>
            <a:off x="527255" y="597310"/>
            <a:ext cx="11137490" cy="5663380"/>
          </a:xfrm>
        </p:spPr>
        <p:txBody>
          <a:bodyPr>
            <a:noAutofit/>
          </a:bodyPr>
          <a:lstStyle/>
          <a:p>
            <a:pPr marL="0" indent="0">
              <a:buNone/>
            </a:pPr>
            <a:endParaRPr lang="en-US" sz="2200" b="1" dirty="0">
              <a:latin typeface="+mj-lt"/>
            </a:endParaRPr>
          </a:p>
          <a:p>
            <a:pPr marL="0" indent="0">
              <a:buNone/>
            </a:pPr>
            <a:endParaRPr lang="en-US" sz="2200" b="1" dirty="0">
              <a:latin typeface="+mj-lt"/>
            </a:endParaRPr>
          </a:p>
          <a:p>
            <a:pPr marL="0" indent="0">
              <a:buNone/>
            </a:pPr>
            <a:r>
              <a:rPr lang="en-US" sz="2200" b="1" dirty="0">
                <a:latin typeface="+mj-lt"/>
              </a:rPr>
              <a:t>004_21 — Scored as WAKEFULNESS, True = DREAM</a:t>
            </a:r>
          </a:p>
          <a:p>
            <a:pPr marL="0" indent="0">
              <a:buNone/>
            </a:pPr>
            <a:r>
              <a:rPr lang="en-US" sz="2200" i="1" dirty="0">
                <a:latin typeface="+mj-lt"/>
              </a:rPr>
              <a:t>"I was imagining my life in a future in a way that I was imagining all the things I had to do. I was kind of imagining the tasks that I needed to do. Seeing myself as if from the outside doing these tasks, I can't really remember what these tasks were, but it was around this theme of maybe like maybe I need to educate myself some more and maybe I need to talk to this person or do that thing.“</a:t>
            </a:r>
          </a:p>
          <a:p>
            <a:pPr marL="0" indent="0">
              <a:buNone/>
            </a:pPr>
            <a:endParaRPr lang="en-US" sz="2200" i="1" dirty="0">
              <a:latin typeface="+mj-lt"/>
            </a:endParaRPr>
          </a:p>
          <a:p>
            <a:pPr marL="0" indent="0">
              <a:buNone/>
            </a:pPr>
            <a:r>
              <a:rPr lang="en-US" sz="2200" dirty="0">
                <a:latin typeface="+mj-lt"/>
              </a:rPr>
              <a:t>NDS = -1,06 (probable wakefulness) and trigger wakefulness override :</a:t>
            </a:r>
          </a:p>
          <a:p>
            <a:pPr>
              <a:buFont typeface="+mj-lt"/>
              <a:buAutoNum type="arabicPeriod"/>
            </a:pPr>
            <a:r>
              <a:rPr lang="fr-FR" sz="2200" dirty="0">
                <a:latin typeface="+mj-lt"/>
              </a:rPr>
              <a:t>Explicit temporal </a:t>
            </a:r>
            <a:r>
              <a:rPr lang="fr-FR" sz="2200" dirty="0" err="1">
                <a:latin typeface="+mj-lt"/>
              </a:rPr>
              <a:t>réference</a:t>
            </a:r>
            <a:endParaRPr lang="fr-FR" sz="2200" dirty="0">
              <a:latin typeface="+mj-lt"/>
            </a:endParaRPr>
          </a:p>
          <a:p>
            <a:pPr>
              <a:buFont typeface="+mj-lt"/>
              <a:buAutoNum type="arabicPeriod"/>
            </a:pPr>
            <a:r>
              <a:rPr lang="fr-FR" sz="2200" dirty="0">
                <a:latin typeface="+mj-lt"/>
              </a:rPr>
              <a:t>Métacognitive process</a:t>
            </a:r>
          </a:p>
          <a:p>
            <a:pPr>
              <a:buFont typeface="+mj-lt"/>
              <a:buAutoNum type="arabicPeriod"/>
            </a:pPr>
            <a:r>
              <a:rPr lang="fr-FR" sz="2200" dirty="0" err="1">
                <a:latin typeface="+mj-lt"/>
              </a:rPr>
              <a:t>Narrator</a:t>
            </a:r>
            <a:r>
              <a:rPr lang="fr-FR" sz="2200" dirty="0">
                <a:latin typeface="+mj-lt"/>
              </a:rPr>
              <a:t> </a:t>
            </a:r>
            <a:r>
              <a:rPr lang="fr-FR" sz="2200" dirty="0" err="1">
                <a:latin typeface="+mj-lt"/>
              </a:rPr>
              <a:t>is</a:t>
            </a:r>
            <a:r>
              <a:rPr lang="fr-FR" sz="2200" dirty="0">
                <a:latin typeface="+mj-lt"/>
              </a:rPr>
              <a:t> </a:t>
            </a:r>
            <a:r>
              <a:rPr lang="fr-FR" sz="2200" dirty="0" err="1">
                <a:latin typeface="+mj-lt"/>
              </a:rPr>
              <a:t>actively</a:t>
            </a:r>
            <a:r>
              <a:rPr lang="fr-FR" sz="2200" dirty="0">
                <a:latin typeface="+mj-lt"/>
              </a:rPr>
              <a:t> </a:t>
            </a:r>
            <a:r>
              <a:rPr lang="fr-FR" sz="2200" dirty="0" err="1">
                <a:latin typeface="+mj-lt"/>
              </a:rPr>
              <a:t>initiating</a:t>
            </a:r>
            <a:r>
              <a:rPr lang="fr-FR" sz="2200" dirty="0">
                <a:latin typeface="+mj-lt"/>
              </a:rPr>
              <a:t> all key actions </a:t>
            </a:r>
            <a:r>
              <a:rPr lang="fr-FR" sz="2200" dirty="0" err="1">
                <a:latin typeface="+mj-lt"/>
              </a:rPr>
              <a:t>deliberately</a:t>
            </a:r>
            <a:endParaRPr lang="fr-FR" sz="2200" dirty="0">
              <a:latin typeface="+mj-lt"/>
            </a:endParaRPr>
          </a:p>
          <a:p>
            <a:pPr>
              <a:buFont typeface="+mj-lt"/>
              <a:buAutoNum type="arabicPeriod"/>
            </a:pPr>
            <a:r>
              <a:rPr lang="fr-FR" sz="2200" dirty="0">
                <a:latin typeface="+mj-lt"/>
              </a:rPr>
              <a:t>None bizarre or impossible </a:t>
            </a:r>
            <a:r>
              <a:rPr lang="fr-FR" sz="2200" dirty="0" err="1">
                <a:latin typeface="+mj-lt"/>
              </a:rPr>
              <a:t>event</a:t>
            </a:r>
            <a:r>
              <a:rPr lang="fr-FR" sz="2200" dirty="0">
                <a:latin typeface="+mj-lt"/>
              </a:rPr>
              <a:t> or </a:t>
            </a:r>
            <a:r>
              <a:rPr lang="fr-FR" sz="2200" dirty="0" err="1">
                <a:latin typeface="+mj-lt"/>
              </a:rPr>
              <a:t>element</a:t>
            </a:r>
            <a:r>
              <a:rPr lang="fr-FR" sz="2200" dirty="0">
                <a:latin typeface="+mj-lt"/>
              </a:rPr>
              <a:t> </a:t>
            </a: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p:txBody>
      </p:sp>
      <p:sp>
        <p:nvSpPr>
          <p:cNvPr id="6" name="Titre 1">
            <a:extLst>
              <a:ext uri="{FF2B5EF4-FFF2-40B4-BE49-F238E27FC236}">
                <a16:creationId xmlns:a16="http://schemas.microsoft.com/office/drawing/2014/main" id="{30952418-5E7B-CD59-B18A-4CF55F1E6A1F}"/>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Performance</a:t>
            </a:r>
          </a:p>
        </p:txBody>
      </p:sp>
    </p:spTree>
    <p:extLst>
      <p:ext uri="{BB962C8B-B14F-4D97-AF65-F5344CB8AC3E}">
        <p14:creationId xmlns:p14="http://schemas.microsoft.com/office/powerpoint/2010/main" val="5575881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807C-1DCB-910A-3FFD-CC20885CF30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C5BEF30-5C64-F405-2EE2-F086FF538D9D}"/>
              </a:ext>
            </a:extLst>
          </p:cNvPr>
          <p:cNvSpPr>
            <a:spLocks noGrp="1"/>
          </p:cNvSpPr>
          <p:nvPr>
            <p:ph idx="1"/>
          </p:nvPr>
        </p:nvSpPr>
        <p:spPr>
          <a:xfrm>
            <a:off x="527255" y="911943"/>
            <a:ext cx="11137490" cy="5663380"/>
          </a:xfrm>
        </p:spPr>
        <p:txBody>
          <a:bodyPr>
            <a:noAutofit/>
          </a:bodyPr>
          <a:lstStyle/>
          <a:p>
            <a:pPr marL="0" indent="0">
              <a:buNone/>
            </a:pPr>
            <a:endParaRPr lang="en-US" sz="1800" b="1" dirty="0"/>
          </a:p>
          <a:p>
            <a:pPr marL="0" indent="0">
              <a:buNone/>
            </a:pPr>
            <a:endParaRPr lang="en-US" sz="1800" b="1" dirty="0"/>
          </a:p>
          <a:p>
            <a:pPr marL="0" indent="0">
              <a:buNone/>
            </a:pPr>
            <a:endParaRPr lang="en-US" sz="2500" b="1" dirty="0">
              <a:latin typeface="Bookman Old Style" panose="02050604050505020204" pitchFamily="18" charset="0"/>
            </a:endParaRPr>
          </a:p>
          <a:p>
            <a:pPr marL="0" indent="0">
              <a:buNone/>
            </a:pPr>
            <a:r>
              <a:rPr lang="en-US" sz="2200" b="1" dirty="0">
                <a:latin typeface="+mj-lt"/>
              </a:rPr>
              <a:t>Overall </a:t>
            </a:r>
            <a:r>
              <a:rPr lang="en-US" sz="2200" dirty="0">
                <a:latin typeface="+mj-lt"/>
              </a:rPr>
              <a:t>need more</a:t>
            </a:r>
            <a:r>
              <a:rPr lang="en-US" sz="2200" b="1" dirty="0">
                <a:latin typeface="+mj-lt"/>
              </a:rPr>
              <a:t> data </a:t>
            </a:r>
            <a:r>
              <a:rPr lang="en-US" sz="2200" dirty="0">
                <a:latin typeface="+mj-lt"/>
              </a:rPr>
              <a:t>especially of </a:t>
            </a:r>
            <a:r>
              <a:rPr lang="en-US" sz="2200" b="1" dirty="0">
                <a:latin typeface="+mj-lt"/>
              </a:rPr>
              <a:t>wakefulness</a:t>
            </a:r>
            <a:r>
              <a:rPr lang="en-US" sz="2200" dirty="0">
                <a:latin typeface="+mj-lt"/>
              </a:rPr>
              <a:t> reports to improve :</a:t>
            </a:r>
          </a:p>
          <a:p>
            <a:pPr marL="0" indent="0">
              <a:buNone/>
            </a:pPr>
            <a:endParaRPr lang="en-US" sz="2200" dirty="0">
              <a:latin typeface="+mj-lt"/>
            </a:endParaRPr>
          </a:p>
          <a:p>
            <a:pPr>
              <a:buFontTx/>
              <a:buChar char="-"/>
            </a:pPr>
            <a:r>
              <a:rPr lang="en-US" sz="2200" dirty="0">
                <a:latin typeface="+mj-lt"/>
              </a:rPr>
              <a:t>NDS thresholds </a:t>
            </a:r>
          </a:p>
          <a:p>
            <a:pPr>
              <a:buFontTx/>
              <a:buChar char="-"/>
            </a:pPr>
            <a:r>
              <a:rPr lang="en-US" sz="2200" dirty="0">
                <a:latin typeface="+mj-lt"/>
              </a:rPr>
              <a:t>Overrides and lexical adjustment may need improvement or change  </a:t>
            </a:r>
          </a:p>
          <a:p>
            <a:pPr marL="0" indent="0">
              <a:buNone/>
            </a:pPr>
            <a:endParaRPr lang="en-US" sz="1800" dirty="0"/>
          </a:p>
          <a:p>
            <a:pPr marL="0" indent="0">
              <a:buNone/>
            </a:pPr>
            <a:endParaRPr lang="en-US" sz="1800" dirty="0"/>
          </a:p>
        </p:txBody>
      </p:sp>
      <p:sp>
        <p:nvSpPr>
          <p:cNvPr id="6" name="Titre 1">
            <a:extLst>
              <a:ext uri="{FF2B5EF4-FFF2-40B4-BE49-F238E27FC236}">
                <a16:creationId xmlns:a16="http://schemas.microsoft.com/office/drawing/2014/main" id="{9279129F-76ED-4193-2589-5641226243ED}"/>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900" dirty="0">
                <a:latin typeface="Bookman Old Style" panose="02050604050505020204" pitchFamily="18" charset="0"/>
              </a:rPr>
              <a:t>Limits</a:t>
            </a:r>
          </a:p>
        </p:txBody>
      </p:sp>
    </p:spTree>
    <p:extLst>
      <p:ext uri="{BB962C8B-B14F-4D97-AF65-F5344CB8AC3E}">
        <p14:creationId xmlns:p14="http://schemas.microsoft.com/office/powerpoint/2010/main" val="286684535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14186</TotalTime>
  <Words>1167</Words>
  <Application>Microsoft Office PowerPoint</Application>
  <PresentationFormat>Grand écran</PresentationFormat>
  <Paragraphs>187</Paragraphs>
  <Slides>22</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22</vt:i4>
      </vt:variant>
    </vt:vector>
  </HeadingPairs>
  <TitlesOfParts>
    <vt:vector size="28" baseType="lpstr">
      <vt:lpstr>Aptos</vt:lpstr>
      <vt:lpstr>Aptos Display</vt:lpstr>
      <vt:lpstr>Arial</vt:lpstr>
      <vt:lpstr>Bookman Old Style</vt:lpstr>
      <vt:lpstr>Wingdings</vt:lpstr>
      <vt:lpstr>Thème Office</vt:lpstr>
      <vt:lpstr>Dream/wakefulness classification through LLM</vt:lpstr>
      <vt:lpstr>Overview</vt:lpstr>
      <vt:lpstr>Semantics of dreams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Supplementary Data</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Enzo Gerbelot</dc:creator>
  <cp:lastModifiedBy>Enzo Gerbelot</cp:lastModifiedBy>
  <cp:revision>27</cp:revision>
  <dcterms:created xsi:type="dcterms:W3CDTF">2026-02-26T13:29:14Z</dcterms:created>
  <dcterms:modified xsi:type="dcterms:W3CDTF">2026-03-19T14:01:22Z</dcterms:modified>
</cp:coreProperties>
</file>