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7" r:id="rId2"/>
    <p:sldId id="264" r:id="rId3"/>
    <p:sldId id="265" r:id="rId4"/>
    <p:sldId id="256" r:id="rId5"/>
    <p:sldId id="260" r:id="rId6"/>
    <p:sldId id="261" r:id="rId7"/>
    <p:sldId id="280" r:id="rId8"/>
    <p:sldId id="258" r:id="rId9"/>
    <p:sldId id="273" r:id="rId10"/>
    <p:sldId id="259" r:id="rId11"/>
    <p:sldId id="266" r:id="rId12"/>
    <p:sldId id="276" r:id="rId13"/>
    <p:sldId id="263" r:id="rId14"/>
    <p:sldId id="267" r:id="rId15"/>
    <p:sldId id="275" r:id="rId16"/>
    <p:sldId id="268" r:id="rId17"/>
    <p:sldId id="269" r:id="rId18"/>
    <p:sldId id="271" r:id="rId19"/>
    <p:sldId id="272" r:id="rId20"/>
    <p:sldId id="278" r:id="rId21"/>
    <p:sldId id="279" r:id="rId22"/>
    <p:sldId id="270" r:id="rId2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35EDFC-71B8-EF88-BBCC-3B71C1FB628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04EBAC2-616A-4577-7B3D-8E81D40AA0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5BE8135-554B-111D-23D0-169378C318D9}"/>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D74A9B4F-4E3D-FA1B-A7D0-D7997146C3F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4D83B85-BA7D-3A24-3662-AEF950E9D86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236579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B83D56-1E72-0ED8-DB32-13FB75C506A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6D9D05-059C-B78F-12FB-DC3159BE1E1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E57EC1A-2117-B822-5711-519D27C794FC}"/>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4F1F2397-D43C-D397-2C7F-F5C80209BE9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98D3EC-4550-8B2D-C9A1-6C086A201CDE}"/>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154221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EA999-A93E-A559-B4C6-8F62DE6BC266}"/>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518CCF-5F1F-58C7-D150-5531198D82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8B6E416F-FFD0-A3A4-DB21-0FA05C1D62EA}"/>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59947553-5EC4-71C0-980A-2A4991E8A4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682DC53-A1DA-5A84-43FB-77D82EC98DA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89413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47255-F984-BD72-7C3F-318F6235EE0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84C882E-458B-31AA-B829-26383A0A5C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71CEB3DF-CDB8-740A-DD2D-5DE564D4E2E5}"/>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9D6A0C6-D87F-6A9A-DC37-59B751E1134A}"/>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A4DFBF88-B0EF-FC91-B7D0-E21E850D315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C4D67AB-E599-64CC-D69D-08BA686556C9}"/>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92531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F5564-4380-A808-1BAC-34D91B50D66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946E031-ED12-0359-BA65-E506D88A4D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04BCF2CC-C2FF-8D99-9DD3-CB38945746E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3B9DC95-4020-286D-626B-47D737933B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869EC93-366D-4D5B-E5D3-16332AD6C9D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FC635177-D7F5-C649-5616-EEEB8237BFF1}"/>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8" name="Espace réservé du pied de page 7">
            <a:extLst>
              <a:ext uri="{FF2B5EF4-FFF2-40B4-BE49-F238E27FC236}">
                <a16:creationId xmlns:a16="http://schemas.microsoft.com/office/drawing/2014/main" id="{93FBF0F8-5E09-EDAB-ECC9-337D1D9E4064}"/>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D110F18-6572-A96A-AB43-E151573FCA0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79077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7F1FA-F9BC-1CF7-9AC5-2535C495C44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414921B-B4C4-4181-E4EE-2D00709069FD}"/>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4" name="Espace réservé du pied de page 3">
            <a:extLst>
              <a:ext uri="{FF2B5EF4-FFF2-40B4-BE49-F238E27FC236}">
                <a16:creationId xmlns:a16="http://schemas.microsoft.com/office/drawing/2014/main" id="{CD6E05FC-AC95-6508-728E-B2647ABF166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8779261-ADA3-4A1F-D325-53FEBA41EA15}"/>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15549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F6D8093-48D5-0266-3F8E-A5D5E3831185}"/>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3" name="Espace réservé du pied de page 2">
            <a:extLst>
              <a:ext uri="{FF2B5EF4-FFF2-40B4-BE49-F238E27FC236}">
                <a16:creationId xmlns:a16="http://schemas.microsoft.com/office/drawing/2014/main" id="{954C8B59-E5A2-B0D1-F327-B7E7CF918E4C}"/>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720708D-C43E-AADA-5637-7C796607E347}"/>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066654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27266E-02CE-8400-0846-66BEFEB446D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168B35E-30D9-0014-A0B3-3FCA904FEE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5B2C5DA-C95C-FB90-7DAF-C42A4EBFC9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61A203F-23AB-0155-35F1-B3760BBF1083}"/>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0C4B6ED7-9A23-9584-85EF-3CFE60AEB33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5A76684-ABA1-511F-DF4E-22D18AF3246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3346000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A2AF2B-1BE8-50E0-3C73-305F8A14FC0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E5F0F77-270C-30BE-9432-E76E938ED9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12BEB9B-CC63-01C5-AD96-84EC5D899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2AFD2B1-E9FF-9563-CE5F-332E6808F32D}"/>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6" name="Espace réservé du pied de page 5">
            <a:extLst>
              <a:ext uri="{FF2B5EF4-FFF2-40B4-BE49-F238E27FC236}">
                <a16:creationId xmlns:a16="http://schemas.microsoft.com/office/drawing/2014/main" id="{5380FD85-DF6C-6991-EF89-F2131961F4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A7659CE-DD92-7352-7786-AF30E531DD50}"/>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798069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5AFF14-A6D4-19D4-F428-5C6E7BEFEE0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CAF5433-028D-7371-40E1-EDFFFC412EB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D067C0-63DB-A1F3-EBD7-9BB879AF83B1}"/>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162FFA37-ECC2-52A8-D22A-F08C33ED2BB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5C1E899-B670-59E6-8465-4498640896C5}"/>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269930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BAC0AEEA-F291-76F0-9268-17FA615F385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6F9B7238-1657-B5FF-E285-4601E070692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4D959D-6211-F00C-A79E-D1686345B470}"/>
              </a:ext>
            </a:extLst>
          </p:cNvPr>
          <p:cNvSpPr>
            <a:spLocks noGrp="1"/>
          </p:cNvSpPr>
          <p:nvPr>
            <p:ph type="dt" sz="half" idx="10"/>
          </p:nvPr>
        </p:nvSpPr>
        <p:spPr/>
        <p:txBody>
          <a:bodyPr/>
          <a:lstStyle/>
          <a:p>
            <a:fld id="{6A604A39-AE0A-4427-8406-285C70DBDA6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93292285-ACB1-85B0-2521-588CE825B04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94F2C2F-B4D1-C66F-AA99-91B07D59449A}"/>
              </a:ext>
            </a:extLst>
          </p:cNvPr>
          <p:cNvSpPr>
            <a:spLocks noGrp="1"/>
          </p:cNvSpPr>
          <p:nvPr>
            <p:ph type="sldNum" sz="quarter" idx="12"/>
          </p:nvPr>
        </p:nvSpPr>
        <p:spPr/>
        <p:txBody>
          <a:bodyPr/>
          <a:lstStyle/>
          <a:p>
            <a:fld id="{1418A441-3A76-405A-823C-721D1FF4731C}" type="slidenum">
              <a:rPr lang="fr-FR" smtClean="0"/>
              <a:t>‹N°›</a:t>
            </a:fld>
            <a:endParaRPr lang="fr-FR"/>
          </a:p>
        </p:txBody>
      </p:sp>
    </p:spTree>
    <p:extLst>
      <p:ext uri="{BB962C8B-B14F-4D97-AF65-F5344CB8AC3E}">
        <p14:creationId xmlns:p14="http://schemas.microsoft.com/office/powerpoint/2010/main" val="2476094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9F33C31-9AAB-CBCD-562B-8E8ABB8211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1F3C9FF-A55C-147E-837D-C1ED959F62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9FEE80C-544D-3F81-348E-3BEF1149C0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A604A39-AE0A-4427-8406-285C70DBDA68}" type="datetimeFigureOut">
              <a:rPr lang="fr-FR" smtClean="0"/>
              <a:t>16/03/2026</a:t>
            </a:fld>
            <a:endParaRPr lang="fr-FR"/>
          </a:p>
        </p:txBody>
      </p:sp>
      <p:sp>
        <p:nvSpPr>
          <p:cNvPr id="5" name="Espace réservé du pied de page 4">
            <a:extLst>
              <a:ext uri="{FF2B5EF4-FFF2-40B4-BE49-F238E27FC236}">
                <a16:creationId xmlns:a16="http://schemas.microsoft.com/office/drawing/2014/main" id="{3CEF15ED-4F58-B921-B7F8-BB8D8B8D9B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C78190D1-A639-8C01-E269-79C99F1F16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18A441-3A76-405A-823C-721D1FF4731C}" type="slidenum">
              <a:rPr lang="fr-FR" smtClean="0"/>
              <a:t>‹N°›</a:t>
            </a:fld>
            <a:endParaRPr lang="fr-FR"/>
          </a:p>
        </p:txBody>
      </p:sp>
    </p:spTree>
    <p:extLst>
      <p:ext uri="{BB962C8B-B14F-4D97-AF65-F5344CB8AC3E}">
        <p14:creationId xmlns:p14="http://schemas.microsoft.com/office/powerpoint/2010/main" val="732145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sciencedirect.com/science/article/pii/S1053810025001588?via%3Dihub#b0290"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hyperlink" Target="https://www.sciencedirect.com/science/article/pii/S1053810025001588?via%3Dihub#b0310" TargetMode="External"/><Relationship Id="rId4" Type="http://schemas.openxmlformats.org/officeDocument/2006/relationships/hyperlink" Target="https://www.sciencedirect.com/science/article/pii/S1053810025001588?via%3Dihub#b0275"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073FD16B-D673-1A45-13A3-6D23C1F01AA5}"/>
              </a:ext>
            </a:extLst>
          </p:cNvPr>
          <p:cNvSpPr>
            <a:spLocks noGrp="1"/>
          </p:cNvSpPr>
          <p:nvPr>
            <p:ph type="ctrTitle"/>
          </p:nvPr>
        </p:nvSpPr>
        <p:spPr>
          <a:xfrm>
            <a:off x="753925" y="1321056"/>
            <a:ext cx="10684151" cy="1991979"/>
          </a:xfrm>
        </p:spPr>
        <p:txBody>
          <a:bodyPr anchor="b">
            <a:normAutofit/>
          </a:bodyPr>
          <a:lstStyle/>
          <a:p>
            <a:r>
              <a:rPr lang="en-GB" sz="5200" dirty="0">
                <a:solidFill>
                  <a:schemeClr val="tx2"/>
                </a:solidFill>
                <a:latin typeface="Bookman Old Style" panose="02050604050505020204" pitchFamily="18" charset="0"/>
              </a:rPr>
              <a:t>Dream/Wakefulness classification through LLM</a:t>
            </a:r>
            <a:endParaRPr lang="fr-FR" sz="5200" dirty="0">
              <a:solidFill>
                <a:schemeClr val="tx2"/>
              </a:solidFill>
            </a:endParaRPr>
          </a:p>
        </p:txBody>
      </p:sp>
      <p:grpSp>
        <p:nvGrpSpPr>
          <p:cNvPr id="42" name="Group 4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43" name="Freeform: Shape 4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49" name="Freeform: Shape 4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ZoneTexte 3">
            <a:extLst>
              <a:ext uri="{FF2B5EF4-FFF2-40B4-BE49-F238E27FC236}">
                <a16:creationId xmlns:a16="http://schemas.microsoft.com/office/drawing/2014/main" id="{72A9E55F-30D0-B87B-4582-99C63AA8CD3A}"/>
              </a:ext>
            </a:extLst>
          </p:cNvPr>
          <p:cNvSpPr txBox="1"/>
          <p:nvPr/>
        </p:nvSpPr>
        <p:spPr>
          <a:xfrm>
            <a:off x="4483357" y="5536944"/>
            <a:ext cx="3224980" cy="415498"/>
          </a:xfrm>
          <a:prstGeom prst="rect">
            <a:avLst/>
          </a:prstGeom>
          <a:noFill/>
        </p:spPr>
        <p:txBody>
          <a:bodyPr wrap="square" rtlCol="0">
            <a:spAutoFit/>
          </a:bodyPr>
          <a:lstStyle/>
          <a:p>
            <a:r>
              <a:rPr lang="fr-FR" sz="2100" dirty="0">
                <a:latin typeface="Bookman Old Style" panose="02050604050505020204" pitchFamily="18" charset="0"/>
              </a:rPr>
              <a:t>Enzo Gerbelot-</a:t>
            </a:r>
            <a:r>
              <a:rPr lang="fr-FR" sz="2100" dirty="0" err="1">
                <a:latin typeface="Bookman Old Style" panose="02050604050505020204" pitchFamily="18" charset="0"/>
              </a:rPr>
              <a:t>Legris</a:t>
            </a:r>
            <a:r>
              <a:rPr lang="fr-FR" sz="2100" dirty="0">
                <a:latin typeface="Bookman Old Style" panose="02050604050505020204" pitchFamily="18" charset="0"/>
              </a:rPr>
              <a:t> </a:t>
            </a:r>
          </a:p>
        </p:txBody>
      </p:sp>
    </p:spTree>
    <p:extLst>
      <p:ext uri="{BB962C8B-B14F-4D97-AF65-F5344CB8AC3E}">
        <p14:creationId xmlns:p14="http://schemas.microsoft.com/office/powerpoint/2010/main" val="2724360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1DF75-9862-CF78-EC67-E6F065DAE53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1EC1630-CC46-BE87-4A3E-7B3133555455}"/>
              </a:ext>
            </a:extLst>
          </p:cNvPr>
          <p:cNvSpPr>
            <a:spLocks noGrp="1"/>
          </p:cNvSpPr>
          <p:nvPr>
            <p:ph type="title"/>
          </p:nvPr>
        </p:nvSpPr>
        <p:spPr>
          <a:xfrm>
            <a:off x="838200" y="-214978"/>
            <a:ext cx="10515600" cy="1325563"/>
          </a:xfrm>
        </p:spPr>
        <p:txBody>
          <a:bodyPr>
            <a:normAutofit/>
          </a:bodyPr>
          <a:lstStyle/>
          <a:p>
            <a:pPr algn="ctr"/>
            <a:r>
              <a:rPr lang="en-GB" sz="2900" noProof="0" dirty="0">
                <a:latin typeface="Bookman Old Style" panose="02050604050505020204" pitchFamily="18" charset="0"/>
              </a:rPr>
              <a:t>Bizarreness in dreams</a:t>
            </a:r>
          </a:p>
        </p:txBody>
      </p:sp>
      <p:sp>
        <p:nvSpPr>
          <p:cNvPr id="3" name="Espace réservé du contenu 2">
            <a:extLst>
              <a:ext uri="{FF2B5EF4-FFF2-40B4-BE49-F238E27FC236}">
                <a16:creationId xmlns:a16="http://schemas.microsoft.com/office/drawing/2014/main" id="{A5E1DFCA-5F5B-1C05-16AE-3A8FFA2D426B}"/>
              </a:ext>
            </a:extLst>
          </p:cNvPr>
          <p:cNvSpPr>
            <a:spLocks noGrp="1"/>
          </p:cNvSpPr>
          <p:nvPr>
            <p:ph idx="1"/>
          </p:nvPr>
        </p:nvSpPr>
        <p:spPr>
          <a:xfrm>
            <a:off x="533400" y="1110585"/>
            <a:ext cx="11658599" cy="5506525"/>
          </a:xfrm>
        </p:spPr>
        <p:txBody>
          <a:bodyPr>
            <a:noAutofit/>
          </a:bodyPr>
          <a:lstStyle/>
          <a:p>
            <a:pPr marL="0" indent="0">
              <a:buNone/>
            </a:pPr>
            <a:r>
              <a:rPr lang="en-GB" sz="2400" dirty="0"/>
              <a:t>Exploration</a:t>
            </a:r>
            <a:r>
              <a:rPr lang="en-GB" sz="2400" noProof="0" dirty="0"/>
              <a:t> on Célia’s work on pareidolia :</a:t>
            </a:r>
          </a:p>
          <a:p>
            <a:pPr marL="0" indent="0">
              <a:buNone/>
            </a:pPr>
            <a:endParaRPr lang="en-GB" sz="2400" noProof="0" dirty="0"/>
          </a:p>
          <a:p>
            <a:pPr marL="0" indent="0">
              <a:buNone/>
            </a:pPr>
            <a:r>
              <a:rPr lang="en-GB" sz="2400" b="1" u="sng" noProof="0" dirty="0"/>
              <a:t>The processing path :</a:t>
            </a:r>
          </a:p>
          <a:p>
            <a:r>
              <a:rPr lang="en-GB" sz="2400" noProof="0" dirty="0"/>
              <a:t>I wanted to explore different creative group by </a:t>
            </a:r>
            <a:r>
              <a:rPr lang="en-GB" sz="2400" b="1" noProof="0" dirty="0"/>
              <a:t>types of creativity </a:t>
            </a:r>
            <a:r>
              <a:rPr lang="en-GB" sz="2400" noProof="0" dirty="0"/>
              <a:t>or pareidolia content.</a:t>
            </a:r>
            <a:endParaRPr lang="en-GB" sz="2400" dirty="0"/>
          </a:p>
          <a:p>
            <a:r>
              <a:rPr lang="en-GB" sz="2400" b="1" noProof="0" dirty="0"/>
              <a:t>Bizarreness</a:t>
            </a:r>
            <a:r>
              <a:rPr lang="en-GB" sz="2400" noProof="0" dirty="0"/>
              <a:t> = Unusual features of dream experience.</a:t>
            </a:r>
          </a:p>
          <a:p>
            <a:r>
              <a:rPr lang="en-GB" sz="2400" b="1" noProof="0" dirty="0"/>
              <a:t>Bizarreness</a:t>
            </a:r>
            <a:r>
              <a:rPr lang="en-GB" sz="2400" noProof="0" dirty="0"/>
              <a:t> linked to </a:t>
            </a:r>
            <a:r>
              <a:rPr lang="en-GB" sz="2400" b="1" noProof="0" dirty="0"/>
              <a:t>weak constraints </a:t>
            </a:r>
            <a:r>
              <a:rPr lang="en-GB" sz="2400" noProof="0" dirty="0"/>
              <a:t>on </a:t>
            </a:r>
            <a:r>
              <a:rPr lang="en-GB" sz="2400" b="1" noProof="0" dirty="0"/>
              <a:t>deliberate thought </a:t>
            </a:r>
            <a:r>
              <a:rPr lang="en-GB" sz="2400" noProof="0" dirty="0"/>
              <a:t>and maybe link to </a:t>
            </a:r>
            <a:r>
              <a:rPr lang="en-GB" sz="2400" b="1" noProof="0" dirty="0"/>
              <a:t>creative mind.</a:t>
            </a:r>
          </a:p>
          <a:p>
            <a:r>
              <a:rPr lang="en-GB" sz="2400" noProof="0" dirty="0"/>
              <a:t>Bizarreness find in </a:t>
            </a:r>
            <a:r>
              <a:rPr lang="en-GB" sz="2400" b="1" noProof="0" dirty="0"/>
              <a:t>mind wandering </a:t>
            </a:r>
            <a:r>
              <a:rPr lang="en-GB" sz="2400" noProof="0" dirty="0"/>
              <a:t>and </a:t>
            </a:r>
            <a:r>
              <a:rPr lang="en-GB" sz="2400" b="1" noProof="0" dirty="0"/>
              <a:t>dream</a:t>
            </a:r>
            <a:r>
              <a:rPr lang="en-GB" sz="2400" b="1" dirty="0"/>
              <a:t>. </a:t>
            </a:r>
            <a:r>
              <a:rPr lang="en-GB" sz="2400" noProof="0" dirty="0"/>
              <a:t>link with </a:t>
            </a:r>
            <a:r>
              <a:rPr lang="en-GB" sz="2400" b="1" noProof="0" dirty="0"/>
              <a:t>pareidolia?</a:t>
            </a:r>
            <a:r>
              <a:rPr lang="en-GB" sz="2400" noProof="0" dirty="0"/>
              <a:t> </a:t>
            </a:r>
          </a:p>
          <a:p>
            <a:pPr marL="0" indent="0">
              <a:buNone/>
            </a:pPr>
            <a:endParaRPr lang="en-GB" sz="2400" dirty="0"/>
          </a:p>
        </p:txBody>
      </p:sp>
    </p:spTree>
    <p:extLst>
      <p:ext uri="{BB962C8B-B14F-4D97-AF65-F5344CB8AC3E}">
        <p14:creationId xmlns:p14="http://schemas.microsoft.com/office/powerpoint/2010/main" val="300236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17FC0-CF19-F929-5FA5-BEDB87BFDC26}"/>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2037A51-57C5-C379-1B3C-CA6A8B3B4A2E}"/>
              </a:ext>
            </a:extLst>
          </p:cNvPr>
          <p:cNvSpPr>
            <a:spLocks noGrp="1"/>
          </p:cNvSpPr>
          <p:nvPr>
            <p:ph idx="1"/>
          </p:nvPr>
        </p:nvSpPr>
        <p:spPr>
          <a:xfrm>
            <a:off x="690716" y="1253331"/>
            <a:ext cx="10515600" cy="4351338"/>
          </a:xfrm>
        </p:spPr>
        <p:txBody>
          <a:bodyPr>
            <a:noAutofit/>
          </a:bodyPr>
          <a:lstStyle/>
          <a:p>
            <a:pPr marL="0" indent="0">
              <a:buNone/>
            </a:pPr>
            <a:r>
              <a:rPr lang="en-GB" sz="2300" noProof="0" dirty="0"/>
              <a:t>Questions of interest :</a:t>
            </a:r>
          </a:p>
          <a:p>
            <a:pPr marL="0" indent="0">
              <a:buNone/>
            </a:pPr>
            <a:endParaRPr lang="en-GB" sz="2300" noProof="0" dirty="0"/>
          </a:p>
          <a:p>
            <a:r>
              <a:rPr lang="en-GB" sz="2300" dirty="0"/>
              <a:t>E</a:t>
            </a:r>
            <a:r>
              <a:rPr lang="en-GB" sz="2300" noProof="0" dirty="0" err="1"/>
              <a:t>xploring</a:t>
            </a:r>
            <a:r>
              <a:rPr lang="en-GB" sz="2300" noProof="0" dirty="0"/>
              <a:t> the link between </a:t>
            </a:r>
            <a:r>
              <a:rPr lang="en-GB" sz="2300" b="1" noProof="0" dirty="0"/>
              <a:t>high creative </a:t>
            </a:r>
            <a:r>
              <a:rPr lang="en-GB" sz="2300" noProof="0" dirty="0"/>
              <a:t>and </a:t>
            </a:r>
            <a:r>
              <a:rPr lang="en-GB" sz="2300" b="1" noProof="0" dirty="0"/>
              <a:t>low</a:t>
            </a:r>
            <a:r>
              <a:rPr lang="en-GB" sz="2300" noProof="0" dirty="0"/>
              <a:t> and the </a:t>
            </a:r>
            <a:r>
              <a:rPr lang="en-GB" sz="2300" b="1" noProof="0" dirty="0"/>
              <a:t>score of bizarreness </a:t>
            </a:r>
            <a:r>
              <a:rPr lang="en-GB" sz="2300" noProof="0" dirty="0"/>
              <a:t>in </a:t>
            </a:r>
            <a:r>
              <a:rPr lang="en-GB" sz="2300" b="1" noProof="0" dirty="0"/>
              <a:t>dreams</a:t>
            </a:r>
            <a:r>
              <a:rPr lang="en-GB" sz="2300" noProof="0" dirty="0"/>
              <a:t> or/and </a:t>
            </a:r>
            <a:r>
              <a:rPr lang="en-GB" sz="2300" b="1" noProof="0" dirty="0"/>
              <a:t>mind wandering</a:t>
            </a:r>
            <a:r>
              <a:rPr lang="en-GB" sz="2300" noProof="0" dirty="0"/>
              <a:t>. </a:t>
            </a:r>
          </a:p>
          <a:p>
            <a:r>
              <a:rPr lang="en-US" sz="2300" dirty="0"/>
              <a:t>A </a:t>
            </a:r>
            <a:r>
              <a:rPr lang="en-US" sz="2300" b="1" dirty="0"/>
              <a:t>cerebral signature </a:t>
            </a:r>
            <a:r>
              <a:rPr lang="en-US" sz="2300" dirty="0"/>
              <a:t>of bizarreness ?  </a:t>
            </a:r>
            <a:endParaRPr lang="fr-FR" sz="2300" dirty="0"/>
          </a:p>
          <a:p>
            <a:r>
              <a:rPr lang="en-GB" sz="2300" noProof="0" dirty="0"/>
              <a:t>Differences in </a:t>
            </a:r>
            <a:r>
              <a:rPr lang="en-GB" sz="2300" b="1" noProof="0" dirty="0"/>
              <a:t>bizarreness</a:t>
            </a:r>
            <a:r>
              <a:rPr lang="en-GB" sz="2300" noProof="0" dirty="0"/>
              <a:t> </a:t>
            </a:r>
            <a:r>
              <a:rPr lang="en-GB" sz="2300" b="1" noProof="0" dirty="0"/>
              <a:t>density</a:t>
            </a:r>
            <a:r>
              <a:rPr lang="en-GB" sz="2300" noProof="0" dirty="0"/>
              <a:t> and </a:t>
            </a:r>
            <a:r>
              <a:rPr lang="en-GB" sz="2300" b="1" noProof="0" dirty="0"/>
              <a:t>bizarreness</a:t>
            </a:r>
            <a:r>
              <a:rPr lang="en-GB" sz="2300" noProof="0" dirty="0"/>
              <a:t> </a:t>
            </a:r>
            <a:r>
              <a:rPr lang="en-GB" sz="2300" b="1" noProof="0" dirty="0"/>
              <a:t>subtypes</a:t>
            </a:r>
            <a:r>
              <a:rPr lang="en-GB" sz="2300" noProof="0" dirty="0"/>
              <a:t> </a:t>
            </a:r>
            <a:r>
              <a:rPr lang="en-GB" sz="2300" b="1" noProof="0" dirty="0"/>
              <a:t>during sleep stages </a:t>
            </a:r>
            <a:r>
              <a:rPr lang="en-GB" sz="2300" noProof="0" dirty="0"/>
              <a:t>and mind wandering ?</a:t>
            </a:r>
          </a:p>
          <a:p>
            <a:r>
              <a:rPr lang="en-GB" sz="2300" dirty="0"/>
              <a:t>Using the Dream and EEG mentation database (505 participants, 2643 awakenings in different sleep stages).</a:t>
            </a:r>
          </a:p>
          <a:p>
            <a:r>
              <a:rPr lang="en-GB" sz="2300" noProof="0" dirty="0"/>
              <a:t>Bizarreness score comparison between </a:t>
            </a:r>
            <a:r>
              <a:rPr lang="en-GB" sz="2300" b="1" noProof="0" dirty="0"/>
              <a:t>human scorer </a:t>
            </a:r>
            <a:r>
              <a:rPr lang="en-GB" sz="2300" noProof="0" dirty="0"/>
              <a:t>vs </a:t>
            </a:r>
            <a:r>
              <a:rPr lang="en-GB" sz="2300" b="1" noProof="0" dirty="0"/>
              <a:t>AI</a:t>
            </a:r>
            <a:r>
              <a:rPr lang="en-GB" sz="2300" noProof="0" dirty="0"/>
              <a:t> Claude.</a:t>
            </a:r>
          </a:p>
          <a:p>
            <a:pPr marL="0" indent="0">
              <a:buNone/>
            </a:pPr>
            <a:endParaRPr lang="en-GB" sz="2300" noProof="0" dirty="0"/>
          </a:p>
        </p:txBody>
      </p:sp>
      <p:sp>
        <p:nvSpPr>
          <p:cNvPr id="6" name="Titre 1">
            <a:extLst>
              <a:ext uri="{FF2B5EF4-FFF2-40B4-BE49-F238E27FC236}">
                <a16:creationId xmlns:a16="http://schemas.microsoft.com/office/drawing/2014/main" id="{1C237F91-97E9-6E11-EDEF-0373FB4629BA}"/>
              </a:ext>
            </a:extLst>
          </p:cNvPr>
          <p:cNvSpPr txBox="1">
            <a:spLocks/>
          </p:cNvSpPr>
          <p:nvPr/>
        </p:nvSpPr>
        <p:spPr>
          <a:xfrm>
            <a:off x="838200" y="-21497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2900">
                <a:latin typeface="Bookman Old Style" panose="02050604050505020204" pitchFamily="18" charset="0"/>
              </a:rPr>
              <a:t>Bizarreness in dreams</a:t>
            </a:r>
            <a:endParaRPr lang="en-GB" sz="2900" dirty="0">
              <a:latin typeface="Bookman Old Style" panose="02050604050505020204" pitchFamily="18" charset="0"/>
            </a:endParaRPr>
          </a:p>
        </p:txBody>
      </p:sp>
    </p:spTree>
    <p:extLst>
      <p:ext uri="{BB962C8B-B14F-4D97-AF65-F5344CB8AC3E}">
        <p14:creationId xmlns:p14="http://schemas.microsoft.com/office/powerpoint/2010/main" val="304608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F133C4-2CAB-6177-473D-FBC553B30186}"/>
              </a:ext>
            </a:extLst>
          </p:cNvPr>
          <p:cNvSpPr>
            <a:spLocks noGrp="1"/>
          </p:cNvSpPr>
          <p:nvPr>
            <p:ph type="ctrTitle"/>
          </p:nvPr>
        </p:nvSpPr>
        <p:spPr/>
        <p:txBody>
          <a:bodyPr/>
          <a:lstStyle/>
          <a:p>
            <a:endParaRPr lang="en-GB" noProof="0" dirty="0"/>
          </a:p>
        </p:txBody>
      </p:sp>
      <p:sp>
        <p:nvSpPr>
          <p:cNvPr id="3" name="Sous-titre 2">
            <a:extLst>
              <a:ext uri="{FF2B5EF4-FFF2-40B4-BE49-F238E27FC236}">
                <a16:creationId xmlns:a16="http://schemas.microsoft.com/office/drawing/2014/main" id="{F9BE7492-D80C-C291-9310-E8348BB5EF15}"/>
              </a:ext>
            </a:extLst>
          </p:cNvPr>
          <p:cNvSpPr>
            <a:spLocks noGrp="1"/>
          </p:cNvSpPr>
          <p:nvPr>
            <p:ph type="subTitle" idx="1"/>
          </p:nvPr>
        </p:nvSpPr>
        <p:spPr/>
        <p:txBody>
          <a:bodyPr/>
          <a:lstStyle/>
          <a:p>
            <a:endParaRPr lang="en-GB" noProof="0" dirty="0"/>
          </a:p>
        </p:txBody>
      </p:sp>
      <p:pic>
        <p:nvPicPr>
          <p:cNvPr id="5" name="Image 4" descr="Une image contenant texte, capture d’écran, Police&#10;&#10;Le contenu généré par l’IA peut être incorrect.">
            <a:extLst>
              <a:ext uri="{FF2B5EF4-FFF2-40B4-BE49-F238E27FC236}">
                <a16:creationId xmlns:a16="http://schemas.microsoft.com/office/drawing/2014/main" id="{A24143EA-53F5-B778-30CC-4E2945D16021}"/>
              </a:ext>
            </a:extLst>
          </p:cNvPr>
          <p:cNvPicPr>
            <a:picLocks noChangeAspect="1"/>
          </p:cNvPicPr>
          <p:nvPr/>
        </p:nvPicPr>
        <p:blipFill>
          <a:blip r:embed="rId2"/>
          <a:stretch>
            <a:fillRect/>
          </a:stretch>
        </p:blipFill>
        <p:spPr>
          <a:xfrm>
            <a:off x="1199466" y="723522"/>
            <a:ext cx="9793067" cy="5410955"/>
          </a:xfrm>
          <a:prstGeom prst="rect">
            <a:avLst/>
          </a:prstGeom>
        </p:spPr>
      </p:pic>
    </p:spTree>
    <p:extLst>
      <p:ext uri="{BB962C8B-B14F-4D97-AF65-F5344CB8AC3E}">
        <p14:creationId xmlns:p14="http://schemas.microsoft.com/office/powerpoint/2010/main" val="1342351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a:extLst>
              <a:ext uri="{FF2B5EF4-FFF2-40B4-BE49-F238E27FC236}">
                <a16:creationId xmlns:a16="http://schemas.microsoft.com/office/drawing/2014/main" id="{AC294CE8-07DC-2C80-62DB-8D554A7AB147}"/>
              </a:ext>
            </a:extLst>
          </p:cNvPr>
          <p:cNvPicPr>
            <a:picLocks noGrp="1" noChangeAspect="1"/>
          </p:cNvPicPr>
          <p:nvPr>
            <p:ph idx="1"/>
          </p:nvPr>
        </p:nvPicPr>
        <p:blipFill>
          <a:blip r:embed="rId2"/>
          <a:stretch>
            <a:fillRect/>
          </a:stretch>
        </p:blipFill>
        <p:spPr>
          <a:xfrm>
            <a:off x="574259" y="1028343"/>
            <a:ext cx="11043482" cy="1233076"/>
          </a:xfrm>
          <a:prstGeom prst="rect">
            <a:avLst/>
          </a:prstGeom>
        </p:spPr>
      </p:pic>
      <p:sp>
        <p:nvSpPr>
          <p:cNvPr id="10" name="ZoneTexte 9">
            <a:extLst>
              <a:ext uri="{FF2B5EF4-FFF2-40B4-BE49-F238E27FC236}">
                <a16:creationId xmlns:a16="http://schemas.microsoft.com/office/drawing/2014/main" id="{5CB295FC-EF1D-3247-B90A-FD08E3C79415}"/>
              </a:ext>
            </a:extLst>
          </p:cNvPr>
          <p:cNvSpPr txBox="1"/>
          <p:nvPr/>
        </p:nvSpPr>
        <p:spPr>
          <a:xfrm>
            <a:off x="678426" y="3429000"/>
            <a:ext cx="10166555" cy="2492990"/>
          </a:xfrm>
          <a:prstGeom prst="rect">
            <a:avLst/>
          </a:prstGeom>
          <a:noFill/>
        </p:spPr>
        <p:txBody>
          <a:bodyPr wrap="square" rtlCol="0">
            <a:spAutoFit/>
          </a:bodyPr>
          <a:lstStyle/>
          <a:p>
            <a:pPr marL="342900" indent="-342900">
              <a:buFont typeface="Arial" panose="020B0604020202020204" pitchFamily="34" charset="0"/>
              <a:buChar char="•"/>
            </a:pPr>
            <a:r>
              <a:rPr lang="en-GB" sz="2600" noProof="0" dirty="0"/>
              <a:t>Standard refined definition of bizarreness that can fit for both dreams and mind wondering experiences</a:t>
            </a:r>
          </a:p>
          <a:p>
            <a:pPr marL="342900" indent="-342900">
              <a:buFont typeface="Arial" panose="020B0604020202020204" pitchFamily="34" charset="0"/>
              <a:buChar char="•"/>
            </a:pPr>
            <a:endParaRPr lang="en-GB" sz="2600" noProof="0" dirty="0"/>
          </a:p>
          <a:p>
            <a:pPr marL="342900" indent="-342900">
              <a:buFont typeface="Arial" panose="020B0604020202020204" pitchFamily="34" charset="0"/>
              <a:buChar char="•"/>
            </a:pPr>
            <a:r>
              <a:rPr lang="en-GB" sz="2600" noProof="0" dirty="0"/>
              <a:t>Bizarreness density to avoid biases of report length</a:t>
            </a:r>
          </a:p>
          <a:p>
            <a:pPr marL="342900" indent="-342900">
              <a:buFont typeface="Arial" panose="020B0604020202020204" pitchFamily="34" charset="0"/>
              <a:buChar char="•"/>
            </a:pPr>
            <a:endParaRPr lang="en-GB" sz="2600" noProof="0" dirty="0"/>
          </a:p>
          <a:p>
            <a:pPr marL="342900" indent="-342900">
              <a:buFont typeface="Arial" panose="020B0604020202020204" pitchFamily="34" charset="0"/>
              <a:buChar char="•"/>
            </a:pPr>
            <a:r>
              <a:rPr lang="en-US" sz="2600" dirty="0"/>
              <a:t>first study to use content analysis of free reports</a:t>
            </a:r>
            <a:endParaRPr lang="en-GB" sz="2600" noProof="0" dirty="0"/>
          </a:p>
        </p:txBody>
      </p:sp>
    </p:spTree>
    <p:extLst>
      <p:ext uri="{BB962C8B-B14F-4D97-AF65-F5344CB8AC3E}">
        <p14:creationId xmlns:p14="http://schemas.microsoft.com/office/powerpoint/2010/main" val="365523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Une image contenant texte, Police, capture d’écran, noir et blanc&#10;&#10;Le contenu généré par l’IA peut être incorrect.">
            <a:extLst>
              <a:ext uri="{FF2B5EF4-FFF2-40B4-BE49-F238E27FC236}">
                <a16:creationId xmlns:a16="http://schemas.microsoft.com/office/drawing/2014/main" id="{090A7F80-9EDF-A55A-384F-2918F76DD472}"/>
              </a:ext>
            </a:extLst>
          </p:cNvPr>
          <p:cNvPicPr>
            <a:picLocks noChangeAspect="1"/>
          </p:cNvPicPr>
          <p:nvPr/>
        </p:nvPicPr>
        <p:blipFill>
          <a:blip r:embed="rId2"/>
          <a:stretch>
            <a:fillRect/>
          </a:stretch>
        </p:blipFill>
        <p:spPr>
          <a:xfrm>
            <a:off x="3176551" y="354795"/>
            <a:ext cx="5838897" cy="6148409"/>
          </a:xfrm>
          <a:prstGeom prst="rect">
            <a:avLst/>
          </a:prstGeom>
        </p:spPr>
      </p:pic>
    </p:spTree>
    <p:extLst>
      <p:ext uri="{BB962C8B-B14F-4D97-AF65-F5344CB8AC3E}">
        <p14:creationId xmlns:p14="http://schemas.microsoft.com/office/powerpoint/2010/main" val="911179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75F7EB5-6A8E-84D3-4E56-1194B24B9B5E}"/>
              </a:ext>
            </a:extLst>
          </p:cNvPr>
          <p:cNvSpPr>
            <a:spLocks noGrp="1"/>
          </p:cNvSpPr>
          <p:nvPr>
            <p:ph idx="1"/>
          </p:nvPr>
        </p:nvSpPr>
        <p:spPr>
          <a:xfrm>
            <a:off x="838200" y="1176696"/>
            <a:ext cx="10515600" cy="4351338"/>
          </a:xfrm>
        </p:spPr>
        <p:txBody>
          <a:bodyPr>
            <a:noAutofit/>
          </a:bodyPr>
          <a:lstStyle/>
          <a:p>
            <a:pPr marL="0" indent="0" algn="ctr">
              <a:buNone/>
            </a:pPr>
            <a:r>
              <a:rPr lang="fr-FR" sz="3100" dirty="0"/>
              <a:t>« Hier j’étais dans un château »</a:t>
            </a:r>
          </a:p>
          <a:p>
            <a:pPr marL="0" indent="0">
              <a:buNone/>
            </a:pPr>
            <a:endParaRPr lang="fr-FR" sz="3100" dirty="0"/>
          </a:p>
          <a:p>
            <a:pPr marL="0" indent="0">
              <a:buNone/>
            </a:pPr>
            <a:endParaRPr lang="fr-FR" sz="3100" dirty="0"/>
          </a:p>
          <a:p>
            <a:pPr marL="0" indent="0" algn="ctr">
              <a:buNone/>
            </a:pPr>
            <a:r>
              <a:rPr lang="fr-FR" sz="3100" dirty="0"/>
              <a:t>« </a:t>
            </a:r>
            <a:r>
              <a:rPr lang="fr-FR" sz="3100" dirty="0">
                <a:solidFill>
                  <a:srgbClr val="FF0000"/>
                </a:solidFill>
              </a:rPr>
              <a:t>Hier</a:t>
            </a:r>
            <a:r>
              <a:rPr lang="fr-FR" sz="3100" dirty="0"/>
              <a:t> </a:t>
            </a:r>
            <a:r>
              <a:rPr lang="fr-FR" sz="3100" dirty="0">
                <a:solidFill>
                  <a:srgbClr val="FF0000"/>
                </a:solidFill>
              </a:rPr>
              <a:t>j’</a:t>
            </a:r>
            <a:r>
              <a:rPr lang="fr-FR" sz="3100" dirty="0"/>
              <a:t>étais dans un </a:t>
            </a:r>
            <a:r>
              <a:rPr lang="fr-FR" sz="3100" dirty="0">
                <a:solidFill>
                  <a:srgbClr val="FF0000"/>
                </a:solidFill>
              </a:rPr>
              <a:t>château</a:t>
            </a:r>
            <a:r>
              <a:rPr lang="fr-FR" sz="3100" dirty="0"/>
              <a:t> »</a:t>
            </a:r>
          </a:p>
          <a:p>
            <a:pPr marL="0" indent="0">
              <a:buNone/>
            </a:pPr>
            <a:endParaRPr lang="fr-FR" sz="3100" dirty="0"/>
          </a:p>
          <a:p>
            <a:pPr marL="0" indent="0">
              <a:buNone/>
            </a:pPr>
            <a:endParaRPr lang="fr-FR" sz="3100" dirty="0"/>
          </a:p>
          <a:p>
            <a:pPr marL="0" indent="0">
              <a:buNone/>
            </a:pPr>
            <a:r>
              <a:rPr lang="fr-FR" sz="3100" dirty="0">
                <a:solidFill>
                  <a:srgbClr val="FF0000"/>
                </a:solidFill>
              </a:rPr>
              <a:t>		       Time    Self			Place</a:t>
            </a:r>
          </a:p>
        </p:txBody>
      </p:sp>
      <p:cxnSp>
        <p:nvCxnSpPr>
          <p:cNvPr id="12" name="Connecteur droit avec flèche 11">
            <a:extLst>
              <a:ext uri="{FF2B5EF4-FFF2-40B4-BE49-F238E27FC236}">
                <a16:creationId xmlns:a16="http://schemas.microsoft.com/office/drawing/2014/main" id="{71969AE2-4B09-250A-02F5-D3D97FCE1859}"/>
              </a:ext>
            </a:extLst>
          </p:cNvPr>
          <p:cNvCxnSpPr>
            <a:cxnSpLocks/>
          </p:cNvCxnSpPr>
          <p:nvPr/>
        </p:nvCxnSpPr>
        <p:spPr>
          <a:xfrm flipV="1">
            <a:off x="7757652" y="3397042"/>
            <a:ext cx="0" cy="943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Connecteur droit avec flèche 18">
            <a:extLst>
              <a:ext uri="{FF2B5EF4-FFF2-40B4-BE49-F238E27FC236}">
                <a16:creationId xmlns:a16="http://schemas.microsoft.com/office/drawing/2014/main" id="{BE41F03C-32EE-DF34-B5EE-BDAD7A1BCCE3}"/>
              </a:ext>
            </a:extLst>
          </p:cNvPr>
          <p:cNvCxnSpPr>
            <a:cxnSpLocks/>
          </p:cNvCxnSpPr>
          <p:nvPr/>
        </p:nvCxnSpPr>
        <p:spPr>
          <a:xfrm flipV="1">
            <a:off x="4567084" y="3397042"/>
            <a:ext cx="0" cy="943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0" name="Connecteur droit avec flèche 19">
            <a:extLst>
              <a:ext uri="{FF2B5EF4-FFF2-40B4-BE49-F238E27FC236}">
                <a16:creationId xmlns:a16="http://schemas.microsoft.com/office/drawing/2014/main" id="{56B95F12-FB99-F698-BFC9-4C04863182B1}"/>
              </a:ext>
            </a:extLst>
          </p:cNvPr>
          <p:cNvCxnSpPr>
            <a:cxnSpLocks/>
          </p:cNvCxnSpPr>
          <p:nvPr/>
        </p:nvCxnSpPr>
        <p:spPr>
          <a:xfrm flipV="1">
            <a:off x="3903405" y="3397042"/>
            <a:ext cx="0" cy="94389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221149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apture d’écran, document, Police&#10;&#10;Le contenu généré par l’IA peut être incorrect.">
            <a:extLst>
              <a:ext uri="{FF2B5EF4-FFF2-40B4-BE49-F238E27FC236}">
                <a16:creationId xmlns:a16="http://schemas.microsoft.com/office/drawing/2014/main" id="{2F5A9DE3-413F-E849-6098-6D89DF6136BC}"/>
              </a:ext>
            </a:extLst>
          </p:cNvPr>
          <p:cNvPicPr>
            <a:picLocks noGrp="1" noChangeAspect="1"/>
          </p:cNvPicPr>
          <p:nvPr>
            <p:ph idx="1"/>
          </p:nvPr>
        </p:nvPicPr>
        <p:blipFill>
          <a:blip r:embed="rId2"/>
          <a:stretch>
            <a:fillRect/>
          </a:stretch>
        </p:blipFill>
        <p:spPr>
          <a:xfrm>
            <a:off x="3269378" y="46375"/>
            <a:ext cx="5653244" cy="6765249"/>
          </a:xfrm>
          <a:prstGeom prst="rect">
            <a:avLst/>
          </a:prstGeom>
        </p:spPr>
      </p:pic>
    </p:spTree>
    <p:extLst>
      <p:ext uri="{BB962C8B-B14F-4D97-AF65-F5344CB8AC3E}">
        <p14:creationId xmlns:p14="http://schemas.microsoft.com/office/powerpoint/2010/main" val="3538966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apture d’écran, Police, noir et blanc&#10;&#10;Le contenu généré par l’IA peut être incorrect.">
            <a:extLst>
              <a:ext uri="{FF2B5EF4-FFF2-40B4-BE49-F238E27FC236}">
                <a16:creationId xmlns:a16="http://schemas.microsoft.com/office/drawing/2014/main" id="{9BDD753C-3F1E-5F3C-5FCA-626E05D50C03}"/>
              </a:ext>
            </a:extLst>
          </p:cNvPr>
          <p:cNvPicPr>
            <a:picLocks noGrp="1" noChangeAspect="1"/>
          </p:cNvPicPr>
          <p:nvPr>
            <p:ph idx="1"/>
          </p:nvPr>
        </p:nvPicPr>
        <p:blipFill>
          <a:blip r:embed="rId2"/>
          <a:stretch>
            <a:fillRect/>
          </a:stretch>
        </p:blipFill>
        <p:spPr>
          <a:xfrm>
            <a:off x="3619759" y="212807"/>
            <a:ext cx="4952481" cy="6432386"/>
          </a:xfrm>
          <a:prstGeom prst="rect">
            <a:avLst/>
          </a:prstGeom>
        </p:spPr>
      </p:pic>
    </p:spTree>
    <p:extLst>
      <p:ext uri="{BB962C8B-B14F-4D97-AF65-F5344CB8AC3E}">
        <p14:creationId xmlns:p14="http://schemas.microsoft.com/office/powerpoint/2010/main" val="4100989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ercle, diagramme, disque compact&#10;&#10;Le contenu généré par l’IA peut être incorrect.">
            <a:extLst>
              <a:ext uri="{FF2B5EF4-FFF2-40B4-BE49-F238E27FC236}">
                <a16:creationId xmlns:a16="http://schemas.microsoft.com/office/drawing/2014/main" id="{CCD5DBDF-F775-7009-3791-4CB61E3BB5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8689" y="305898"/>
            <a:ext cx="6654621" cy="6552102"/>
          </a:xfrm>
          <a:prstGeom prst="rect">
            <a:avLst/>
          </a:prstGeom>
        </p:spPr>
      </p:pic>
      <p:sp>
        <p:nvSpPr>
          <p:cNvPr id="6" name="ZoneTexte 5">
            <a:extLst>
              <a:ext uri="{FF2B5EF4-FFF2-40B4-BE49-F238E27FC236}">
                <a16:creationId xmlns:a16="http://schemas.microsoft.com/office/drawing/2014/main" id="{F87DB211-A351-2106-FD26-6751E209E41B}"/>
              </a:ext>
            </a:extLst>
          </p:cNvPr>
          <p:cNvSpPr txBox="1"/>
          <p:nvPr/>
        </p:nvSpPr>
        <p:spPr>
          <a:xfrm>
            <a:off x="3121572" y="178756"/>
            <a:ext cx="5948855" cy="446276"/>
          </a:xfrm>
          <a:prstGeom prst="rect">
            <a:avLst/>
          </a:prstGeom>
          <a:noFill/>
        </p:spPr>
        <p:txBody>
          <a:bodyPr wrap="square" rtlCol="0">
            <a:spAutoFit/>
          </a:bodyPr>
          <a:lstStyle/>
          <a:p>
            <a:pPr algn="ctr"/>
            <a:r>
              <a:rPr lang="en-GB" sz="2300" noProof="0" dirty="0">
                <a:latin typeface="Bookman Old Style" panose="02050604050505020204" pitchFamily="18" charset="0"/>
              </a:rPr>
              <a:t>The bizarreness kaleidoscope</a:t>
            </a:r>
          </a:p>
        </p:txBody>
      </p:sp>
    </p:spTree>
    <p:extLst>
      <p:ext uri="{BB962C8B-B14F-4D97-AF65-F5344CB8AC3E}">
        <p14:creationId xmlns:p14="http://schemas.microsoft.com/office/powerpoint/2010/main" val="2931078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C27524-3187-8436-2667-9510090B8EFA}"/>
              </a:ext>
            </a:extLst>
          </p:cNvPr>
          <p:cNvSpPr>
            <a:spLocks noGrp="1"/>
          </p:cNvSpPr>
          <p:nvPr>
            <p:ph type="title"/>
          </p:nvPr>
        </p:nvSpPr>
        <p:spPr>
          <a:xfrm>
            <a:off x="838199" y="-275303"/>
            <a:ext cx="10515600" cy="1325563"/>
          </a:xfrm>
        </p:spPr>
        <p:txBody>
          <a:bodyPr>
            <a:normAutofit/>
          </a:bodyPr>
          <a:lstStyle/>
          <a:p>
            <a:pPr algn="ctr"/>
            <a:r>
              <a:rPr lang="fr-FR" sz="2900" dirty="0">
                <a:latin typeface="Bookman Old Style" panose="02050604050505020204" pitchFamily="18" charset="0"/>
              </a:rPr>
              <a:t>Global </a:t>
            </a:r>
            <a:r>
              <a:rPr lang="fr-FR" sz="2900" dirty="0" err="1">
                <a:latin typeface="Bookman Old Style" panose="02050604050505020204" pitchFamily="18" charset="0"/>
              </a:rPr>
              <a:t>bizarreness</a:t>
            </a:r>
            <a:r>
              <a:rPr lang="fr-FR" sz="2900" dirty="0">
                <a:latin typeface="Bookman Old Style" panose="02050604050505020204" pitchFamily="18" charset="0"/>
              </a:rPr>
              <a:t> </a:t>
            </a:r>
          </a:p>
        </p:txBody>
      </p:sp>
      <p:pic>
        <p:nvPicPr>
          <p:cNvPr id="9" name="Image 8" descr="Une image contenant texte, capture d’écran, Police, nombre&#10;&#10;Le contenu généré par l’IA peut être incorrect.">
            <a:extLst>
              <a:ext uri="{FF2B5EF4-FFF2-40B4-BE49-F238E27FC236}">
                <a16:creationId xmlns:a16="http://schemas.microsoft.com/office/drawing/2014/main" id="{AD8901E5-0EE9-AF10-1892-18CAF3DB3C3B}"/>
              </a:ext>
            </a:extLst>
          </p:cNvPr>
          <p:cNvPicPr>
            <a:picLocks noChangeAspect="1"/>
          </p:cNvPicPr>
          <p:nvPr/>
        </p:nvPicPr>
        <p:blipFill>
          <a:blip r:embed="rId2"/>
          <a:stretch>
            <a:fillRect/>
          </a:stretch>
        </p:blipFill>
        <p:spPr>
          <a:xfrm>
            <a:off x="324049" y="1205791"/>
            <a:ext cx="11543900" cy="4013795"/>
          </a:xfrm>
          <a:prstGeom prst="rect">
            <a:avLst/>
          </a:prstGeom>
        </p:spPr>
      </p:pic>
      <p:sp>
        <p:nvSpPr>
          <p:cNvPr id="13" name="ZoneTexte 12">
            <a:extLst>
              <a:ext uri="{FF2B5EF4-FFF2-40B4-BE49-F238E27FC236}">
                <a16:creationId xmlns:a16="http://schemas.microsoft.com/office/drawing/2014/main" id="{90E8ADC8-6456-AACA-D39E-ED03D762B3C7}"/>
              </a:ext>
            </a:extLst>
          </p:cNvPr>
          <p:cNvSpPr txBox="1"/>
          <p:nvPr/>
        </p:nvSpPr>
        <p:spPr>
          <a:xfrm>
            <a:off x="1410928" y="5515896"/>
            <a:ext cx="9370142" cy="1200329"/>
          </a:xfrm>
          <a:prstGeom prst="rect">
            <a:avLst/>
          </a:prstGeom>
          <a:noFill/>
        </p:spPr>
        <p:txBody>
          <a:bodyPr wrap="square" rtlCol="0">
            <a:spAutoFit/>
          </a:bodyPr>
          <a:lstStyle/>
          <a:p>
            <a:r>
              <a:rPr lang="fr-FR" dirty="0"/>
              <a:t>In </a:t>
            </a:r>
            <a:r>
              <a:rPr lang="fr-FR" dirty="0" err="1"/>
              <a:t>Revonsuo</a:t>
            </a:r>
            <a:r>
              <a:rPr lang="fr-FR" dirty="0"/>
              <a:t> </a:t>
            </a:r>
            <a:r>
              <a:rPr lang="fr-FR" dirty="0" err="1"/>
              <a:t>study</a:t>
            </a:r>
            <a:r>
              <a:rPr lang="fr-FR" dirty="0"/>
              <a:t> : 7616 éléments </a:t>
            </a:r>
            <a:r>
              <a:rPr lang="fr-FR" dirty="0" err="1"/>
              <a:t>scored</a:t>
            </a:r>
            <a:r>
              <a:rPr lang="fr-FR" dirty="0"/>
              <a:t> </a:t>
            </a:r>
            <a:r>
              <a:rPr lang="fr-FR" dirty="0" err="1"/>
              <a:t>with</a:t>
            </a:r>
            <a:r>
              <a:rPr lang="fr-FR" dirty="0"/>
              <a:t> a </a:t>
            </a:r>
            <a:r>
              <a:rPr lang="fr-FR" dirty="0" err="1"/>
              <a:t>bizarreness</a:t>
            </a:r>
            <a:r>
              <a:rPr lang="fr-FR" dirty="0"/>
              <a:t> </a:t>
            </a:r>
            <a:r>
              <a:rPr lang="fr-FR" dirty="0" err="1"/>
              <a:t>density</a:t>
            </a:r>
            <a:r>
              <a:rPr lang="fr-FR" dirty="0"/>
              <a:t> of 20,7</a:t>
            </a:r>
          </a:p>
          <a:p>
            <a:endParaRPr lang="fr-FR" dirty="0"/>
          </a:p>
          <a:p>
            <a:r>
              <a:rPr lang="fr-FR" dirty="0" err="1"/>
              <a:t>Others</a:t>
            </a:r>
            <a:r>
              <a:rPr lang="fr-FR" dirty="0"/>
              <a:t> </a:t>
            </a:r>
            <a:r>
              <a:rPr lang="fr-FR" dirty="0" err="1"/>
              <a:t>studies</a:t>
            </a:r>
            <a:r>
              <a:rPr lang="fr-FR" dirty="0"/>
              <a:t> </a:t>
            </a:r>
            <a:r>
              <a:rPr lang="en-US" dirty="0"/>
              <a:t>can range from 5 % (</a:t>
            </a:r>
            <a:r>
              <a:rPr lang="en-US" dirty="0">
                <a:hlinkClick r:id="rId3"/>
              </a:rPr>
              <a:t>Snyder, 1970</a:t>
            </a:r>
            <a:r>
              <a:rPr lang="en-US" dirty="0"/>
              <a:t>), over 31 % (</a:t>
            </a:r>
            <a:r>
              <a:rPr lang="en-US" dirty="0" err="1">
                <a:hlinkClick r:id="rId4"/>
              </a:rPr>
              <a:t>Schredl</a:t>
            </a:r>
            <a:r>
              <a:rPr lang="en-US" dirty="0">
                <a:hlinkClick r:id="rId4"/>
              </a:rPr>
              <a:t>, 2010</a:t>
            </a:r>
            <a:r>
              <a:rPr lang="en-US" dirty="0"/>
              <a:t>) to 60 % (</a:t>
            </a:r>
            <a:r>
              <a:rPr lang="en-US" dirty="0">
                <a:hlinkClick r:id="rId5"/>
              </a:rPr>
              <a:t>Williams et al., 1992</a:t>
            </a:r>
            <a:r>
              <a:rPr lang="en-US" dirty="0"/>
              <a:t>) of REM dream reports in a sample considered as bizarre.</a:t>
            </a:r>
            <a:endParaRPr lang="fr-FR" dirty="0"/>
          </a:p>
        </p:txBody>
      </p:sp>
    </p:spTree>
    <p:extLst>
      <p:ext uri="{BB962C8B-B14F-4D97-AF65-F5344CB8AC3E}">
        <p14:creationId xmlns:p14="http://schemas.microsoft.com/office/powerpoint/2010/main" val="16243606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du contenu 4" descr="Une image contenant texte, cercle, diagramme, disque compact&#10;&#10;Le contenu généré par l’IA peut être incorrect.">
            <a:extLst>
              <a:ext uri="{FF2B5EF4-FFF2-40B4-BE49-F238E27FC236}">
                <a16:creationId xmlns:a16="http://schemas.microsoft.com/office/drawing/2014/main" id="{6AB04509-0224-8FC3-CF38-5B781A595D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1539" y="729937"/>
            <a:ext cx="6068922" cy="5956163"/>
          </a:xfrm>
          <a:prstGeom prst="rect">
            <a:avLst/>
          </a:prstGeom>
        </p:spPr>
      </p:pic>
      <p:sp>
        <p:nvSpPr>
          <p:cNvPr id="6" name="Titre 1">
            <a:extLst>
              <a:ext uri="{FF2B5EF4-FFF2-40B4-BE49-F238E27FC236}">
                <a16:creationId xmlns:a16="http://schemas.microsoft.com/office/drawing/2014/main" id="{C694468A-97ED-40DB-6E5B-F2E1E38941D6}"/>
              </a:ext>
            </a:extLst>
          </p:cNvPr>
          <p:cNvSpPr txBox="1">
            <a:spLocks/>
          </p:cNvSpPr>
          <p:nvPr/>
        </p:nvSpPr>
        <p:spPr>
          <a:xfrm>
            <a:off x="838199" y="-27530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900" dirty="0" err="1">
                <a:latin typeface="Bookman Old Style" panose="02050604050505020204" pitchFamily="18" charset="0"/>
              </a:rPr>
              <a:t>Bizarreness</a:t>
            </a:r>
            <a:r>
              <a:rPr lang="fr-FR" sz="2900" dirty="0">
                <a:latin typeface="Bookman Old Style" panose="02050604050505020204" pitchFamily="18" charset="0"/>
              </a:rPr>
              <a:t> </a:t>
            </a:r>
            <a:r>
              <a:rPr lang="fr-FR" sz="2900" dirty="0" err="1">
                <a:latin typeface="Bookman Old Style" panose="02050604050505020204" pitchFamily="18" charset="0"/>
              </a:rPr>
              <a:t>kaleidoscope</a:t>
            </a:r>
            <a:r>
              <a:rPr lang="fr-FR" sz="2900" dirty="0">
                <a:latin typeface="Bookman Old Style" panose="02050604050505020204" pitchFamily="18" charset="0"/>
              </a:rPr>
              <a:t> </a:t>
            </a:r>
            <a:r>
              <a:rPr lang="fr-FR" sz="2900" dirty="0" err="1">
                <a:latin typeface="Bookman Old Style" panose="02050604050505020204" pitchFamily="18" charset="0"/>
              </a:rPr>
              <a:t>resulsts</a:t>
            </a:r>
            <a:r>
              <a:rPr lang="fr-FR" sz="2900" dirty="0">
                <a:latin typeface="Bookman Old Style" panose="02050604050505020204" pitchFamily="18" charset="0"/>
              </a:rPr>
              <a:t> </a:t>
            </a:r>
          </a:p>
        </p:txBody>
      </p:sp>
    </p:spTree>
    <p:extLst>
      <p:ext uri="{BB962C8B-B14F-4D97-AF65-F5344CB8AC3E}">
        <p14:creationId xmlns:p14="http://schemas.microsoft.com/office/powerpoint/2010/main" val="3391514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82EF1C-8BE7-0CDF-57DF-8316C45EE315}"/>
              </a:ext>
            </a:extLst>
          </p:cNvPr>
          <p:cNvSpPr>
            <a:spLocks noGrp="1"/>
          </p:cNvSpPr>
          <p:nvPr>
            <p:ph type="title"/>
          </p:nvPr>
        </p:nvSpPr>
        <p:spPr>
          <a:xfrm>
            <a:off x="838200" y="-78658"/>
            <a:ext cx="10515600" cy="1325563"/>
          </a:xfrm>
        </p:spPr>
        <p:txBody>
          <a:bodyPr>
            <a:normAutofit/>
          </a:bodyPr>
          <a:lstStyle/>
          <a:p>
            <a:pPr algn="ctr"/>
            <a:r>
              <a:rPr lang="en-GB" sz="2900" noProof="0" dirty="0">
                <a:latin typeface="Bookman Old Style" panose="02050604050505020204" pitchFamily="18" charset="0"/>
              </a:rPr>
              <a:t>Distribution of bizarreness subtypes</a:t>
            </a:r>
          </a:p>
        </p:txBody>
      </p:sp>
      <p:pic>
        <p:nvPicPr>
          <p:cNvPr id="5" name="Espace réservé du contenu 4" descr="Une image contenant texte, logiciel, nombre, capture d’écran&#10;&#10;Le contenu généré par l’IA peut être incorrect.">
            <a:extLst>
              <a:ext uri="{FF2B5EF4-FFF2-40B4-BE49-F238E27FC236}">
                <a16:creationId xmlns:a16="http://schemas.microsoft.com/office/drawing/2014/main" id="{C5537110-CA0C-5CC9-014D-C5683DD217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6475" y="1111045"/>
            <a:ext cx="9179050" cy="5381830"/>
          </a:xfrm>
          <a:prstGeom prst="rect">
            <a:avLst/>
          </a:prstGeom>
        </p:spPr>
      </p:pic>
    </p:spTree>
    <p:extLst>
      <p:ext uri="{BB962C8B-B14F-4D97-AF65-F5344CB8AC3E}">
        <p14:creationId xmlns:p14="http://schemas.microsoft.com/office/powerpoint/2010/main" val="1084632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121749-B5C1-62E6-B79D-521AC7220C11}"/>
              </a:ext>
            </a:extLst>
          </p:cNvPr>
          <p:cNvSpPr>
            <a:spLocks noGrp="1"/>
          </p:cNvSpPr>
          <p:nvPr>
            <p:ph type="title"/>
          </p:nvPr>
        </p:nvSpPr>
        <p:spPr>
          <a:xfrm>
            <a:off x="838200" y="0"/>
            <a:ext cx="10515600" cy="1325563"/>
          </a:xfrm>
        </p:spPr>
        <p:txBody>
          <a:bodyPr>
            <a:normAutofit/>
          </a:bodyPr>
          <a:lstStyle/>
          <a:p>
            <a:pPr algn="ctr"/>
            <a:r>
              <a:rPr lang="fr-FR" sz="2900" dirty="0">
                <a:latin typeface="Bookman Old Style" panose="02050604050505020204" pitchFamily="18" charset="0"/>
              </a:rPr>
              <a:t>General distribution of content </a:t>
            </a:r>
            <a:r>
              <a:rPr lang="fr-FR" sz="2900" dirty="0" err="1">
                <a:latin typeface="Bookman Old Style" panose="02050604050505020204" pitchFamily="18" charset="0"/>
              </a:rPr>
              <a:t>categories</a:t>
            </a:r>
            <a:endParaRPr lang="fr-FR" sz="2900" dirty="0">
              <a:latin typeface="Bookman Old Style" panose="02050604050505020204" pitchFamily="18" charset="0"/>
            </a:endParaRPr>
          </a:p>
        </p:txBody>
      </p:sp>
      <p:pic>
        <p:nvPicPr>
          <p:cNvPr id="9" name="Espace réservé du contenu 8" descr="Une image contenant texte, capture d’écran, Caractère coloré, diagramme&#10;&#10;Le contenu généré par l’IA peut être incorrect.">
            <a:extLst>
              <a:ext uri="{FF2B5EF4-FFF2-40B4-BE49-F238E27FC236}">
                <a16:creationId xmlns:a16="http://schemas.microsoft.com/office/drawing/2014/main" id="{102CB9FB-FF88-1293-674D-199E006AF0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03555"/>
            <a:ext cx="12243529" cy="4050890"/>
          </a:xfrm>
          <a:prstGeom prst="rect">
            <a:avLst/>
          </a:prstGeom>
        </p:spPr>
      </p:pic>
      <p:sp>
        <p:nvSpPr>
          <p:cNvPr id="10" name="ZoneTexte 9">
            <a:extLst>
              <a:ext uri="{FF2B5EF4-FFF2-40B4-BE49-F238E27FC236}">
                <a16:creationId xmlns:a16="http://schemas.microsoft.com/office/drawing/2014/main" id="{90B13D58-CAFF-145B-E1CE-AE4DF258D1DE}"/>
              </a:ext>
            </a:extLst>
          </p:cNvPr>
          <p:cNvSpPr txBox="1"/>
          <p:nvPr/>
        </p:nvSpPr>
        <p:spPr>
          <a:xfrm>
            <a:off x="2536723" y="5751871"/>
            <a:ext cx="906082" cy="369332"/>
          </a:xfrm>
          <a:prstGeom prst="rect">
            <a:avLst/>
          </a:prstGeom>
          <a:noFill/>
        </p:spPr>
        <p:txBody>
          <a:bodyPr wrap="none" rtlCol="0">
            <a:spAutoFit/>
          </a:bodyPr>
          <a:lstStyle/>
          <a:p>
            <a:r>
              <a:rPr lang="fr-FR" dirty="0" err="1"/>
              <a:t>Dream</a:t>
            </a:r>
            <a:r>
              <a:rPr lang="fr-FR" dirty="0"/>
              <a:t> </a:t>
            </a:r>
          </a:p>
        </p:txBody>
      </p:sp>
      <p:sp>
        <p:nvSpPr>
          <p:cNvPr id="11" name="ZoneTexte 10">
            <a:extLst>
              <a:ext uri="{FF2B5EF4-FFF2-40B4-BE49-F238E27FC236}">
                <a16:creationId xmlns:a16="http://schemas.microsoft.com/office/drawing/2014/main" id="{BDCF9F71-1BD1-3D3E-7669-A952F3C3F93A}"/>
              </a:ext>
            </a:extLst>
          </p:cNvPr>
          <p:cNvSpPr txBox="1"/>
          <p:nvPr/>
        </p:nvSpPr>
        <p:spPr>
          <a:xfrm>
            <a:off x="8346072" y="5795842"/>
            <a:ext cx="1809341" cy="369332"/>
          </a:xfrm>
          <a:prstGeom prst="rect">
            <a:avLst/>
          </a:prstGeom>
          <a:noFill/>
        </p:spPr>
        <p:txBody>
          <a:bodyPr wrap="none" rtlCol="0">
            <a:spAutoFit/>
          </a:bodyPr>
          <a:lstStyle/>
          <a:p>
            <a:r>
              <a:rPr lang="fr-FR" dirty="0" err="1"/>
              <a:t>Mind</a:t>
            </a:r>
            <a:r>
              <a:rPr lang="fr-FR" dirty="0"/>
              <a:t> </a:t>
            </a:r>
            <a:r>
              <a:rPr lang="fr-FR" dirty="0" err="1"/>
              <a:t>wandering</a:t>
            </a:r>
            <a:r>
              <a:rPr lang="fr-FR" dirty="0"/>
              <a:t> </a:t>
            </a:r>
          </a:p>
        </p:txBody>
      </p:sp>
    </p:spTree>
    <p:extLst>
      <p:ext uri="{BB962C8B-B14F-4D97-AF65-F5344CB8AC3E}">
        <p14:creationId xmlns:p14="http://schemas.microsoft.com/office/powerpoint/2010/main" val="743877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8915-2A80-6BA1-2187-400A850401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47A23FC-2F09-41A1-77A5-CA81EC71E953}"/>
              </a:ext>
            </a:extLst>
          </p:cNvPr>
          <p:cNvSpPr>
            <a:spLocks noGrp="1"/>
          </p:cNvSpPr>
          <p:nvPr>
            <p:ph type="title"/>
          </p:nvPr>
        </p:nvSpPr>
        <p:spPr>
          <a:xfrm>
            <a:off x="838200" y="0"/>
            <a:ext cx="10515600" cy="1325563"/>
          </a:xfrm>
        </p:spPr>
        <p:txBody>
          <a:bodyPr>
            <a:normAutofit/>
          </a:bodyPr>
          <a:lstStyle/>
          <a:p>
            <a:pPr algn="ctr"/>
            <a:r>
              <a:rPr lang="fr-FR" sz="2900" dirty="0">
                <a:latin typeface="Bookman Old Style" panose="02050604050505020204" pitchFamily="18" charset="0"/>
              </a:rPr>
              <a:t>General distribution of content </a:t>
            </a:r>
            <a:r>
              <a:rPr lang="fr-FR" sz="2900" dirty="0" err="1">
                <a:latin typeface="Bookman Old Style" panose="02050604050505020204" pitchFamily="18" charset="0"/>
              </a:rPr>
              <a:t>categories</a:t>
            </a:r>
            <a:endParaRPr lang="fr-FR" sz="2900" dirty="0">
              <a:latin typeface="Bookman Old Style" panose="02050604050505020204" pitchFamily="18" charset="0"/>
            </a:endParaRPr>
          </a:p>
        </p:txBody>
      </p:sp>
      <p:pic>
        <p:nvPicPr>
          <p:cNvPr id="9" name="Espace réservé du contenu 8" descr="Une image contenant texte, capture d’écran, Caractère coloré, diagramme&#10;&#10;Le contenu généré par l’IA peut être incorrect.">
            <a:extLst>
              <a:ext uri="{FF2B5EF4-FFF2-40B4-BE49-F238E27FC236}">
                <a16:creationId xmlns:a16="http://schemas.microsoft.com/office/drawing/2014/main" id="{F3D06F8D-85B5-D3AF-AF44-444D8FB1C0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403555"/>
            <a:ext cx="12243529" cy="4050890"/>
          </a:xfrm>
          <a:prstGeom prst="rect">
            <a:avLst/>
          </a:prstGeom>
        </p:spPr>
      </p:pic>
      <p:sp>
        <p:nvSpPr>
          <p:cNvPr id="10" name="ZoneTexte 9">
            <a:extLst>
              <a:ext uri="{FF2B5EF4-FFF2-40B4-BE49-F238E27FC236}">
                <a16:creationId xmlns:a16="http://schemas.microsoft.com/office/drawing/2014/main" id="{7CC24EC2-EBF2-340C-D1BC-0DAF031F8532}"/>
              </a:ext>
            </a:extLst>
          </p:cNvPr>
          <p:cNvSpPr txBox="1"/>
          <p:nvPr/>
        </p:nvSpPr>
        <p:spPr>
          <a:xfrm>
            <a:off x="2536723" y="5751871"/>
            <a:ext cx="2418419" cy="369332"/>
          </a:xfrm>
          <a:prstGeom prst="rect">
            <a:avLst/>
          </a:prstGeom>
          <a:noFill/>
        </p:spPr>
        <p:txBody>
          <a:bodyPr wrap="none" rtlCol="0">
            <a:spAutoFit/>
          </a:bodyPr>
          <a:lstStyle/>
          <a:p>
            <a:r>
              <a:rPr lang="fr-FR" dirty="0" err="1"/>
              <a:t>Kirberg</a:t>
            </a:r>
            <a:r>
              <a:rPr lang="fr-FR" dirty="0"/>
              <a:t> et </a:t>
            </a:r>
            <a:r>
              <a:rPr lang="fr-FR" dirty="0" err="1"/>
              <a:t>Windt</a:t>
            </a:r>
            <a:r>
              <a:rPr lang="fr-FR" dirty="0"/>
              <a:t>, 2026 </a:t>
            </a:r>
          </a:p>
        </p:txBody>
      </p:sp>
      <p:sp>
        <p:nvSpPr>
          <p:cNvPr id="11" name="ZoneTexte 10">
            <a:extLst>
              <a:ext uri="{FF2B5EF4-FFF2-40B4-BE49-F238E27FC236}">
                <a16:creationId xmlns:a16="http://schemas.microsoft.com/office/drawing/2014/main" id="{EA6CA063-AE7F-124E-93E6-036C0A5B45BA}"/>
              </a:ext>
            </a:extLst>
          </p:cNvPr>
          <p:cNvSpPr txBox="1"/>
          <p:nvPr/>
        </p:nvSpPr>
        <p:spPr>
          <a:xfrm>
            <a:off x="8346072" y="5795842"/>
            <a:ext cx="2213170" cy="369332"/>
          </a:xfrm>
          <a:prstGeom prst="rect">
            <a:avLst/>
          </a:prstGeom>
          <a:noFill/>
        </p:spPr>
        <p:txBody>
          <a:bodyPr wrap="none" rtlCol="0">
            <a:spAutoFit/>
          </a:bodyPr>
          <a:lstStyle/>
          <a:p>
            <a:r>
              <a:rPr lang="fr-FR" dirty="0" err="1"/>
              <a:t>Revonsuo</a:t>
            </a:r>
            <a:r>
              <a:rPr lang="fr-FR" dirty="0"/>
              <a:t> et Al,1995</a:t>
            </a:r>
          </a:p>
        </p:txBody>
      </p:sp>
      <p:pic>
        <p:nvPicPr>
          <p:cNvPr id="4" name="Image 3" descr="Une image contenant texte, diagramme, cercle, capture d’écran&#10;&#10;Le contenu généré par l’IA peut être incorrect.">
            <a:extLst>
              <a:ext uri="{FF2B5EF4-FFF2-40B4-BE49-F238E27FC236}">
                <a16:creationId xmlns:a16="http://schemas.microsoft.com/office/drawing/2014/main" id="{EAD53534-B14C-7FCA-BB56-BB87DA69630B}"/>
              </a:ext>
            </a:extLst>
          </p:cNvPr>
          <p:cNvPicPr>
            <a:picLocks noChangeAspect="1"/>
          </p:cNvPicPr>
          <p:nvPr/>
        </p:nvPicPr>
        <p:blipFill>
          <a:blip r:embed="rId3"/>
          <a:stretch>
            <a:fillRect/>
          </a:stretch>
        </p:blipFill>
        <p:spPr>
          <a:xfrm>
            <a:off x="6218065" y="1403555"/>
            <a:ext cx="5964226" cy="4050890"/>
          </a:xfrm>
          <a:prstGeom prst="rect">
            <a:avLst/>
          </a:prstGeom>
        </p:spPr>
      </p:pic>
    </p:spTree>
    <p:extLst>
      <p:ext uri="{BB962C8B-B14F-4D97-AF65-F5344CB8AC3E}">
        <p14:creationId xmlns:p14="http://schemas.microsoft.com/office/powerpoint/2010/main" val="408827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DF483-5CB5-21CE-95D9-C8CB7F5001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BEC3464-9D3B-184D-ACCA-48907ECA878B}"/>
              </a:ext>
            </a:extLst>
          </p:cNvPr>
          <p:cNvSpPr>
            <a:spLocks noGrp="1"/>
          </p:cNvSpPr>
          <p:nvPr>
            <p:ph type="title"/>
          </p:nvPr>
        </p:nvSpPr>
        <p:spPr>
          <a:xfrm>
            <a:off x="838200" y="0"/>
            <a:ext cx="10515600" cy="1325563"/>
          </a:xfrm>
        </p:spPr>
        <p:txBody>
          <a:bodyPr>
            <a:noAutofit/>
          </a:bodyPr>
          <a:lstStyle/>
          <a:p>
            <a:pPr algn="ctr"/>
            <a:r>
              <a:rPr lang="fr-FR" sz="2900" dirty="0">
                <a:latin typeface="Bookman Old Style" panose="02050604050505020204" pitchFamily="18" charset="0"/>
              </a:rPr>
              <a:t>Distribution of </a:t>
            </a:r>
            <a:r>
              <a:rPr lang="fr-FR" sz="2900" dirty="0" err="1">
                <a:latin typeface="Bookman Old Style" panose="02050604050505020204" pitchFamily="18" charset="0"/>
              </a:rPr>
              <a:t>incongruous</a:t>
            </a:r>
            <a:r>
              <a:rPr lang="fr-FR" sz="2900" dirty="0">
                <a:latin typeface="Bookman Old Style" panose="02050604050505020204" pitchFamily="18" charset="0"/>
              </a:rPr>
              <a:t> </a:t>
            </a:r>
            <a:r>
              <a:rPr lang="fr-FR" sz="2900" dirty="0" err="1">
                <a:latin typeface="Bookman Old Style" panose="02050604050505020204" pitchFamily="18" charset="0"/>
              </a:rPr>
              <a:t>elements</a:t>
            </a:r>
            <a:r>
              <a:rPr lang="fr-FR" sz="2900" dirty="0">
                <a:latin typeface="Bookman Old Style" panose="02050604050505020204" pitchFamily="18" charset="0"/>
              </a:rPr>
              <a:t> in </a:t>
            </a:r>
            <a:r>
              <a:rPr lang="fr-FR" sz="2900" dirty="0" err="1">
                <a:latin typeface="Bookman Old Style" panose="02050604050505020204" pitchFamily="18" charset="0"/>
              </a:rPr>
              <a:t>different</a:t>
            </a:r>
            <a:r>
              <a:rPr lang="fr-FR" sz="2900" dirty="0">
                <a:latin typeface="Bookman Old Style" panose="02050604050505020204" pitchFamily="18" charset="0"/>
              </a:rPr>
              <a:t> content </a:t>
            </a:r>
            <a:r>
              <a:rPr lang="fr-FR" sz="2900" dirty="0" err="1">
                <a:latin typeface="Bookman Old Style" panose="02050604050505020204" pitchFamily="18" charset="0"/>
              </a:rPr>
              <a:t>categories</a:t>
            </a:r>
            <a:r>
              <a:rPr lang="fr-FR" sz="2900" dirty="0">
                <a:latin typeface="Bookman Old Style" panose="02050604050505020204" pitchFamily="18" charset="0"/>
              </a:rPr>
              <a:t> in </a:t>
            </a:r>
            <a:r>
              <a:rPr lang="fr-FR" sz="2900" dirty="0" err="1">
                <a:latin typeface="Bookman Old Style" panose="02050604050505020204" pitchFamily="18" charset="0"/>
              </a:rPr>
              <a:t>dreaming</a:t>
            </a:r>
            <a:r>
              <a:rPr lang="fr-FR" sz="2900" dirty="0">
                <a:latin typeface="Bookman Old Style" panose="02050604050505020204" pitchFamily="18" charset="0"/>
              </a:rPr>
              <a:t> vs </a:t>
            </a:r>
            <a:r>
              <a:rPr lang="fr-FR" sz="2900" dirty="0" err="1">
                <a:latin typeface="Bookman Old Style" panose="02050604050505020204" pitchFamily="18" charset="0"/>
              </a:rPr>
              <a:t>mind</a:t>
            </a:r>
            <a:r>
              <a:rPr lang="fr-FR" sz="2900" dirty="0">
                <a:latin typeface="Bookman Old Style" panose="02050604050505020204" pitchFamily="18" charset="0"/>
              </a:rPr>
              <a:t> </a:t>
            </a:r>
            <a:r>
              <a:rPr lang="fr-FR" sz="2900" dirty="0" err="1">
                <a:latin typeface="Bookman Old Style" panose="02050604050505020204" pitchFamily="18" charset="0"/>
              </a:rPr>
              <a:t>wandering</a:t>
            </a:r>
            <a:endParaRPr lang="fr-FR" sz="2900" dirty="0">
              <a:latin typeface="Bookman Old Style" panose="02050604050505020204" pitchFamily="18" charset="0"/>
            </a:endParaRPr>
          </a:p>
        </p:txBody>
      </p:sp>
      <p:pic>
        <p:nvPicPr>
          <p:cNvPr id="6" name="Espace réservé du contenu 5" descr="Une image contenant texte, capture d’écran, logiciel, nombre&#10;&#10;Le contenu généré par l’IA peut être incorrect.">
            <a:extLst>
              <a:ext uri="{FF2B5EF4-FFF2-40B4-BE49-F238E27FC236}">
                <a16:creationId xmlns:a16="http://schemas.microsoft.com/office/drawing/2014/main" id="{CB761929-9CD7-783C-D749-3E440C94F9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8662" y="1484669"/>
            <a:ext cx="5967619" cy="3490453"/>
          </a:xfrm>
          <a:prstGeom prst="rect">
            <a:avLst/>
          </a:prstGeom>
        </p:spPr>
      </p:pic>
      <p:pic>
        <p:nvPicPr>
          <p:cNvPr id="8" name="Image 7" descr="Une image contenant texte, capture d’écran, Parallèle, diagramme&#10;&#10;Le contenu généré par l’IA peut être incorrect.">
            <a:extLst>
              <a:ext uri="{FF2B5EF4-FFF2-40B4-BE49-F238E27FC236}">
                <a16:creationId xmlns:a16="http://schemas.microsoft.com/office/drawing/2014/main" id="{36DF2C26-71BC-CBF1-C91E-4F127BFB8CC5}"/>
              </a:ext>
            </a:extLst>
          </p:cNvPr>
          <p:cNvPicPr>
            <a:picLocks noChangeAspect="1"/>
          </p:cNvPicPr>
          <p:nvPr/>
        </p:nvPicPr>
        <p:blipFill>
          <a:blip r:embed="rId3"/>
          <a:stretch>
            <a:fillRect/>
          </a:stretch>
        </p:blipFill>
        <p:spPr>
          <a:xfrm>
            <a:off x="6566281" y="1325563"/>
            <a:ext cx="4622830" cy="5115378"/>
          </a:xfrm>
          <a:prstGeom prst="rect">
            <a:avLst/>
          </a:prstGeom>
        </p:spPr>
      </p:pic>
    </p:spTree>
    <p:extLst>
      <p:ext uri="{BB962C8B-B14F-4D97-AF65-F5344CB8AC3E}">
        <p14:creationId xmlns:p14="http://schemas.microsoft.com/office/powerpoint/2010/main" val="3729785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1B6B9-C60A-6FF8-FAD2-92F4AE8BD95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F02ADAA-350E-1E3F-C140-9AC372EB3872}"/>
              </a:ext>
            </a:extLst>
          </p:cNvPr>
          <p:cNvSpPr>
            <a:spLocks noGrp="1"/>
          </p:cNvSpPr>
          <p:nvPr>
            <p:ph type="title"/>
          </p:nvPr>
        </p:nvSpPr>
        <p:spPr>
          <a:xfrm>
            <a:off x="838200" y="0"/>
            <a:ext cx="10515600" cy="1325563"/>
          </a:xfrm>
        </p:spPr>
        <p:txBody>
          <a:bodyPr>
            <a:noAutofit/>
          </a:bodyPr>
          <a:lstStyle/>
          <a:p>
            <a:pPr algn="ctr"/>
            <a:r>
              <a:rPr lang="fr-FR" sz="2900" dirty="0">
                <a:latin typeface="Bookman Old Style" panose="02050604050505020204" pitchFamily="18" charset="0"/>
              </a:rPr>
              <a:t>Distribution of </a:t>
            </a:r>
            <a:r>
              <a:rPr lang="fr-FR" sz="2900" dirty="0" err="1">
                <a:latin typeface="Bookman Old Style" panose="02050604050505020204" pitchFamily="18" charset="0"/>
              </a:rPr>
              <a:t>subtypes</a:t>
            </a:r>
            <a:r>
              <a:rPr lang="fr-FR" sz="2900" dirty="0">
                <a:latin typeface="Bookman Old Style" panose="02050604050505020204" pitchFamily="18" charset="0"/>
              </a:rPr>
              <a:t> of </a:t>
            </a:r>
            <a:r>
              <a:rPr lang="fr-FR" sz="2900" dirty="0" err="1">
                <a:latin typeface="Bookman Old Style" panose="02050604050505020204" pitchFamily="18" charset="0"/>
              </a:rPr>
              <a:t>incongruous</a:t>
            </a:r>
            <a:r>
              <a:rPr lang="fr-FR" sz="2900" dirty="0">
                <a:latin typeface="Bookman Old Style" panose="02050604050505020204" pitchFamily="18" charset="0"/>
              </a:rPr>
              <a:t> </a:t>
            </a:r>
            <a:r>
              <a:rPr lang="fr-FR" sz="2900" dirty="0" err="1">
                <a:latin typeface="Bookman Old Style" panose="02050604050505020204" pitchFamily="18" charset="0"/>
              </a:rPr>
              <a:t>elements</a:t>
            </a:r>
            <a:r>
              <a:rPr lang="fr-FR" sz="2900" dirty="0">
                <a:latin typeface="Bookman Old Style" panose="02050604050505020204" pitchFamily="18" charset="0"/>
              </a:rPr>
              <a:t> </a:t>
            </a:r>
            <a:r>
              <a:rPr lang="fr-FR" sz="2900" dirty="0" err="1">
                <a:latin typeface="Bookman Old Style" panose="02050604050505020204" pitchFamily="18" charset="0"/>
              </a:rPr>
              <a:t>across</a:t>
            </a:r>
            <a:r>
              <a:rPr lang="fr-FR" sz="2900" dirty="0">
                <a:latin typeface="Bookman Old Style" panose="02050604050505020204" pitchFamily="18" charset="0"/>
              </a:rPr>
              <a:t> content </a:t>
            </a:r>
            <a:r>
              <a:rPr lang="fr-FR" sz="2900" dirty="0" err="1">
                <a:latin typeface="Bookman Old Style" panose="02050604050505020204" pitchFamily="18" charset="0"/>
              </a:rPr>
              <a:t>categories</a:t>
            </a:r>
            <a:r>
              <a:rPr lang="fr-FR" sz="2900" dirty="0">
                <a:latin typeface="Bookman Old Style" panose="02050604050505020204" pitchFamily="18" charset="0"/>
              </a:rPr>
              <a:t> in </a:t>
            </a:r>
            <a:r>
              <a:rPr lang="fr-FR" sz="2900" dirty="0" err="1">
                <a:latin typeface="Bookman Old Style" panose="02050604050505020204" pitchFamily="18" charset="0"/>
              </a:rPr>
              <a:t>dreaming</a:t>
            </a:r>
            <a:r>
              <a:rPr lang="fr-FR" sz="2900" dirty="0">
                <a:latin typeface="Bookman Old Style" panose="02050604050505020204" pitchFamily="18" charset="0"/>
              </a:rPr>
              <a:t> and </a:t>
            </a:r>
            <a:r>
              <a:rPr lang="fr-FR" sz="2900" dirty="0" err="1">
                <a:latin typeface="Bookman Old Style" panose="02050604050505020204" pitchFamily="18" charset="0"/>
              </a:rPr>
              <a:t>mind</a:t>
            </a:r>
            <a:r>
              <a:rPr lang="fr-FR" sz="2900" dirty="0">
                <a:latin typeface="Bookman Old Style" panose="02050604050505020204" pitchFamily="18" charset="0"/>
              </a:rPr>
              <a:t> </a:t>
            </a:r>
            <a:r>
              <a:rPr lang="fr-FR" sz="2900" dirty="0" err="1">
                <a:latin typeface="Bookman Old Style" panose="02050604050505020204" pitchFamily="18" charset="0"/>
              </a:rPr>
              <a:t>wandering</a:t>
            </a:r>
            <a:endParaRPr lang="fr-FR" sz="2900" dirty="0">
              <a:latin typeface="Bookman Old Style" panose="02050604050505020204" pitchFamily="18" charset="0"/>
            </a:endParaRPr>
          </a:p>
        </p:txBody>
      </p:sp>
      <p:pic>
        <p:nvPicPr>
          <p:cNvPr id="7" name="Espace réservé du contenu 6" descr="Une image contenant texte, diagramme, capture d’écran&#10;&#10;Le contenu généré par l’IA peut être incorrect.">
            <a:extLst>
              <a:ext uri="{FF2B5EF4-FFF2-40B4-BE49-F238E27FC236}">
                <a16:creationId xmlns:a16="http://schemas.microsoft.com/office/drawing/2014/main" id="{94E4E5A0-5A68-2CD1-9BC1-E88699BE5F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00357" y="1325563"/>
            <a:ext cx="7991285" cy="5285516"/>
          </a:xfrm>
          <a:prstGeom prst="rect">
            <a:avLst/>
          </a:prstGeom>
        </p:spPr>
      </p:pic>
    </p:spTree>
    <p:extLst>
      <p:ext uri="{BB962C8B-B14F-4D97-AF65-F5344CB8AC3E}">
        <p14:creationId xmlns:p14="http://schemas.microsoft.com/office/powerpoint/2010/main" val="3316830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ECAA2-2300-00EA-106C-849CA00B3C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6593CDE-9016-54AE-76D1-59C02109B55C}"/>
              </a:ext>
            </a:extLst>
          </p:cNvPr>
          <p:cNvSpPr>
            <a:spLocks noGrp="1"/>
          </p:cNvSpPr>
          <p:nvPr>
            <p:ph type="title"/>
          </p:nvPr>
        </p:nvSpPr>
        <p:spPr>
          <a:xfrm>
            <a:off x="838200" y="0"/>
            <a:ext cx="10515600" cy="1325563"/>
          </a:xfrm>
        </p:spPr>
        <p:txBody>
          <a:bodyPr>
            <a:noAutofit/>
          </a:bodyPr>
          <a:lstStyle/>
          <a:p>
            <a:pPr algn="ctr"/>
            <a:r>
              <a:rPr lang="fr-FR" sz="2900" dirty="0">
                <a:latin typeface="Bookman Old Style" panose="02050604050505020204" pitchFamily="18" charset="0"/>
              </a:rPr>
              <a:t>Distribution of vague </a:t>
            </a:r>
            <a:r>
              <a:rPr lang="fr-FR" sz="2900" dirty="0" err="1">
                <a:latin typeface="Bookman Old Style" panose="02050604050505020204" pitchFamily="18" charset="0"/>
              </a:rPr>
              <a:t>elements</a:t>
            </a:r>
            <a:r>
              <a:rPr lang="fr-FR" sz="2900" dirty="0">
                <a:latin typeface="Bookman Old Style" panose="02050604050505020204" pitchFamily="18" charset="0"/>
              </a:rPr>
              <a:t> in </a:t>
            </a:r>
            <a:r>
              <a:rPr lang="fr-FR" sz="2900" dirty="0" err="1">
                <a:latin typeface="Bookman Old Style" panose="02050604050505020204" pitchFamily="18" charset="0"/>
              </a:rPr>
              <a:t>different</a:t>
            </a:r>
            <a:r>
              <a:rPr lang="fr-FR" sz="2900" dirty="0">
                <a:latin typeface="Bookman Old Style" panose="02050604050505020204" pitchFamily="18" charset="0"/>
              </a:rPr>
              <a:t> </a:t>
            </a:r>
            <a:r>
              <a:rPr lang="fr-FR" sz="2900" dirty="0" err="1">
                <a:latin typeface="Bookman Old Style" panose="02050604050505020204" pitchFamily="18" charset="0"/>
              </a:rPr>
              <a:t>categories</a:t>
            </a:r>
            <a:r>
              <a:rPr lang="fr-FR" sz="2900" dirty="0">
                <a:latin typeface="Bookman Old Style" panose="02050604050505020204" pitchFamily="18" charset="0"/>
              </a:rPr>
              <a:t> in </a:t>
            </a:r>
            <a:r>
              <a:rPr lang="fr-FR" sz="2900" dirty="0" err="1">
                <a:latin typeface="Bookman Old Style" panose="02050604050505020204" pitchFamily="18" charset="0"/>
              </a:rPr>
              <a:t>dreaming</a:t>
            </a:r>
            <a:r>
              <a:rPr lang="fr-FR" sz="2900" dirty="0">
                <a:latin typeface="Bookman Old Style" panose="02050604050505020204" pitchFamily="18" charset="0"/>
              </a:rPr>
              <a:t> vs </a:t>
            </a:r>
            <a:r>
              <a:rPr lang="fr-FR" sz="2900" dirty="0" err="1">
                <a:latin typeface="Bookman Old Style" panose="02050604050505020204" pitchFamily="18" charset="0"/>
              </a:rPr>
              <a:t>mind</a:t>
            </a:r>
            <a:r>
              <a:rPr lang="fr-FR" sz="2900" dirty="0">
                <a:latin typeface="Bookman Old Style" panose="02050604050505020204" pitchFamily="18" charset="0"/>
              </a:rPr>
              <a:t> </a:t>
            </a:r>
            <a:r>
              <a:rPr lang="fr-FR" sz="2900" dirty="0" err="1">
                <a:latin typeface="Bookman Old Style" panose="02050604050505020204" pitchFamily="18" charset="0"/>
              </a:rPr>
              <a:t>wandering</a:t>
            </a:r>
            <a:endParaRPr lang="fr-FR" sz="2900" dirty="0">
              <a:latin typeface="Bookman Old Style" panose="02050604050505020204" pitchFamily="18" charset="0"/>
            </a:endParaRPr>
          </a:p>
        </p:txBody>
      </p:sp>
      <p:pic>
        <p:nvPicPr>
          <p:cNvPr id="6" name="Espace réservé du contenu 5" descr="Une image contenant texte, capture d’écran, logiciel, nombre&#10;&#10;Le contenu généré par l’IA peut être incorrect.">
            <a:extLst>
              <a:ext uri="{FF2B5EF4-FFF2-40B4-BE49-F238E27FC236}">
                <a16:creationId xmlns:a16="http://schemas.microsoft.com/office/drawing/2014/main" id="{CAA9E87A-5C98-B83B-9A4A-80CC2370EA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309" y="1520896"/>
            <a:ext cx="6544468" cy="3827852"/>
          </a:xfrm>
          <a:prstGeom prst="rect">
            <a:avLst/>
          </a:prstGeom>
        </p:spPr>
      </p:pic>
      <p:pic>
        <p:nvPicPr>
          <p:cNvPr id="9" name="Image 8" descr="Une image contenant texte, capture d’écran, diagramme, Parallèle&#10;&#10;Le contenu généré par l’IA peut être incorrect.">
            <a:extLst>
              <a:ext uri="{FF2B5EF4-FFF2-40B4-BE49-F238E27FC236}">
                <a16:creationId xmlns:a16="http://schemas.microsoft.com/office/drawing/2014/main" id="{EF9B2628-33A0-8838-7676-F28FB3718CED}"/>
              </a:ext>
            </a:extLst>
          </p:cNvPr>
          <p:cNvPicPr>
            <a:picLocks noChangeAspect="1"/>
          </p:cNvPicPr>
          <p:nvPr/>
        </p:nvPicPr>
        <p:blipFill>
          <a:blip r:embed="rId3"/>
          <a:stretch>
            <a:fillRect/>
          </a:stretch>
        </p:blipFill>
        <p:spPr>
          <a:xfrm>
            <a:off x="7191568" y="1325563"/>
            <a:ext cx="4508819" cy="5196912"/>
          </a:xfrm>
          <a:prstGeom prst="rect">
            <a:avLst/>
          </a:prstGeom>
        </p:spPr>
      </p:pic>
    </p:spTree>
    <p:extLst>
      <p:ext uri="{BB962C8B-B14F-4D97-AF65-F5344CB8AC3E}">
        <p14:creationId xmlns:p14="http://schemas.microsoft.com/office/powerpoint/2010/main" val="3837508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A87B4-8675-B122-11DF-59189A6B85C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3934EC1-DD25-F584-CF16-55B77B5F13A3}"/>
              </a:ext>
            </a:extLst>
          </p:cNvPr>
          <p:cNvSpPr>
            <a:spLocks noGrp="1"/>
          </p:cNvSpPr>
          <p:nvPr>
            <p:ph type="title"/>
          </p:nvPr>
        </p:nvSpPr>
        <p:spPr>
          <a:xfrm>
            <a:off x="838200" y="0"/>
            <a:ext cx="10515600" cy="1325563"/>
          </a:xfrm>
        </p:spPr>
        <p:txBody>
          <a:bodyPr>
            <a:noAutofit/>
          </a:bodyPr>
          <a:lstStyle/>
          <a:p>
            <a:pPr algn="ctr"/>
            <a:r>
              <a:rPr lang="fr-FR" sz="2900" dirty="0">
                <a:latin typeface="Bookman Old Style" panose="02050604050505020204" pitchFamily="18" charset="0"/>
              </a:rPr>
              <a:t>Distribution of </a:t>
            </a:r>
            <a:r>
              <a:rPr lang="fr-FR" sz="2900" dirty="0" err="1">
                <a:latin typeface="Bookman Old Style" panose="02050604050505020204" pitchFamily="18" charset="0"/>
              </a:rPr>
              <a:t>discontinuous</a:t>
            </a:r>
            <a:r>
              <a:rPr lang="fr-FR" sz="2900" dirty="0">
                <a:latin typeface="Bookman Old Style" panose="02050604050505020204" pitchFamily="18" charset="0"/>
              </a:rPr>
              <a:t> </a:t>
            </a:r>
            <a:r>
              <a:rPr lang="fr-FR" sz="2900" dirty="0" err="1">
                <a:latin typeface="Bookman Old Style" panose="02050604050505020204" pitchFamily="18" charset="0"/>
              </a:rPr>
              <a:t>elements</a:t>
            </a:r>
            <a:r>
              <a:rPr lang="fr-FR" sz="2900" dirty="0">
                <a:latin typeface="Bookman Old Style" panose="02050604050505020204" pitchFamily="18" charset="0"/>
              </a:rPr>
              <a:t> in </a:t>
            </a:r>
            <a:r>
              <a:rPr lang="fr-FR" sz="2900" dirty="0" err="1">
                <a:latin typeface="Bookman Old Style" panose="02050604050505020204" pitchFamily="18" charset="0"/>
              </a:rPr>
              <a:t>different</a:t>
            </a:r>
            <a:r>
              <a:rPr lang="fr-FR" sz="2900" dirty="0">
                <a:latin typeface="Bookman Old Style" panose="02050604050505020204" pitchFamily="18" charset="0"/>
              </a:rPr>
              <a:t> content </a:t>
            </a:r>
            <a:r>
              <a:rPr lang="fr-FR" sz="2900" dirty="0" err="1">
                <a:latin typeface="Bookman Old Style" panose="02050604050505020204" pitchFamily="18" charset="0"/>
              </a:rPr>
              <a:t>categories</a:t>
            </a:r>
            <a:r>
              <a:rPr lang="fr-FR" sz="2900" dirty="0">
                <a:latin typeface="Bookman Old Style" panose="02050604050505020204" pitchFamily="18" charset="0"/>
              </a:rPr>
              <a:t> in </a:t>
            </a:r>
            <a:r>
              <a:rPr lang="fr-FR" sz="2900" dirty="0" err="1">
                <a:latin typeface="Bookman Old Style" panose="02050604050505020204" pitchFamily="18" charset="0"/>
              </a:rPr>
              <a:t>dreaming</a:t>
            </a:r>
            <a:r>
              <a:rPr lang="fr-FR" sz="2900" dirty="0">
                <a:latin typeface="Bookman Old Style" panose="02050604050505020204" pitchFamily="18" charset="0"/>
              </a:rPr>
              <a:t> vs </a:t>
            </a:r>
            <a:r>
              <a:rPr lang="fr-FR" sz="2900" dirty="0" err="1">
                <a:latin typeface="Bookman Old Style" panose="02050604050505020204" pitchFamily="18" charset="0"/>
              </a:rPr>
              <a:t>mind</a:t>
            </a:r>
            <a:r>
              <a:rPr lang="fr-FR" sz="2900" dirty="0">
                <a:latin typeface="Bookman Old Style" panose="02050604050505020204" pitchFamily="18" charset="0"/>
              </a:rPr>
              <a:t> </a:t>
            </a:r>
            <a:r>
              <a:rPr lang="fr-FR" sz="2900" dirty="0" err="1">
                <a:latin typeface="Bookman Old Style" panose="02050604050505020204" pitchFamily="18" charset="0"/>
              </a:rPr>
              <a:t>wandering</a:t>
            </a:r>
            <a:endParaRPr lang="fr-FR" sz="2900" dirty="0">
              <a:latin typeface="Bookman Old Style" panose="02050604050505020204" pitchFamily="18" charset="0"/>
            </a:endParaRPr>
          </a:p>
        </p:txBody>
      </p:sp>
      <p:pic>
        <p:nvPicPr>
          <p:cNvPr id="7" name="Espace réservé du contenu 6" descr="Une image contenant texte, capture d’écran, logiciel, Icône d’ordinateur&#10;&#10;Le contenu généré par l’IA peut être incorrect.">
            <a:extLst>
              <a:ext uri="{FF2B5EF4-FFF2-40B4-BE49-F238E27FC236}">
                <a16:creationId xmlns:a16="http://schemas.microsoft.com/office/drawing/2014/main" id="{3D0965FB-A258-E7D4-D525-93391E76FE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555" y="1875762"/>
            <a:ext cx="6771560" cy="3954767"/>
          </a:xfrm>
          <a:prstGeom prst="rect">
            <a:avLst/>
          </a:prstGeom>
        </p:spPr>
      </p:pic>
      <p:pic>
        <p:nvPicPr>
          <p:cNvPr id="9" name="Image 8" descr="Une image contenant texte, capture d’écran, diagramme, Parallèle&#10;&#10;Le contenu généré par l’IA peut être incorrect.">
            <a:extLst>
              <a:ext uri="{FF2B5EF4-FFF2-40B4-BE49-F238E27FC236}">
                <a16:creationId xmlns:a16="http://schemas.microsoft.com/office/drawing/2014/main" id="{9B828FBE-2538-B7C0-BBCB-F48EEE541598}"/>
              </a:ext>
            </a:extLst>
          </p:cNvPr>
          <p:cNvPicPr>
            <a:picLocks noChangeAspect="1"/>
          </p:cNvPicPr>
          <p:nvPr/>
        </p:nvPicPr>
        <p:blipFill>
          <a:blip r:embed="rId3"/>
          <a:stretch>
            <a:fillRect/>
          </a:stretch>
        </p:blipFill>
        <p:spPr>
          <a:xfrm>
            <a:off x="6950010" y="1667918"/>
            <a:ext cx="4403790" cy="4698468"/>
          </a:xfrm>
          <a:prstGeom prst="rect">
            <a:avLst/>
          </a:prstGeom>
        </p:spPr>
      </p:pic>
    </p:spTree>
    <p:extLst>
      <p:ext uri="{BB962C8B-B14F-4D97-AF65-F5344CB8AC3E}">
        <p14:creationId xmlns:p14="http://schemas.microsoft.com/office/powerpoint/2010/main" val="18770008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2154F-2247-D6AC-106A-A8A21981A96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313A3E7-3941-FCF6-3C08-1C04CEA73753}"/>
              </a:ext>
            </a:extLst>
          </p:cNvPr>
          <p:cNvSpPr>
            <a:spLocks noGrp="1"/>
          </p:cNvSpPr>
          <p:nvPr>
            <p:ph type="title"/>
          </p:nvPr>
        </p:nvSpPr>
        <p:spPr>
          <a:xfrm>
            <a:off x="704235" y="-293637"/>
            <a:ext cx="10783529" cy="1325563"/>
          </a:xfrm>
        </p:spPr>
        <p:txBody>
          <a:bodyPr>
            <a:normAutofit/>
          </a:bodyPr>
          <a:lstStyle/>
          <a:p>
            <a:pPr algn="ctr"/>
            <a:r>
              <a:rPr lang="fr-FR" sz="2900" dirty="0" err="1">
                <a:latin typeface="Bookman Old Style" panose="02050604050505020204" pitchFamily="18" charset="0"/>
              </a:rPr>
              <a:t>Scoring</a:t>
            </a:r>
            <a:r>
              <a:rPr lang="fr-FR" sz="2900" dirty="0">
                <a:latin typeface="Bookman Old Style" panose="02050604050505020204" pitchFamily="18" charset="0"/>
              </a:rPr>
              <a:t> questions for Manuela </a:t>
            </a:r>
            <a:r>
              <a:rPr lang="fr-FR" sz="2900" dirty="0" err="1">
                <a:latin typeface="Bookman Old Style" panose="02050604050505020204" pitchFamily="18" charset="0"/>
              </a:rPr>
              <a:t>Kirberg</a:t>
            </a:r>
            <a:r>
              <a:rPr lang="fr-FR" sz="2900" dirty="0">
                <a:latin typeface="Bookman Old Style" panose="02050604050505020204" pitchFamily="18" charset="0"/>
              </a:rPr>
              <a:t> and Jennifer </a:t>
            </a:r>
            <a:r>
              <a:rPr lang="fr-FR" sz="2900" dirty="0" err="1">
                <a:latin typeface="Bookman Old Style" panose="02050604050505020204" pitchFamily="18" charset="0"/>
              </a:rPr>
              <a:t>Windt</a:t>
            </a:r>
            <a:endParaRPr lang="fr-FR" sz="290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BB7F770D-3AFE-0786-CF8D-B3BCF9A9FF3D}"/>
              </a:ext>
            </a:extLst>
          </p:cNvPr>
          <p:cNvSpPr>
            <a:spLocks noGrp="1"/>
          </p:cNvSpPr>
          <p:nvPr>
            <p:ph idx="1"/>
          </p:nvPr>
        </p:nvSpPr>
        <p:spPr>
          <a:xfrm>
            <a:off x="838199" y="1253331"/>
            <a:ext cx="10515600" cy="4351338"/>
          </a:xfrm>
        </p:spPr>
        <p:txBody>
          <a:bodyPr>
            <a:noAutofit/>
          </a:bodyPr>
          <a:lstStyle/>
          <a:p>
            <a:r>
              <a:rPr lang="en-US" sz="2300" dirty="0"/>
              <a:t>Self – What about non-first-person dream or not self-representation perspective</a:t>
            </a:r>
          </a:p>
          <a:p>
            <a:r>
              <a:rPr lang="en-US" sz="2300" dirty="0"/>
              <a:t>Elements that can be considered as many things (or at least 2) “we” Self and persons. </a:t>
            </a:r>
          </a:p>
          <a:p>
            <a:r>
              <a:rPr lang="en-US" sz="2300" dirty="0"/>
              <a:t>What about subjectivity or implicit or vague elements where we can score things implicitly which are 99% sure but not explicitly mentioned.</a:t>
            </a:r>
            <a:endParaRPr lang="fr-FR" sz="2300" dirty="0"/>
          </a:p>
          <a:p>
            <a:endParaRPr lang="fr-FR" sz="2300" dirty="0"/>
          </a:p>
        </p:txBody>
      </p:sp>
    </p:spTree>
    <p:extLst>
      <p:ext uri="{BB962C8B-B14F-4D97-AF65-F5344CB8AC3E}">
        <p14:creationId xmlns:p14="http://schemas.microsoft.com/office/powerpoint/2010/main" val="29827991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E0B19-9DA6-4CDF-5B05-562BA3FA71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A8903C7-5042-604A-C358-358F41602634}"/>
              </a:ext>
            </a:extLst>
          </p:cNvPr>
          <p:cNvSpPr>
            <a:spLocks noGrp="1"/>
          </p:cNvSpPr>
          <p:nvPr>
            <p:ph type="title"/>
          </p:nvPr>
        </p:nvSpPr>
        <p:spPr>
          <a:xfrm>
            <a:off x="704235" y="-293637"/>
            <a:ext cx="10783529" cy="1325563"/>
          </a:xfrm>
        </p:spPr>
        <p:txBody>
          <a:bodyPr>
            <a:normAutofit/>
          </a:bodyPr>
          <a:lstStyle/>
          <a:p>
            <a:pPr algn="ctr"/>
            <a:r>
              <a:rPr lang="fr-FR" sz="2900" dirty="0" err="1">
                <a:latin typeface="Bookman Old Style" panose="02050604050505020204" pitchFamily="18" charset="0"/>
              </a:rPr>
              <a:t>Scoring</a:t>
            </a:r>
            <a:r>
              <a:rPr lang="fr-FR" sz="2900" dirty="0">
                <a:latin typeface="Bookman Old Style" panose="02050604050505020204" pitchFamily="18" charset="0"/>
              </a:rPr>
              <a:t> questions for Manuela </a:t>
            </a:r>
            <a:r>
              <a:rPr lang="fr-FR" sz="2900" dirty="0" err="1">
                <a:latin typeface="Bookman Old Style" panose="02050604050505020204" pitchFamily="18" charset="0"/>
              </a:rPr>
              <a:t>Kirberg</a:t>
            </a:r>
            <a:r>
              <a:rPr lang="fr-FR" sz="2900" dirty="0">
                <a:latin typeface="Bookman Old Style" panose="02050604050505020204" pitchFamily="18" charset="0"/>
              </a:rPr>
              <a:t> and Jennifer </a:t>
            </a:r>
            <a:r>
              <a:rPr lang="fr-FR" sz="2900" dirty="0" err="1">
                <a:latin typeface="Bookman Old Style" panose="02050604050505020204" pitchFamily="18" charset="0"/>
              </a:rPr>
              <a:t>Windt</a:t>
            </a:r>
            <a:endParaRPr lang="fr-FR" sz="2900" dirty="0">
              <a:latin typeface="Bookman Old Style" panose="02050604050505020204" pitchFamily="18" charset="0"/>
            </a:endParaRPr>
          </a:p>
        </p:txBody>
      </p:sp>
      <p:sp>
        <p:nvSpPr>
          <p:cNvPr id="3" name="Espace réservé du contenu 2">
            <a:extLst>
              <a:ext uri="{FF2B5EF4-FFF2-40B4-BE49-F238E27FC236}">
                <a16:creationId xmlns:a16="http://schemas.microsoft.com/office/drawing/2014/main" id="{1556E985-8EC0-AAF8-EFF7-33F3A852CFBE}"/>
              </a:ext>
            </a:extLst>
          </p:cNvPr>
          <p:cNvSpPr>
            <a:spLocks noGrp="1"/>
          </p:cNvSpPr>
          <p:nvPr>
            <p:ph idx="1"/>
          </p:nvPr>
        </p:nvSpPr>
        <p:spPr>
          <a:xfrm>
            <a:off x="838199" y="1253331"/>
            <a:ext cx="10515600" cy="4351338"/>
          </a:xfrm>
        </p:spPr>
        <p:txBody>
          <a:bodyPr>
            <a:noAutofit/>
          </a:bodyPr>
          <a:lstStyle/>
          <a:p>
            <a:r>
              <a:rPr lang="en-US" sz="2300" dirty="0"/>
              <a:t>Self – What about non-first-person dream or not self-representation perspective</a:t>
            </a:r>
          </a:p>
          <a:p>
            <a:r>
              <a:rPr lang="en-US" sz="2300" dirty="0"/>
              <a:t>Elements that can be considered as many things (or at least 2) “we” Self and persons. </a:t>
            </a:r>
          </a:p>
          <a:p>
            <a:r>
              <a:rPr lang="en-US" sz="2300" dirty="0"/>
              <a:t>What about subjectivity or implicit or vague elements where we can score things implicitly which are 99% sure but not explicitly mentioned.</a:t>
            </a:r>
            <a:endParaRPr lang="fr-FR" sz="2300" dirty="0"/>
          </a:p>
          <a:p>
            <a:r>
              <a:rPr lang="en-US" sz="2300" dirty="0"/>
              <a:t>Bizarreness can come from one element and the whole dream will be bizarre due to this element. Doing a tennis match in a </a:t>
            </a:r>
            <a:r>
              <a:rPr lang="en-US" sz="2300" dirty="0" err="1"/>
              <a:t>guimauve</a:t>
            </a:r>
            <a:r>
              <a:rPr lang="en-US" sz="2300" dirty="0"/>
              <a:t> stadium – place is bizarre, but all the actions carried out in this place will therefore be impacted by the place and be bizarre. Do we expect that if this first element carry out all associated bizarreness. If the ball is sticky due to </a:t>
            </a:r>
            <a:r>
              <a:rPr lang="en-US" sz="2300" dirty="0" err="1"/>
              <a:t>guimauve</a:t>
            </a:r>
            <a:r>
              <a:rPr lang="en-US" sz="2300" dirty="0"/>
              <a:t> it’s actually bizarre but not if you consider </a:t>
            </a:r>
            <a:r>
              <a:rPr lang="en-US" sz="2300" dirty="0" err="1"/>
              <a:t>guimauve</a:t>
            </a:r>
            <a:r>
              <a:rPr lang="en-US" sz="2300" dirty="0"/>
              <a:t> stadium as a standard. </a:t>
            </a:r>
            <a:endParaRPr lang="fr-FR" sz="2300" dirty="0"/>
          </a:p>
          <a:p>
            <a:pPr marL="0" indent="0">
              <a:buNone/>
            </a:pPr>
            <a:endParaRPr lang="fr-FR" sz="2300" dirty="0"/>
          </a:p>
        </p:txBody>
      </p:sp>
    </p:spTree>
    <p:extLst>
      <p:ext uri="{BB962C8B-B14F-4D97-AF65-F5344CB8AC3E}">
        <p14:creationId xmlns:p14="http://schemas.microsoft.com/office/powerpoint/2010/main" val="3836233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A1B136-B269-D774-6FF6-BDB386E7E57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69DD74E8-CB15-49B6-A098-DFCF4F530A0B}"/>
              </a:ext>
            </a:extLst>
          </p:cNvPr>
          <p:cNvSpPr>
            <a:spLocks noGrp="1"/>
          </p:cNvSpPr>
          <p:nvPr>
            <p:ph idx="1"/>
          </p:nvPr>
        </p:nvSpPr>
        <p:spPr/>
        <p:txBody>
          <a:bodyPr/>
          <a:lstStyle/>
          <a:p>
            <a:endParaRPr lang="fr-FR" dirty="0"/>
          </a:p>
        </p:txBody>
      </p:sp>
    </p:spTree>
    <p:extLst>
      <p:ext uri="{BB962C8B-B14F-4D97-AF65-F5344CB8AC3E}">
        <p14:creationId xmlns:p14="http://schemas.microsoft.com/office/powerpoint/2010/main" val="395120593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11697</TotalTime>
  <Words>557</Words>
  <Application>Microsoft Office PowerPoint</Application>
  <PresentationFormat>Grand écran</PresentationFormat>
  <Paragraphs>56</Paragraphs>
  <Slides>22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22</vt:i4>
      </vt:variant>
    </vt:vector>
  </HeadingPairs>
  <TitlesOfParts>
    <vt:vector size="27" baseType="lpstr">
      <vt:lpstr>Aptos</vt:lpstr>
      <vt:lpstr>Aptos Display</vt:lpstr>
      <vt:lpstr>Arial</vt:lpstr>
      <vt:lpstr>Bookman Old Style</vt:lpstr>
      <vt:lpstr>Thème Office</vt:lpstr>
      <vt:lpstr>Dream/Wakefulness classification through LLM</vt:lpstr>
      <vt:lpstr>Bizarreness in dreams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Global bizarreness </vt:lpstr>
      <vt:lpstr>Présentation PowerPoint</vt:lpstr>
      <vt:lpstr>Distribution of bizarreness subtypes</vt:lpstr>
      <vt:lpstr>General distribution of content categories</vt:lpstr>
      <vt:lpstr>General distribution of content categories</vt:lpstr>
      <vt:lpstr>Distribution of incongruous elements in different content categories in dreaming vs mind wandering</vt:lpstr>
      <vt:lpstr>Distribution of subtypes of incongruous elements across content categories in dreaming and mind wandering</vt:lpstr>
      <vt:lpstr>Distribution of vague elements in different categories in dreaming vs mind wandering</vt:lpstr>
      <vt:lpstr>Distribution of discontinuous elements in different content categories in dreaming vs mind wandering</vt:lpstr>
      <vt:lpstr>Scoring questions for Manuela Kirberg and Jennifer Windt</vt:lpstr>
      <vt:lpstr>Scoring questions for Manuela Kirberg and Jennifer Windt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Enzo Gerbelot</dc:creator>
  <cp:lastModifiedBy>Enzo Gerbelot</cp:lastModifiedBy>
  <cp:revision>3</cp:revision>
  <dcterms:created xsi:type="dcterms:W3CDTF">2026-02-26T13:29:14Z</dcterms:created>
  <dcterms:modified xsi:type="dcterms:W3CDTF">2026-03-16T20:40:53Z</dcterms:modified>
</cp:coreProperties>
</file>