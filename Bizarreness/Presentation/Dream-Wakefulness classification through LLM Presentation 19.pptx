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315" r:id="rId3"/>
    <p:sldId id="322" r:id="rId4"/>
    <p:sldId id="323" r:id="rId5"/>
    <p:sldId id="305" r:id="rId6"/>
    <p:sldId id="324" r:id="rId7"/>
    <p:sldId id="331" r:id="rId8"/>
    <p:sldId id="325" r:id="rId9"/>
    <p:sldId id="328" r:id="rId10"/>
    <p:sldId id="330" r:id="rId11"/>
    <p:sldId id="301" r:id="rId12"/>
    <p:sldId id="309" r:id="rId13"/>
    <p:sldId id="318" r:id="rId14"/>
    <p:sldId id="317" r:id="rId15"/>
    <p:sldId id="312" r:id="rId16"/>
    <p:sldId id="320" r:id="rId17"/>
    <p:sldId id="285" r:id="rId18"/>
    <p:sldId id="286" r:id="rId19"/>
    <p:sldId id="287" r:id="rId20"/>
    <p:sldId id="292" r:id="rId21"/>
    <p:sldId id="288" r:id="rId22"/>
    <p:sldId id="291" r:id="rId23"/>
    <p:sldId id="297" r:id="rId24"/>
    <p:sldId id="289" r:id="rId25"/>
    <p:sldId id="294" r:id="rId26"/>
    <p:sldId id="293" r:id="rId27"/>
    <p:sldId id="298" r:id="rId2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35EDFC-71B8-EF88-BBCC-3B71C1FB628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04EBAC2-616A-4577-7B3D-8E81D40AA0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5BE8135-554B-111D-23D0-169378C318D9}"/>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5" name="Espace réservé du pied de page 4">
            <a:extLst>
              <a:ext uri="{FF2B5EF4-FFF2-40B4-BE49-F238E27FC236}">
                <a16:creationId xmlns:a16="http://schemas.microsoft.com/office/drawing/2014/main" id="{D74A9B4F-4E3D-FA1B-A7D0-D7997146C3F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4D83B85-BA7D-3A24-3662-AEF950E9D86A}"/>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1236579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B83D56-1E72-0ED8-DB32-13FB75C506A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56D9D05-059C-B78F-12FB-DC3159BE1E1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E57EC1A-2117-B822-5711-519D27C794FC}"/>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5" name="Espace réservé du pied de page 4">
            <a:extLst>
              <a:ext uri="{FF2B5EF4-FFF2-40B4-BE49-F238E27FC236}">
                <a16:creationId xmlns:a16="http://schemas.microsoft.com/office/drawing/2014/main" id="{4F1F2397-D43C-D397-2C7F-F5C80209BE9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098D3EC-4550-8B2D-C9A1-6C086A201CDE}"/>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3154221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EEA999-A93E-A559-B4C6-8F62DE6BC26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6518CCF-5F1F-58C7-D150-5531198D82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B6E416F-FFD0-A3A4-DB21-0FA05C1D62EA}"/>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5" name="Espace réservé du pied de page 4">
            <a:extLst>
              <a:ext uri="{FF2B5EF4-FFF2-40B4-BE49-F238E27FC236}">
                <a16:creationId xmlns:a16="http://schemas.microsoft.com/office/drawing/2014/main" id="{59947553-5EC4-71C0-980A-2A4991E8A40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682DC53-A1DA-5A84-43FB-77D82EC98DAA}"/>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89413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C47255-F984-BD72-7C3F-318F6235EE0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84C882E-458B-31AA-B829-26383A0A5C5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1CEB3DF-CDB8-740A-DD2D-5DE564D4E2E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9D6A0C6-D87F-6A9A-DC37-59B751E1134A}"/>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6" name="Espace réservé du pied de page 5">
            <a:extLst>
              <a:ext uri="{FF2B5EF4-FFF2-40B4-BE49-F238E27FC236}">
                <a16:creationId xmlns:a16="http://schemas.microsoft.com/office/drawing/2014/main" id="{A4DFBF88-B0EF-FC91-B7D0-E21E850D315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C4D67AB-E599-64CC-D69D-08BA686556C9}"/>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192531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2F5564-4380-A808-1BAC-34D91B50D66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946E031-ED12-0359-BA65-E506D88A4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4BCF2CC-C2FF-8D99-9DD3-CB38945746E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3B9DC95-4020-286D-626B-47D737933B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869EC93-366D-4D5B-E5D3-16332AD6C9D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635177-D7F5-C649-5616-EEEB8237BFF1}"/>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8" name="Espace réservé du pied de page 7">
            <a:extLst>
              <a:ext uri="{FF2B5EF4-FFF2-40B4-BE49-F238E27FC236}">
                <a16:creationId xmlns:a16="http://schemas.microsoft.com/office/drawing/2014/main" id="{93FBF0F8-5E09-EDAB-ECC9-337D1D9E406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D110F18-6572-A96A-AB43-E151573FCA00}"/>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379077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77F1FA-F9BC-1CF7-9AC5-2535C495C44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414921B-B4C4-4181-E4EE-2D00709069FD}"/>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4" name="Espace réservé du pied de page 3">
            <a:extLst>
              <a:ext uri="{FF2B5EF4-FFF2-40B4-BE49-F238E27FC236}">
                <a16:creationId xmlns:a16="http://schemas.microsoft.com/office/drawing/2014/main" id="{CD6E05FC-AC95-6508-728E-B2647ABF166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8779261-ADA3-4A1F-D325-53FEBA41EA15}"/>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155492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F6D8093-48D5-0266-3F8E-A5D5E3831185}"/>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3" name="Espace réservé du pied de page 2">
            <a:extLst>
              <a:ext uri="{FF2B5EF4-FFF2-40B4-BE49-F238E27FC236}">
                <a16:creationId xmlns:a16="http://schemas.microsoft.com/office/drawing/2014/main" id="{954C8B59-E5A2-B0D1-F327-B7E7CF918E4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720708D-C43E-AADA-5637-7C796607E347}"/>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2066654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27266E-02CE-8400-0846-66BEFEB446D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168B35E-30D9-0014-A0B3-3FCA904FEE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5B2C5DA-C95C-FB90-7DAF-C42A4EBFC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61A203F-23AB-0155-35F1-B3760BBF1083}"/>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6" name="Espace réservé du pied de page 5">
            <a:extLst>
              <a:ext uri="{FF2B5EF4-FFF2-40B4-BE49-F238E27FC236}">
                <a16:creationId xmlns:a16="http://schemas.microsoft.com/office/drawing/2014/main" id="{0C4B6ED7-9A23-9584-85EF-3CFE60AEB3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5A76684-ABA1-511F-DF4E-22D18AF32460}"/>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3346000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A2AF2B-1BE8-50E0-3C73-305F8A14FC0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E5F0F77-270C-30BE-9432-E76E938ED9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12BEB9B-CC63-01C5-AD96-84EC5D899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2AFD2B1-E9FF-9563-CE5F-332E6808F32D}"/>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6" name="Espace réservé du pied de page 5">
            <a:extLst>
              <a:ext uri="{FF2B5EF4-FFF2-40B4-BE49-F238E27FC236}">
                <a16:creationId xmlns:a16="http://schemas.microsoft.com/office/drawing/2014/main" id="{5380FD85-DF6C-6991-EF89-F2131961F4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A7659CE-DD92-7352-7786-AF30E531DD50}"/>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798069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5AFF14-A6D4-19D4-F428-5C6E7BEFEE0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CAF5433-028D-7371-40E1-EDFFFC412EB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DD067C0-63DB-A1F3-EBD7-9BB879AF83B1}"/>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5" name="Espace réservé du pied de page 4">
            <a:extLst>
              <a:ext uri="{FF2B5EF4-FFF2-40B4-BE49-F238E27FC236}">
                <a16:creationId xmlns:a16="http://schemas.microsoft.com/office/drawing/2014/main" id="{162FFA37-ECC2-52A8-D22A-F08C33ED2B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C1E899-B670-59E6-8465-4498640896C5}"/>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2269930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AC0AEEA-F291-76F0-9268-17FA615F385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F9B7238-1657-B5FF-E285-4601E070692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4D959D-6211-F00C-A79E-D1686345B470}"/>
              </a:ext>
            </a:extLst>
          </p:cNvPr>
          <p:cNvSpPr>
            <a:spLocks noGrp="1"/>
          </p:cNvSpPr>
          <p:nvPr>
            <p:ph type="dt" sz="half" idx="10"/>
          </p:nvPr>
        </p:nvSpPr>
        <p:spPr/>
        <p:txBody>
          <a:bodyPr/>
          <a:lstStyle/>
          <a:p>
            <a:fld id="{6A604A39-AE0A-4427-8406-285C70DBDA68}" type="datetimeFigureOut">
              <a:rPr lang="fr-FR" smtClean="0"/>
              <a:t>17/03/2026</a:t>
            </a:fld>
            <a:endParaRPr lang="fr-FR"/>
          </a:p>
        </p:txBody>
      </p:sp>
      <p:sp>
        <p:nvSpPr>
          <p:cNvPr id="5" name="Espace réservé du pied de page 4">
            <a:extLst>
              <a:ext uri="{FF2B5EF4-FFF2-40B4-BE49-F238E27FC236}">
                <a16:creationId xmlns:a16="http://schemas.microsoft.com/office/drawing/2014/main" id="{93292285-ACB1-85B0-2521-588CE825B04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94F2C2F-B4D1-C66F-AA99-91B07D59449A}"/>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247609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9F33C31-9AAB-CBCD-562B-8E8ABB8211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1F3C9FF-A55C-147E-837D-C1ED959F6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9FEE80C-544D-3F81-348E-3BEF1149C0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604A39-AE0A-4427-8406-285C70DBDA68}" type="datetimeFigureOut">
              <a:rPr lang="fr-FR" smtClean="0"/>
              <a:t>17/03/2026</a:t>
            </a:fld>
            <a:endParaRPr lang="fr-FR"/>
          </a:p>
        </p:txBody>
      </p:sp>
      <p:sp>
        <p:nvSpPr>
          <p:cNvPr id="5" name="Espace réservé du pied de page 4">
            <a:extLst>
              <a:ext uri="{FF2B5EF4-FFF2-40B4-BE49-F238E27FC236}">
                <a16:creationId xmlns:a16="http://schemas.microsoft.com/office/drawing/2014/main" id="{3CEF15ED-4F58-B921-B7F8-BB8D8B8D9B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78190D1-A639-8C01-E269-79C99F1F16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18A441-3A76-405A-823C-721D1FF4731C}" type="slidenum">
              <a:rPr lang="fr-FR" smtClean="0"/>
              <a:t>‹N°›</a:t>
            </a:fld>
            <a:endParaRPr lang="fr-FR"/>
          </a:p>
        </p:txBody>
      </p:sp>
    </p:spTree>
    <p:extLst>
      <p:ext uri="{BB962C8B-B14F-4D97-AF65-F5344CB8AC3E}">
        <p14:creationId xmlns:p14="http://schemas.microsoft.com/office/powerpoint/2010/main" val="732145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073FD16B-D673-1A45-13A3-6D23C1F01AA5}"/>
              </a:ext>
            </a:extLst>
          </p:cNvPr>
          <p:cNvSpPr>
            <a:spLocks noGrp="1"/>
          </p:cNvSpPr>
          <p:nvPr>
            <p:ph type="ctrTitle"/>
          </p:nvPr>
        </p:nvSpPr>
        <p:spPr>
          <a:xfrm>
            <a:off x="753925" y="1321056"/>
            <a:ext cx="10684151" cy="1991979"/>
          </a:xfrm>
        </p:spPr>
        <p:txBody>
          <a:bodyPr anchor="b">
            <a:normAutofit/>
          </a:bodyPr>
          <a:lstStyle/>
          <a:p>
            <a:r>
              <a:rPr lang="en-GB" sz="5200" dirty="0">
                <a:solidFill>
                  <a:schemeClr val="tx2"/>
                </a:solidFill>
                <a:latin typeface="Bookman Old Style" panose="02050604050505020204" pitchFamily="18" charset="0"/>
              </a:rPr>
              <a:t>Dream/Wakefulness classification through LLM</a:t>
            </a:r>
            <a:endParaRPr lang="fr-FR" sz="5200" dirty="0">
              <a:solidFill>
                <a:schemeClr val="tx2"/>
              </a:solidFill>
            </a:endParaRPr>
          </a:p>
        </p:txBody>
      </p:sp>
      <p:grpSp>
        <p:nvGrpSpPr>
          <p:cNvPr id="42" name="Group 41">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43" name="Freeform: Shape 42">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49" name="Freeform: Shape 48">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ZoneTexte 3">
            <a:extLst>
              <a:ext uri="{FF2B5EF4-FFF2-40B4-BE49-F238E27FC236}">
                <a16:creationId xmlns:a16="http://schemas.microsoft.com/office/drawing/2014/main" id="{72A9E55F-30D0-B87B-4582-99C63AA8CD3A}"/>
              </a:ext>
            </a:extLst>
          </p:cNvPr>
          <p:cNvSpPr txBox="1"/>
          <p:nvPr/>
        </p:nvSpPr>
        <p:spPr>
          <a:xfrm>
            <a:off x="4483357" y="5536944"/>
            <a:ext cx="3224980" cy="415498"/>
          </a:xfrm>
          <a:prstGeom prst="rect">
            <a:avLst/>
          </a:prstGeom>
          <a:noFill/>
        </p:spPr>
        <p:txBody>
          <a:bodyPr wrap="square" rtlCol="0">
            <a:spAutoFit/>
          </a:bodyPr>
          <a:lstStyle/>
          <a:p>
            <a:r>
              <a:rPr lang="fr-FR" sz="2100" dirty="0">
                <a:latin typeface="Bookman Old Style" panose="02050604050505020204" pitchFamily="18" charset="0"/>
              </a:rPr>
              <a:t>Enzo Gerbelot-</a:t>
            </a:r>
            <a:r>
              <a:rPr lang="fr-FR" sz="2100" dirty="0" err="1">
                <a:latin typeface="Bookman Old Style" panose="02050604050505020204" pitchFamily="18" charset="0"/>
              </a:rPr>
              <a:t>Legris</a:t>
            </a:r>
            <a:r>
              <a:rPr lang="fr-FR" sz="2100" dirty="0">
                <a:latin typeface="Bookman Old Style" panose="02050604050505020204" pitchFamily="18" charset="0"/>
              </a:rPr>
              <a:t> </a:t>
            </a:r>
          </a:p>
        </p:txBody>
      </p:sp>
    </p:spTree>
    <p:extLst>
      <p:ext uri="{BB962C8B-B14F-4D97-AF65-F5344CB8AC3E}">
        <p14:creationId xmlns:p14="http://schemas.microsoft.com/office/powerpoint/2010/main" val="2724360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5024-34D6-B915-353F-E3D5A0A225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8A94FAF-E318-172B-2962-E278E9CA2BBF}"/>
              </a:ext>
            </a:extLst>
          </p:cNvPr>
          <p:cNvSpPr>
            <a:spLocks noGrp="1"/>
          </p:cNvSpPr>
          <p:nvPr>
            <p:ph type="title"/>
          </p:nvPr>
        </p:nvSpPr>
        <p:spPr>
          <a:xfrm>
            <a:off x="838199" y="0"/>
            <a:ext cx="10515600" cy="1325563"/>
          </a:xfrm>
        </p:spPr>
        <p:txBody>
          <a:bodyPr>
            <a:normAutofit/>
          </a:bodyPr>
          <a:lstStyle/>
          <a:p>
            <a:pPr algn="ctr"/>
            <a:r>
              <a:rPr lang="en-GB" sz="3200" dirty="0">
                <a:solidFill>
                  <a:schemeClr val="tx2"/>
                </a:solidFill>
                <a:latin typeface="Bookman Old Style" panose="02050604050505020204" pitchFamily="18" charset="0"/>
              </a:rPr>
              <a:t>Project Overview</a:t>
            </a:r>
            <a:endParaRPr lang="en-GB" sz="3200" noProof="0" dirty="0">
              <a:latin typeface="Bookman Old Style" panose="02050604050505020204" pitchFamily="18" charset="0"/>
            </a:endParaRPr>
          </a:p>
        </p:txBody>
      </p:sp>
      <p:sp>
        <p:nvSpPr>
          <p:cNvPr id="3" name="Espace réservé du contenu 2">
            <a:extLst>
              <a:ext uri="{FF2B5EF4-FFF2-40B4-BE49-F238E27FC236}">
                <a16:creationId xmlns:a16="http://schemas.microsoft.com/office/drawing/2014/main" id="{B8A20E8E-66E2-CC7F-1888-F162393CB92E}"/>
              </a:ext>
            </a:extLst>
          </p:cNvPr>
          <p:cNvSpPr>
            <a:spLocks noGrp="1"/>
          </p:cNvSpPr>
          <p:nvPr>
            <p:ph idx="1"/>
          </p:nvPr>
        </p:nvSpPr>
        <p:spPr>
          <a:xfrm>
            <a:off x="266700" y="1110585"/>
            <a:ext cx="11658599" cy="5506525"/>
          </a:xfrm>
        </p:spPr>
        <p:txBody>
          <a:bodyPr>
            <a:noAutofit/>
          </a:bodyPr>
          <a:lstStyle/>
          <a:p>
            <a:pPr marL="0" indent="0">
              <a:buNone/>
            </a:pPr>
            <a:endParaRPr lang="en-GB" sz="3000" dirty="0"/>
          </a:p>
          <a:p>
            <a:pPr marL="0" indent="0" algn="just">
              <a:buNone/>
            </a:pPr>
            <a:r>
              <a:rPr lang="en-US" sz="2600" dirty="0"/>
              <a:t>Better characterizing </a:t>
            </a:r>
            <a:r>
              <a:rPr lang="en-US" sz="2600" b="1" dirty="0"/>
              <a:t>hypnagogia</a:t>
            </a:r>
          </a:p>
          <a:p>
            <a:pPr marL="0" indent="0" algn="just">
              <a:buNone/>
            </a:pPr>
            <a:endParaRPr lang="en-US" sz="2600" dirty="0"/>
          </a:p>
          <a:p>
            <a:pPr marL="0" indent="0" algn="just">
              <a:buNone/>
            </a:pPr>
            <a:endParaRPr lang="en-US" sz="2600" dirty="0"/>
          </a:p>
          <a:p>
            <a:pPr marL="0" indent="0" algn="just">
              <a:buNone/>
            </a:pPr>
            <a:r>
              <a:rPr lang="en-US" sz="2600" dirty="0"/>
              <a:t>Develop an operational </a:t>
            </a:r>
            <a:r>
              <a:rPr lang="en-US" sz="2600" b="1" dirty="0"/>
              <a:t>classification</a:t>
            </a:r>
            <a:r>
              <a:rPr lang="en-US" sz="2600" dirty="0"/>
              <a:t> </a:t>
            </a:r>
            <a:r>
              <a:rPr lang="en-US" sz="2600" b="1" dirty="0"/>
              <a:t>prompt</a:t>
            </a:r>
            <a:r>
              <a:rPr lang="en-US" sz="2600" dirty="0"/>
              <a:t> capable of </a:t>
            </a:r>
            <a:r>
              <a:rPr lang="en-US" sz="2600" b="1" dirty="0"/>
              <a:t>discriminating</a:t>
            </a:r>
            <a:r>
              <a:rPr lang="en-US" sz="2600" dirty="0"/>
              <a:t> </a:t>
            </a:r>
            <a:r>
              <a:rPr lang="en-US" sz="2600" b="1" dirty="0"/>
              <a:t>dream</a:t>
            </a:r>
            <a:r>
              <a:rPr lang="en-US" sz="2600" dirty="0"/>
              <a:t> vs </a:t>
            </a:r>
            <a:r>
              <a:rPr lang="en-US" sz="2600" b="1" dirty="0"/>
              <a:t>Hypnagogia </a:t>
            </a:r>
            <a:r>
              <a:rPr lang="en-US" sz="2600" dirty="0"/>
              <a:t>based on text content. </a:t>
            </a:r>
          </a:p>
          <a:p>
            <a:pPr marL="0" indent="0" algn="just">
              <a:buNone/>
            </a:pPr>
            <a:r>
              <a:rPr lang="en-US" sz="2600" i="1" dirty="0"/>
              <a:t>(On reports of dream and Hypnagogia, Célia’s work)</a:t>
            </a:r>
          </a:p>
          <a:p>
            <a:pPr marL="0" indent="0" algn="just">
              <a:buNone/>
            </a:pPr>
            <a:endParaRPr lang="en-US" sz="2600" dirty="0"/>
          </a:p>
          <a:p>
            <a:pPr marL="0" indent="0" algn="just">
              <a:buNone/>
            </a:pPr>
            <a:endParaRPr lang="en-US" sz="2600" dirty="0"/>
          </a:p>
          <a:p>
            <a:pPr marL="0" indent="0" algn="just">
              <a:buNone/>
            </a:pPr>
            <a:endParaRPr lang="en-US" sz="2600" dirty="0"/>
          </a:p>
          <a:p>
            <a:pPr marL="0" indent="0" algn="just">
              <a:buNone/>
            </a:pPr>
            <a:endParaRPr lang="en-US" sz="2600" noProof="0" dirty="0"/>
          </a:p>
          <a:p>
            <a:pPr marL="0" indent="0" algn="just">
              <a:buNone/>
            </a:pPr>
            <a:endParaRPr lang="en-GB" sz="2600" noProof="0" dirty="0"/>
          </a:p>
          <a:p>
            <a:pPr marL="0" indent="0">
              <a:buNone/>
            </a:pPr>
            <a:endParaRPr lang="en-GB" sz="2400" noProof="0" dirty="0"/>
          </a:p>
          <a:p>
            <a:pPr marL="0" indent="0">
              <a:buNone/>
            </a:pPr>
            <a:endParaRPr lang="en-GB" sz="2400" dirty="0"/>
          </a:p>
        </p:txBody>
      </p:sp>
    </p:spTree>
    <p:extLst>
      <p:ext uri="{BB962C8B-B14F-4D97-AF65-F5344CB8AC3E}">
        <p14:creationId xmlns:p14="http://schemas.microsoft.com/office/powerpoint/2010/main" val="383033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7881A-9C67-48EE-4701-6D33D5449B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E8C20B4-588E-B8B0-7BEC-4FB7B08BBD1B}"/>
              </a:ext>
            </a:extLst>
          </p:cNvPr>
          <p:cNvSpPr>
            <a:spLocks noGrp="1"/>
          </p:cNvSpPr>
          <p:nvPr>
            <p:ph type="title"/>
          </p:nvPr>
        </p:nvSpPr>
        <p:spPr>
          <a:xfrm>
            <a:off x="838199" y="0"/>
            <a:ext cx="10515600" cy="1325563"/>
          </a:xfrm>
        </p:spPr>
        <p:txBody>
          <a:bodyPr>
            <a:normAutofit/>
          </a:bodyPr>
          <a:lstStyle/>
          <a:p>
            <a:pPr algn="ctr"/>
            <a:r>
              <a:rPr lang="en-GB" sz="3200" dirty="0">
                <a:solidFill>
                  <a:schemeClr val="tx2"/>
                </a:solidFill>
                <a:latin typeface="Bookman Old Style" panose="02050604050505020204" pitchFamily="18" charset="0"/>
              </a:rPr>
              <a:t>Project Overview</a:t>
            </a:r>
            <a:endParaRPr lang="en-GB" sz="3200" noProof="0" dirty="0">
              <a:latin typeface="Bookman Old Style" panose="02050604050505020204" pitchFamily="18" charset="0"/>
            </a:endParaRPr>
          </a:p>
        </p:txBody>
      </p:sp>
      <p:sp>
        <p:nvSpPr>
          <p:cNvPr id="3" name="Espace réservé du contenu 2">
            <a:extLst>
              <a:ext uri="{FF2B5EF4-FFF2-40B4-BE49-F238E27FC236}">
                <a16:creationId xmlns:a16="http://schemas.microsoft.com/office/drawing/2014/main" id="{24788B69-D1EC-FC41-FB4E-3F7AF3FE3401}"/>
              </a:ext>
            </a:extLst>
          </p:cNvPr>
          <p:cNvSpPr>
            <a:spLocks noGrp="1"/>
          </p:cNvSpPr>
          <p:nvPr>
            <p:ph idx="1"/>
          </p:nvPr>
        </p:nvSpPr>
        <p:spPr>
          <a:xfrm>
            <a:off x="266700" y="1110585"/>
            <a:ext cx="11658599" cy="5506525"/>
          </a:xfrm>
        </p:spPr>
        <p:txBody>
          <a:bodyPr>
            <a:noAutofit/>
          </a:bodyPr>
          <a:lstStyle/>
          <a:p>
            <a:pPr marL="0" indent="0">
              <a:buNone/>
            </a:pPr>
            <a:endParaRPr lang="en-GB" sz="3000" dirty="0"/>
          </a:p>
          <a:p>
            <a:pPr marL="0" indent="0" algn="just">
              <a:buNone/>
            </a:pPr>
            <a:r>
              <a:rPr lang="en-US" sz="2600" dirty="0"/>
              <a:t>Better characterizing </a:t>
            </a:r>
            <a:r>
              <a:rPr lang="en-US" sz="2600" b="1" dirty="0"/>
              <a:t>hypnagogia</a:t>
            </a:r>
          </a:p>
          <a:p>
            <a:pPr marL="0" indent="0" algn="just">
              <a:buNone/>
            </a:pPr>
            <a:endParaRPr lang="en-US" sz="2600" dirty="0"/>
          </a:p>
          <a:p>
            <a:pPr marL="0" indent="0" algn="just">
              <a:buNone/>
            </a:pPr>
            <a:endParaRPr lang="en-US" sz="2600" dirty="0"/>
          </a:p>
          <a:p>
            <a:pPr marL="0" indent="0" algn="just">
              <a:buNone/>
            </a:pPr>
            <a:r>
              <a:rPr lang="en-US" sz="2600" dirty="0"/>
              <a:t>Develop an operational </a:t>
            </a:r>
            <a:r>
              <a:rPr lang="en-US" sz="2600" b="1" dirty="0"/>
              <a:t>classification</a:t>
            </a:r>
            <a:r>
              <a:rPr lang="en-US" sz="2600" dirty="0"/>
              <a:t> </a:t>
            </a:r>
            <a:r>
              <a:rPr lang="en-US" sz="2600" b="1" dirty="0"/>
              <a:t>prompt</a:t>
            </a:r>
            <a:r>
              <a:rPr lang="en-US" sz="2600" dirty="0"/>
              <a:t> capable of </a:t>
            </a:r>
            <a:r>
              <a:rPr lang="en-US" sz="2600" b="1" dirty="0"/>
              <a:t>discriminating</a:t>
            </a:r>
            <a:r>
              <a:rPr lang="en-US" sz="2600" dirty="0"/>
              <a:t> </a:t>
            </a:r>
            <a:r>
              <a:rPr lang="en-US" sz="2600" b="1" dirty="0"/>
              <a:t>dream</a:t>
            </a:r>
            <a:r>
              <a:rPr lang="en-US" sz="2600" dirty="0"/>
              <a:t> vs </a:t>
            </a:r>
            <a:r>
              <a:rPr lang="en-US" sz="2600" b="1" dirty="0"/>
              <a:t>Hypnagogia </a:t>
            </a:r>
            <a:r>
              <a:rPr lang="en-US" sz="2600" dirty="0"/>
              <a:t>based on text content. </a:t>
            </a:r>
          </a:p>
          <a:p>
            <a:pPr marL="0" indent="0" algn="just">
              <a:buNone/>
            </a:pPr>
            <a:r>
              <a:rPr lang="en-US" sz="2600" i="1" dirty="0"/>
              <a:t>(On reports of dream and Hypnagogia, Célia’s work)</a:t>
            </a:r>
          </a:p>
          <a:p>
            <a:pPr marL="0" indent="0" algn="just">
              <a:buNone/>
            </a:pPr>
            <a:endParaRPr lang="en-US" sz="2600" i="1" dirty="0"/>
          </a:p>
          <a:p>
            <a:pPr marL="0" indent="0" algn="just">
              <a:buNone/>
            </a:pPr>
            <a:r>
              <a:rPr lang="en-US" sz="2600" dirty="0"/>
              <a:t>Dataset : ~ 150 Dream and Hypnagogic reports</a:t>
            </a:r>
          </a:p>
          <a:p>
            <a:pPr marL="0" indent="0" algn="just">
              <a:buNone/>
            </a:pPr>
            <a:endParaRPr lang="en-US" sz="2600" i="1" dirty="0"/>
          </a:p>
          <a:p>
            <a:pPr marL="0" indent="0" algn="just">
              <a:buNone/>
            </a:pPr>
            <a:endParaRPr lang="en-US" sz="2600" dirty="0"/>
          </a:p>
          <a:p>
            <a:pPr marL="0" indent="0" algn="just">
              <a:buNone/>
            </a:pPr>
            <a:endParaRPr lang="en-US" sz="2600" dirty="0"/>
          </a:p>
          <a:p>
            <a:pPr marL="0" indent="0" algn="just">
              <a:buNone/>
            </a:pPr>
            <a:endParaRPr lang="en-US" sz="2600" dirty="0"/>
          </a:p>
          <a:p>
            <a:pPr marL="0" indent="0" algn="just">
              <a:buNone/>
            </a:pPr>
            <a:endParaRPr lang="en-US" sz="2600" noProof="0" dirty="0"/>
          </a:p>
          <a:p>
            <a:pPr marL="0" indent="0" algn="just">
              <a:buNone/>
            </a:pPr>
            <a:endParaRPr lang="en-GB" sz="2600" noProof="0" dirty="0"/>
          </a:p>
          <a:p>
            <a:pPr marL="0" indent="0">
              <a:buNone/>
            </a:pPr>
            <a:endParaRPr lang="en-GB" sz="2400" noProof="0" dirty="0"/>
          </a:p>
          <a:p>
            <a:pPr marL="0" indent="0">
              <a:buNone/>
            </a:pPr>
            <a:endParaRPr lang="en-GB" sz="2400" dirty="0"/>
          </a:p>
        </p:txBody>
      </p:sp>
    </p:spTree>
    <p:extLst>
      <p:ext uri="{BB962C8B-B14F-4D97-AF65-F5344CB8AC3E}">
        <p14:creationId xmlns:p14="http://schemas.microsoft.com/office/powerpoint/2010/main" val="91985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59796-6026-E098-2C4B-B261E599E86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247BD44-7F2C-B792-9397-C4FA65C2AF68}"/>
              </a:ext>
            </a:extLst>
          </p:cNvPr>
          <p:cNvSpPr>
            <a:spLocks noGrp="1"/>
          </p:cNvSpPr>
          <p:nvPr>
            <p:ph type="title"/>
          </p:nvPr>
        </p:nvSpPr>
        <p:spPr>
          <a:xfrm>
            <a:off x="838199" y="0"/>
            <a:ext cx="10515600" cy="1325563"/>
          </a:xfrm>
        </p:spPr>
        <p:txBody>
          <a:bodyPr>
            <a:normAutofit/>
          </a:bodyPr>
          <a:lstStyle/>
          <a:p>
            <a:pPr algn="ctr"/>
            <a:r>
              <a:rPr lang="en-GB" sz="3200" dirty="0">
                <a:solidFill>
                  <a:schemeClr val="tx2"/>
                </a:solidFill>
                <a:latin typeface="Bookman Old Style" panose="02050604050505020204" pitchFamily="18" charset="0"/>
              </a:rPr>
              <a:t>Project Overview</a:t>
            </a:r>
            <a:endParaRPr lang="en-GB" sz="3200" noProof="0" dirty="0">
              <a:latin typeface="Bookman Old Style" panose="02050604050505020204" pitchFamily="18" charset="0"/>
            </a:endParaRPr>
          </a:p>
        </p:txBody>
      </p:sp>
      <p:sp>
        <p:nvSpPr>
          <p:cNvPr id="3" name="Espace réservé du contenu 2">
            <a:extLst>
              <a:ext uri="{FF2B5EF4-FFF2-40B4-BE49-F238E27FC236}">
                <a16:creationId xmlns:a16="http://schemas.microsoft.com/office/drawing/2014/main" id="{57547876-786B-4370-263F-CA61EBA34117}"/>
              </a:ext>
            </a:extLst>
          </p:cNvPr>
          <p:cNvSpPr>
            <a:spLocks noGrp="1"/>
          </p:cNvSpPr>
          <p:nvPr>
            <p:ph idx="1"/>
          </p:nvPr>
        </p:nvSpPr>
        <p:spPr>
          <a:xfrm>
            <a:off x="266700" y="1110585"/>
            <a:ext cx="11658599" cy="5506525"/>
          </a:xfrm>
        </p:spPr>
        <p:txBody>
          <a:bodyPr>
            <a:noAutofit/>
          </a:bodyPr>
          <a:lstStyle/>
          <a:p>
            <a:pPr marL="0" indent="0">
              <a:buNone/>
            </a:pPr>
            <a:endParaRPr lang="en-GB" sz="3000" dirty="0"/>
          </a:p>
          <a:p>
            <a:pPr marL="0" indent="0" algn="just">
              <a:buNone/>
            </a:pPr>
            <a:r>
              <a:rPr lang="en-US" sz="2600" dirty="0"/>
              <a:t>Better characterizing </a:t>
            </a:r>
            <a:r>
              <a:rPr lang="en-US" sz="2600" b="1" dirty="0"/>
              <a:t>hypnagogia</a:t>
            </a:r>
          </a:p>
          <a:p>
            <a:pPr marL="0" indent="0" algn="just">
              <a:buNone/>
            </a:pPr>
            <a:endParaRPr lang="en-US" sz="2600" dirty="0"/>
          </a:p>
          <a:p>
            <a:pPr marL="0" indent="0" algn="just">
              <a:buNone/>
            </a:pPr>
            <a:endParaRPr lang="en-US" sz="2600" dirty="0"/>
          </a:p>
          <a:p>
            <a:pPr marL="0" indent="0" algn="just">
              <a:buNone/>
            </a:pPr>
            <a:r>
              <a:rPr lang="en-US" sz="2600" dirty="0"/>
              <a:t>Develop an operational </a:t>
            </a:r>
            <a:r>
              <a:rPr lang="en-US" sz="2600" b="1" dirty="0"/>
              <a:t>classification</a:t>
            </a:r>
            <a:r>
              <a:rPr lang="en-US" sz="2600" dirty="0"/>
              <a:t> </a:t>
            </a:r>
            <a:r>
              <a:rPr lang="en-US" sz="2600" b="1" dirty="0"/>
              <a:t>prompt</a:t>
            </a:r>
            <a:r>
              <a:rPr lang="en-US" sz="2600" dirty="0"/>
              <a:t> capable of </a:t>
            </a:r>
            <a:r>
              <a:rPr lang="en-US" sz="2600" b="1" dirty="0"/>
              <a:t>discriminating</a:t>
            </a:r>
            <a:r>
              <a:rPr lang="en-US" sz="2600" dirty="0"/>
              <a:t> </a:t>
            </a:r>
            <a:r>
              <a:rPr lang="en-US" sz="2600" b="1" dirty="0"/>
              <a:t>dream</a:t>
            </a:r>
            <a:r>
              <a:rPr lang="en-US" sz="2600" dirty="0"/>
              <a:t> vs </a:t>
            </a:r>
            <a:r>
              <a:rPr lang="en-US" sz="2600" b="1" dirty="0"/>
              <a:t>Hypnagogia </a:t>
            </a:r>
            <a:r>
              <a:rPr lang="en-US" sz="2600" dirty="0"/>
              <a:t>based on text content. </a:t>
            </a:r>
          </a:p>
          <a:p>
            <a:pPr marL="0" indent="0" algn="just">
              <a:buNone/>
            </a:pPr>
            <a:r>
              <a:rPr lang="en-US" sz="2600" i="1" dirty="0"/>
              <a:t>(On reports of dream and Hypnagogia, Célia’s work)</a:t>
            </a:r>
          </a:p>
          <a:p>
            <a:pPr marL="0" indent="0" algn="just">
              <a:buNone/>
            </a:pPr>
            <a:endParaRPr lang="en-US" sz="2600" i="1" dirty="0"/>
          </a:p>
          <a:p>
            <a:pPr marL="0" indent="0" algn="just">
              <a:buNone/>
            </a:pPr>
            <a:r>
              <a:rPr lang="en-US" sz="2600" dirty="0"/>
              <a:t>First step : </a:t>
            </a:r>
            <a:r>
              <a:rPr lang="en-US" sz="2600" b="1" dirty="0"/>
              <a:t>Model (Claude AI)</a:t>
            </a:r>
            <a:r>
              <a:rPr lang="en-US" sz="2600" dirty="0"/>
              <a:t> capable of </a:t>
            </a:r>
            <a:r>
              <a:rPr lang="en-US" sz="2600" b="1" dirty="0"/>
              <a:t>discriminating</a:t>
            </a:r>
            <a:r>
              <a:rPr lang="en-US" sz="2600" dirty="0"/>
              <a:t> </a:t>
            </a:r>
            <a:r>
              <a:rPr lang="en-US" sz="2600" b="1" dirty="0"/>
              <a:t>Dream</a:t>
            </a:r>
            <a:r>
              <a:rPr lang="en-US" sz="2600" dirty="0"/>
              <a:t> vs </a:t>
            </a:r>
            <a:r>
              <a:rPr lang="en-US" sz="2600" b="1" dirty="0"/>
              <a:t>Wakefulness</a:t>
            </a:r>
            <a:r>
              <a:rPr lang="en-US" sz="2600" dirty="0"/>
              <a:t> reports</a:t>
            </a:r>
          </a:p>
          <a:p>
            <a:pPr marL="0" indent="0" algn="just">
              <a:buNone/>
            </a:pPr>
            <a:endParaRPr lang="en-US" sz="2600" i="1" dirty="0"/>
          </a:p>
          <a:p>
            <a:pPr marL="0" indent="0" algn="just">
              <a:buNone/>
            </a:pPr>
            <a:endParaRPr lang="en-US" sz="2600" dirty="0"/>
          </a:p>
          <a:p>
            <a:pPr marL="0" indent="0" algn="just">
              <a:buNone/>
            </a:pPr>
            <a:endParaRPr lang="en-US" sz="2600" dirty="0"/>
          </a:p>
          <a:p>
            <a:pPr marL="0" indent="0" algn="just">
              <a:buNone/>
            </a:pPr>
            <a:endParaRPr lang="en-US" sz="2600" dirty="0"/>
          </a:p>
          <a:p>
            <a:pPr marL="0" indent="0" algn="just">
              <a:buNone/>
            </a:pPr>
            <a:endParaRPr lang="en-US" sz="2600" noProof="0" dirty="0"/>
          </a:p>
          <a:p>
            <a:pPr marL="0" indent="0" algn="just">
              <a:buNone/>
            </a:pPr>
            <a:endParaRPr lang="en-GB" sz="2600" noProof="0" dirty="0"/>
          </a:p>
          <a:p>
            <a:pPr marL="0" indent="0">
              <a:buNone/>
            </a:pPr>
            <a:endParaRPr lang="en-GB" sz="2400" noProof="0" dirty="0"/>
          </a:p>
          <a:p>
            <a:pPr marL="0" indent="0">
              <a:buNone/>
            </a:pPr>
            <a:endParaRPr lang="en-GB" sz="2400" dirty="0"/>
          </a:p>
        </p:txBody>
      </p:sp>
    </p:spTree>
    <p:extLst>
      <p:ext uri="{BB962C8B-B14F-4D97-AF65-F5344CB8AC3E}">
        <p14:creationId xmlns:p14="http://schemas.microsoft.com/office/powerpoint/2010/main" val="1627206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23A4C-A5BF-C53C-97FB-4885DEBC81B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9D7DD7F-C576-4F76-5908-D4227EE37962}"/>
              </a:ext>
            </a:extLst>
          </p:cNvPr>
          <p:cNvSpPr>
            <a:spLocks noGrp="1"/>
          </p:cNvSpPr>
          <p:nvPr>
            <p:ph type="title"/>
          </p:nvPr>
        </p:nvSpPr>
        <p:spPr>
          <a:xfrm>
            <a:off x="838200" y="0"/>
            <a:ext cx="10515600" cy="1325563"/>
          </a:xfrm>
        </p:spPr>
        <p:txBody>
          <a:bodyPr>
            <a:normAutofit/>
          </a:bodyPr>
          <a:lstStyle/>
          <a:p>
            <a:pPr algn="ctr"/>
            <a:r>
              <a:rPr lang="en-GB" sz="3200" dirty="0">
                <a:solidFill>
                  <a:schemeClr val="tx2"/>
                </a:solidFill>
                <a:latin typeface="Bookman Old Style" panose="02050604050505020204" pitchFamily="18" charset="0"/>
              </a:rPr>
              <a:t>Project Overview</a:t>
            </a:r>
            <a:endParaRPr lang="en-GB" sz="3200" noProof="0" dirty="0">
              <a:latin typeface="Bookman Old Style" panose="02050604050505020204" pitchFamily="18" charset="0"/>
            </a:endParaRPr>
          </a:p>
        </p:txBody>
      </p:sp>
      <p:sp>
        <p:nvSpPr>
          <p:cNvPr id="3" name="Espace réservé du contenu 2">
            <a:extLst>
              <a:ext uri="{FF2B5EF4-FFF2-40B4-BE49-F238E27FC236}">
                <a16:creationId xmlns:a16="http://schemas.microsoft.com/office/drawing/2014/main" id="{7716E935-C1DF-FC9B-BFBD-D24CAC2571BE}"/>
              </a:ext>
            </a:extLst>
          </p:cNvPr>
          <p:cNvSpPr>
            <a:spLocks noGrp="1"/>
          </p:cNvSpPr>
          <p:nvPr>
            <p:ph idx="1"/>
          </p:nvPr>
        </p:nvSpPr>
        <p:spPr>
          <a:xfrm>
            <a:off x="533400" y="1110585"/>
            <a:ext cx="6044381" cy="5506525"/>
          </a:xfrm>
        </p:spPr>
        <p:txBody>
          <a:bodyPr>
            <a:noAutofit/>
          </a:bodyPr>
          <a:lstStyle/>
          <a:p>
            <a:pPr marL="0" indent="0" algn="just">
              <a:buNone/>
            </a:pPr>
            <a:endParaRPr lang="en-GB" sz="3000" dirty="0"/>
          </a:p>
          <a:p>
            <a:pPr marL="0" indent="0" algn="just">
              <a:buNone/>
            </a:pPr>
            <a:endParaRPr lang="en-GB" sz="3000" dirty="0"/>
          </a:p>
          <a:p>
            <a:pPr marL="0" indent="0" algn="just">
              <a:buNone/>
            </a:pPr>
            <a:r>
              <a:rPr lang="en-GB" sz="3000" dirty="0"/>
              <a:t>Based on your </a:t>
            </a:r>
            <a:r>
              <a:rPr lang="en-GB" sz="3000" b="1" dirty="0"/>
              <a:t>semantic analysis </a:t>
            </a:r>
            <a:r>
              <a:rPr lang="en-GB" sz="3000" dirty="0"/>
              <a:t>of dream and wakefulness report</a:t>
            </a:r>
            <a:endParaRPr lang="en-US" sz="2600" dirty="0"/>
          </a:p>
          <a:p>
            <a:pPr marL="0" indent="0" algn="just">
              <a:buNone/>
            </a:pPr>
            <a:endParaRPr lang="en-US" sz="2600" dirty="0"/>
          </a:p>
          <a:p>
            <a:pPr marL="0" indent="0" algn="just">
              <a:buNone/>
            </a:pPr>
            <a:r>
              <a:rPr lang="en-US" sz="2600" noProof="0" dirty="0">
                <a:sym typeface="Wingdings" panose="05000000000000000000" pitchFamily="2" charset="2"/>
              </a:rPr>
              <a:t>Another question analysis: Is AI able to </a:t>
            </a:r>
            <a:r>
              <a:rPr lang="en-US" sz="2600" b="1" noProof="0" dirty="0">
                <a:sym typeface="Wingdings" panose="05000000000000000000" pitchFamily="2" charset="2"/>
              </a:rPr>
              <a:t>discriminate dream </a:t>
            </a:r>
            <a:r>
              <a:rPr lang="en-US" sz="2600" noProof="0" dirty="0">
                <a:sym typeface="Wingdings" panose="05000000000000000000" pitchFamily="2" charset="2"/>
              </a:rPr>
              <a:t>vs</a:t>
            </a:r>
            <a:r>
              <a:rPr lang="en-US" sz="2600" b="1" noProof="0" dirty="0">
                <a:sym typeface="Wingdings" panose="05000000000000000000" pitchFamily="2" charset="2"/>
              </a:rPr>
              <a:t> wakefulness ?</a:t>
            </a:r>
          </a:p>
          <a:p>
            <a:pPr marL="0" indent="0" algn="just">
              <a:buNone/>
            </a:pPr>
            <a:endParaRPr lang="en-US" sz="2600" b="1" noProof="0" dirty="0">
              <a:sym typeface="Wingdings" panose="05000000000000000000" pitchFamily="2" charset="2"/>
            </a:endParaRPr>
          </a:p>
          <a:p>
            <a:pPr marL="0" indent="0">
              <a:buNone/>
            </a:pPr>
            <a:endParaRPr lang="en-GB" sz="2400" noProof="0" dirty="0"/>
          </a:p>
          <a:p>
            <a:pPr marL="0" indent="0">
              <a:buNone/>
            </a:pPr>
            <a:endParaRPr lang="en-GB" sz="2400" dirty="0"/>
          </a:p>
        </p:txBody>
      </p:sp>
      <p:pic>
        <p:nvPicPr>
          <p:cNvPr id="7" name="Image 6">
            <a:extLst>
              <a:ext uri="{FF2B5EF4-FFF2-40B4-BE49-F238E27FC236}">
                <a16:creationId xmlns:a16="http://schemas.microsoft.com/office/drawing/2014/main" id="{9F61CA7D-F71C-E310-7918-131458CB6C73}"/>
              </a:ext>
            </a:extLst>
          </p:cNvPr>
          <p:cNvPicPr>
            <a:picLocks noChangeAspect="1"/>
          </p:cNvPicPr>
          <p:nvPr/>
        </p:nvPicPr>
        <p:blipFill>
          <a:blip r:embed="rId2"/>
          <a:stretch>
            <a:fillRect/>
          </a:stretch>
        </p:blipFill>
        <p:spPr>
          <a:xfrm>
            <a:off x="7837539" y="1110585"/>
            <a:ext cx="3364536" cy="5675721"/>
          </a:xfrm>
          <a:prstGeom prst="rect">
            <a:avLst/>
          </a:prstGeom>
        </p:spPr>
      </p:pic>
      <p:sp>
        <p:nvSpPr>
          <p:cNvPr id="9" name="ZoneTexte 8">
            <a:extLst>
              <a:ext uri="{FF2B5EF4-FFF2-40B4-BE49-F238E27FC236}">
                <a16:creationId xmlns:a16="http://schemas.microsoft.com/office/drawing/2014/main" id="{9A0B2E39-6E28-B23D-909E-A61E6C980502}"/>
              </a:ext>
            </a:extLst>
          </p:cNvPr>
          <p:cNvSpPr txBox="1"/>
          <p:nvPr/>
        </p:nvSpPr>
        <p:spPr>
          <a:xfrm>
            <a:off x="5235063" y="6247778"/>
            <a:ext cx="2685435" cy="369332"/>
          </a:xfrm>
          <a:prstGeom prst="rect">
            <a:avLst/>
          </a:prstGeom>
          <a:noFill/>
        </p:spPr>
        <p:txBody>
          <a:bodyPr wrap="square">
            <a:spAutoFit/>
          </a:bodyPr>
          <a:lstStyle/>
          <a:p>
            <a:pPr marL="0" indent="0">
              <a:buNone/>
            </a:pPr>
            <a:r>
              <a:rPr lang="en-US" sz="1800" i="1" dirty="0">
                <a:latin typeface="+mj-lt"/>
                <a:sym typeface="Wingdings" panose="05000000000000000000" pitchFamily="2" charset="2"/>
              </a:rPr>
              <a:t>(Fig1 B, Elce et al. 2025)</a:t>
            </a:r>
          </a:p>
        </p:txBody>
      </p:sp>
    </p:spTree>
    <p:extLst>
      <p:ext uri="{BB962C8B-B14F-4D97-AF65-F5344CB8AC3E}">
        <p14:creationId xmlns:p14="http://schemas.microsoft.com/office/powerpoint/2010/main" val="3796503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6E35C-3193-67E2-841A-09C269D22122}"/>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FBC9D8DF-3256-188D-0372-BE431B95E7D1}"/>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Reports used</a:t>
            </a:r>
          </a:p>
        </p:txBody>
      </p:sp>
      <p:sp>
        <p:nvSpPr>
          <p:cNvPr id="9" name="ZoneTexte 8">
            <a:extLst>
              <a:ext uri="{FF2B5EF4-FFF2-40B4-BE49-F238E27FC236}">
                <a16:creationId xmlns:a16="http://schemas.microsoft.com/office/drawing/2014/main" id="{087D33FE-A7FE-3E81-F5AC-143A5A51CDBF}"/>
              </a:ext>
            </a:extLst>
          </p:cNvPr>
          <p:cNvSpPr txBox="1"/>
          <p:nvPr/>
        </p:nvSpPr>
        <p:spPr>
          <a:xfrm>
            <a:off x="393288" y="1123975"/>
            <a:ext cx="10960512" cy="3785652"/>
          </a:xfrm>
          <a:prstGeom prst="rect">
            <a:avLst/>
          </a:prstGeom>
          <a:noFill/>
        </p:spPr>
        <p:txBody>
          <a:bodyPr wrap="square">
            <a:spAutoFit/>
          </a:bodyPr>
          <a:lstStyle/>
          <a:p>
            <a:pPr marL="0" indent="0">
              <a:buNone/>
            </a:pPr>
            <a:r>
              <a:rPr lang="fr-FR" sz="2000" b="1" dirty="0" err="1">
                <a:latin typeface="+mj-lt"/>
              </a:rPr>
              <a:t>Wakefulness</a:t>
            </a:r>
            <a:r>
              <a:rPr lang="fr-FR" sz="2000" dirty="0">
                <a:latin typeface="+mj-lt"/>
              </a:rPr>
              <a:t> </a:t>
            </a:r>
            <a:r>
              <a:rPr lang="fr-FR" sz="2000" b="1" dirty="0">
                <a:latin typeface="+mj-lt"/>
              </a:rPr>
              <a:t>reports </a:t>
            </a:r>
            <a:r>
              <a:rPr lang="fr-FR" sz="2000" b="1" dirty="0">
                <a:solidFill>
                  <a:srgbClr val="FF0000"/>
                </a:solidFill>
                <a:latin typeface="+mj-lt"/>
              </a:rPr>
              <a:t>N=42 </a:t>
            </a:r>
          </a:p>
          <a:p>
            <a:pPr marL="0" indent="0">
              <a:buNone/>
            </a:pPr>
            <a:endParaRPr lang="fr-FR" sz="2000" b="1" dirty="0">
              <a:solidFill>
                <a:srgbClr val="FF0000"/>
              </a:solidFill>
              <a:latin typeface="+mj-lt"/>
            </a:endParaRPr>
          </a:p>
          <a:p>
            <a:pPr marL="0" indent="0">
              <a:buNone/>
            </a:pPr>
            <a:r>
              <a:rPr lang="fr-FR" sz="2000" dirty="0">
                <a:latin typeface="+mj-lt"/>
              </a:rPr>
              <a:t>Spotify </a:t>
            </a:r>
            <a:r>
              <a:rPr lang="fr-FR" sz="2000" b="1" dirty="0">
                <a:latin typeface="+mj-lt"/>
              </a:rPr>
              <a:t>podcast transcription </a:t>
            </a:r>
            <a:r>
              <a:rPr lang="fr-FR" sz="2000" dirty="0">
                <a:latin typeface="+mj-lt"/>
              </a:rPr>
              <a:t>of </a:t>
            </a:r>
            <a:r>
              <a:rPr lang="fr-FR" sz="2000" dirty="0" err="1">
                <a:latin typeface="+mj-lt"/>
              </a:rPr>
              <a:t>autobiographical</a:t>
            </a:r>
            <a:r>
              <a:rPr lang="fr-FR" sz="2000" dirty="0">
                <a:latin typeface="+mj-lt"/>
              </a:rPr>
              <a:t> report :</a:t>
            </a:r>
          </a:p>
          <a:p>
            <a:r>
              <a:rPr lang="fr-FR" sz="2000" i="1" dirty="0">
                <a:latin typeface="+mj-lt"/>
              </a:rPr>
              <a:t>«  </a:t>
            </a:r>
            <a:r>
              <a:rPr lang="en-US" sz="2000" i="1" dirty="0">
                <a:latin typeface="+mj-lt"/>
              </a:rPr>
              <a:t>And that’s really when I was blown away by those tropical glacier landscapes…</a:t>
            </a:r>
            <a:r>
              <a:rPr lang="fr-FR" sz="2000" i="1" dirty="0"/>
              <a:t> »</a:t>
            </a:r>
            <a:endParaRPr lang="en-US" sz="2000" i="1" dirty="0">
              <a:latin typeface="+mj-lt"/>
            </a:endParaRPr>
          </a:p>
          <a:p>
            <a:endParaRPr lang="fr-FR" sz="2000" dirty="0">
              <a:latin typeface="+mj-lt"/>
            </a:endParaRPr>
          </a:p>
          <a:p>
            <a:pPr marL="0" indent="0">
              <a:buNone/>
            </a:pPr>
            <a:r>
              <a:rPr lang="fr-FR" sz="2000" b="1" dirty="0" err="1">
                <a:latin typeface="+mj-lt"/>
              </a:rPr>
              <a:t>Autobiographical</a:t>
            </a:r>
            <a:r>
              <a:rPr lang="fr-FR" sz="2000" dirty="0">
                <a:latin typeface="+mj-lt"/>
              </a:rPr>
              <a:t> book : </a:t>
            </a:r>
            <a:r>
              <a:rPr lang="fr-FR" sz="2000" i="1" dirty="0">
                <a:latin typeface="+mj-lt"/>
              </a:rPr>
              <a:t>Rousseau and </a:t>
            </a:r>
            <a:r>
              <a:rPr lang="fr-FR" sz="2000" i="1" dirty="0" err="1">
                <a:latin typeface="+mj-lt"/>
              </a:rPr>
              <a:t>Pepy’s</a:t>
            </a:r>
            <a:r>
              <a:rPr lang="fr-FR" sz="2000" i="1" dirty="0">
                <a:latin typeface="+mj-lt"/>
              </a:rPr>
              <a:t> autobiographies</a:t>
            </a:r>
          </a:p>
          <a:p>
            <a:pPr marL="0" indent="0">
              <a:buNone/>
            </a:pPr>
            <a:endParaRPr lang="fr-FR" sz="2000" dirty="0">
              <a:latin typeface="+mj-lt"/>
            </a:endParaRPr>
          </a:p>
          <a:p>
            <a:pPr marL="0" indent="0">
              <a:buNone/>
            </a:pPr>
            <a:r>
              <a:rPr lang="fr-FR" sz="2000" dirty="0">
                <a:latin typeface="+mj-lt"/>
              </a:rPr>
              <a:t>Online self life </a:t>
            </a:r>
            <a:r>
              <a:rPr lang="fr-FR" sz="2000" dirty="0" err="1">
                <a:latin typeface="+mj-lt"/>
              </a:rPr>
              <a:t>event</a:t>
            </a:r>
            <a:r>
              <a:rPr lang="fr-FR" sz="2000" dirty="0">
                <a:latin typeface="+mj-lt"/>
              </a:rPr>
              <a:t> report on blog (</a:t>
            </a:r>
            <a:r>
              <a:rPr lang="fr-FR" sz="2000" dirty="0" err="1">
                <a:latin typeface="+mj-lt"/>
              </a:rPr>
              <a:t>Reddit</a:t>
            </a:r>
            <a:r>
              <a:rPr lang="fr-FR" sz="2000" dirty="0">
                <a:latin typeface="+mj-lt"/>
              </a:rPr>
              <a:t>)</a:t>
            </a:r>
          </a:p>
          <a:p>
            <a:pPr marL="0" indent="0">
              <a:buNone/>
            </a:pPr>
            <a:endParaRPr lang="fr-FR" sz="2000" dirty="0">
              <a:latin typeface="+mj-lt"/>
            </a:endParaRPr>
          </a:p>
          <a:p>
            <a:pPr marL="0" indent="0">
              <a:buNone/>
            </a:pPr>
            <a:endParaRPr lang="fr-FR" sz="2000" dirty="0">
              <a:latin typeface="+mj-lt"/>
            </a:endParaRPr>
          </a:p>
          <a:p>
            <a:pPr marL="0" indent="0">
              <a:buNone/>
            </a:pPr>
            <a:r>
              <a:rPr lang="fr-FR" sz="2000" b="1" dirty="0">
                <a:latin typeface="+mj-lt"/>
              </a:rPr>
              <a:t>Dreams</a:t>
            </a:r>
            <a:r>
              <a:rPr lang="fr-FR" sz="2000" dirty="0">
                <a:latin typeface="+mj-lt"/>
              </a:rPr>
              <a:t> </a:t>
            </a:r>
            <a:r>
              <a:rPr lang="fr-FR" sz="2000" b="1" dirty="0">
                <a:latin typeface="+mj-lt"/>
              </a:rPr>
              <a:t>reports </a:t>
            </a:r>
            <a:r>
              <a:rPr lang="fr-FR" sz="2000" b="1" dirty="0">
                <a:solidFill>
                  <a:srgbClr val="FF0000"/>
                </a:solidFill>
                <a:latin typeface="+mj-lt"/>
              </a:rPr>
              <a:t>N=42 </a:t>
            </a:r>
          </a:p>
          <a:p>
            <a:endParaRPr lang="fr-FR" sz="2000" i="1" dirty="0">
              <a:latin typeface="+mj-lt"/>
            </a:endParaRPr>
          </a:p>
        </p:txBody>
      </p:sp>
    </p:spTree>
    <p:extLst>
      <p:ext uri="{BB962C8B-B14F-4D97-AF65-F5344CB8AC3E}">
        <p14:creationId xmlns:p14="http://schemas.microsoft.com/office/powerpoint/2010/main" val="361974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0AC53-638B-78AD-38C9-18F3E77F51C8}"/>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1A10EF3C-CA54-64D0-4AD3-484FBE805C3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Reports used</a:t>
            </a:r>
          </a:p>
        </p:txBody>
      </p:sp>
      <p:sp>
        <p:nvSpPr>
          <p:cNvPr id="9" name="ZoneTexte 8">
            <a:extLst>
              <a:ext uri="{FF2B5EF4-FFF2-40B4-BE49-F238E27FC236}">
                <a16:creationId xmlns:a16="http://schemas.microsoft.com/office/drawing/2014/main" id="{2846E49D-570C-53F6-6D03-95B487044344}"/>
              </a:ext>
            </a:extLst>
          </p:cNvPr>
          <p:cNvSpPr txBox="1"/>
          <p:nvPr/>
        </p:nvSpPr>
        <p:spPr>
          <a:xfrm>
            <a:off x="393288" y="1123975"/>
            <a:ext cx="10960512" cy="5632311"/>
          </a:xfrm>
          <a:prstGeom prst="rect">
            <a:avLst/>
          </a:prstGeom>
          <a:noFill/>
        </p:spPr>
        <p:txBody>
          <a:bodyPr wrap="square">
            <a:spAutoFit/>
          </a:bodyPr>
          <a:lstStyle/>
          <a:p>
            <a:pPr marL="0" indent="0">
              <a:buNone/>
            </a:pPr>
            <a:r>
              <a:rPr lang="fr-FR" sz="2000" b="1" dirty="0" err="1">
                <a:latin typeface="+mj-lt"/>
              </a:rPr>
              <a:t>Wakefulness</a:t>
            </a:r>
            <a:r>
              <a:rPr lang="fr-FR" sz="2000" dirty="0">
                <a:latin typeface="+mj-lt"/>
              </a:rPr>
              <a:t> </a:t>
            </a:r>
            <a:r>
              <a:rPr lang="fr-FR" sz="2000" b="1" dirty="0">
                <a:latin typeface="+mj-lt"/>
              </a:rPr>
              <a:t>reports </a:t>
            </a:r>
            <a:r>
              <a:rPr lang="fr-FR" sz="2000" b="1" dirty="0">
                <a:solidFill>
                  <a:srgbClr val="FF0000"/>
                </a:solidFill>
                <a:latin typeface="+mj-lt"/>
              </a:rPr>
              <a:t>N=42 </a:t>
            </a:r>
          </a:p>
          <a:p>
            <a:pPr marL="0" indent="0">
              <a:buNone/>
            </a:pPr>
            <a:endParaRPr lang="fr-FR" sz="2000" b="1" dirty="0">
              <a:solidFill>
                <a:srgbClr val="FF0000"/>
              </a:solidFill>
              <a:latin typeface="+mj-lt"/>
            </a:endParaRPr>
          </a:p>
          <a:p>
            <a:pPr marL="0" indent="0">
              <a:buNone/>
            </a:pPr>
            <a:r>
              <a:rPr lang="fr-FR" sz="2000" dirty="0">
                <a:latin typeface="+mj-lt"/>
              </a:rPr>
              <a:t>Spotify </a:t>
            </a:r>
            <a:r>
              <a:rPr lang="fr-FR" sz="2000" b="1" dirty="0">
                <a:latin typeface="+mj-lt"/>
              </a:rPr>
              <a:t>podcast transcription </a:t>
            </a:r>
            <a:r>
              <a:rPr lang="fr-FR" sz="2000" dirty="0">
                <a:latin typeface="+mj-lt"/>
              </a:rPr>
              <a:t>of </a:t>
            </a:r>
            <a:r>
              <a:rPr lang="fr-FR" sz="2000" dirty="0" err="1">
                <a:latin typeface="+mj-lt"/>
              </a:rPr>
              <a:t>autobiographical</a:t>
            </a:r>
            <a:r>
              <a:rPr lang="fr-FR" sz="2000" dirty="0">
                <a:latin typeface="+mj-lt"/>
              </a:rPr>
              <a:t> report :</a:t>
            </a:r>
          </a:p>
          <a:p>
            <a:r>
              <a:rPr lang="fr-FR" sz="2000" i="1" dirty="0">
                <a:latin typeface="+mj-lt"/>
              </a:rPr>
              <a:t>«  </a:t>
            </a:r>
            <a:r>
              <a:rPr lang="en-US" sz="2000" i="1" dirty="0">
                <a:latin typeface="+mj-lt"/>
              </a:rPr>
              <a:t>And that’s really when I was blown away by those tropical glacier landscapes…</a:t>
            </a:r>
            <a:r>
              <a:rPr lang="fr-FR" sz="2000" i="1" dirty="0"/>
              <a:t> »</a:t>
            </a:r>
            <a:endParaRPr lang="en-US" sz="2000" i="1" dirty="0">
              <a:latin typeface="+mj-lt"/>
            </a:endParaRPr>
          </a:p>
          <a:p>
            <a:endParaRPr lang="fr-FR" sz="2000" dirty="0">
              <a:latin typeface="+mj-lt"/>
            </a:endParaRPr>
          </a:p>
          <a:p>
            <a:pPr marL="0" indent="0">
              <a:buNone/>
            </a:pPr>
            <a:r>
              <a:rPr lang="fr-FR" sz="2000" b="1" dirty="0" err="1">
                <a:latin typeface="+mj-lt"/>
              </a:rPr>
              <a:t>Autobiographical</a:t>
            </a:r>
            <a:r>
              <a:rPr lang="fr-FR" sz="2000" dirty="0">
                <a:latin typeface="+mj-lt"/>
              </a:rPr>
              <a:t> book : </a:t>
            </a:r>
            <a:r>
              <a:rPr lang="fr-FR" sz="2000" i="1" dirty="0">
                <a:latin typeface="+mj-lt"/>
              </a:rPr>
              <a:t>Rousseau and </a:t>
            </a:r>
            <a:r>
              <a:rPr lang="fr-FR" sz="2000" i="1" dirty="0" err="1">
                <a:latin typeface="+mj-lt"/>
              </a:rPr>
              <a:t>Pepy’s</a:t>
            </a:r>
            <a:r>
              <a:rPr lang="fr-FR" sz="2000" i="1" dirty="0">
                <a:latin typeface="+mj-lt"/>
              </a:rPr>
              <a:t> autobiographies</a:t>
            </a:r>
          </a:p>
          <a:p>
            <a:pPr marL="0" indent="0">
              <a:buNone/>
            </a:pPr>
            <a:endParaRPr lang="fr-FR" sz="2000" dirty="0">
              <a:latin typeface="+mj-lt"/>
            </a:endParaRPr>
          </a:p>
          <a:p>
            <a:pPr marL="0" indent="0">
              <a:buNone/>
            </a:pPr>
            <a:r>
              <a:rPr lang="fr-FR" sz="2000" dirty="0">
                <a:latin typeface="+mj-lt"/>
              </a:rPr>
              <a:t>Online self life </a:t>
            </a:r>
            <a:r>
              <a:rPr lang="fr-FR" sz="2000" dirty="0" err="1">
                <a:latin typeface="+mj-lt"/>
              </a:rPr>
              <a:t>event</a:t>
            </a:r>
            <a:r>
              <a:rPr lang="fr-FR" sz="2000" dirty="0">
                <a:latin typeface="+mj-lt"/>
              </a:rPr>
              <a:t> report on blog (</a:t>
            </a:r>
            <a:r>
              <a:rPr lang="fr-FR" sz="2000" dirty="0" err="1">
                <a:latin typeface="+mj-lt"/>
              </a:rPr>
              <a:t>Reddit</a:t>
            </a:r>
            <a:r>
              <a:rPr lang="fr-FR" sz="2000" dirty="0">
                <a:latin typeface="+mj-lt"/>
              </a:rPr>
              <a:t>)</a:t>
            </a:r>
          </a:p>
          <a:p>
            <a:pPr marL="0" indent="0">
              <a:buNone/>
            </a:pPr>
            <a:endParaRPr lang="fr-FR" sz="2000" dirty="0">
              <a:latin typeface="+mj-lt"/>
            </a:endParaRPr>
          </a:p>
          <a:p>
            <a:pPr marL="0" indent="0">
              <a:buNone/>
            </a:pPr>
            <a:endParaRPr lang="fr-FR" sz="2000" dirty="0">
              <a:latin typeface="+mj-lt"/>
            </a:endParaRPr>
          </a:p>
          <a:p>
            <a:pPr marL="0" indent="0">
              <a:buNone/>
            </a:pPr>
            <a:r>
              <a:rPr lang="fr-FR" sz="2000" b="1" dirty="0">
                <a:latin typeface="+mj-lt"/>
              </a:rPr>
              <a:t>Dreams</a:t>
            </a:r>
            <a:r>
              <a:rPr lang="fr-FR" sz="2000" dirty="0">
                <a:latin typeface="+mj-lt"/>
              </a:rPr>
              <a:t> </a:t>
            </a:r>
            <a:r>
              <a:rPr lang="fr-FR" sz="2000" b="1" dirty="0">
                <a:latin typeface="+mj-lt"/>
              </a:rPr>
              <a:t>reports </a:t>
            </a:r>
            <a:r>
              <a:rPr lang="fr-FR" sz="2000" b="1" dirty="0">
                <a:solidFill>
                  <a:srgbClr val="FF0000"/>
                </a:solidFill>
                <a:latin typeface="+mj-lt"/>
              </a:rPr>
              <a:t>N=42 </a:t>
            </a:r>
          </a:p>
          <a:p>
            <a:pPr marL="0" indent="0">
              <a:buNone/>
            </a:pPr>
            <a:endParaRPr lang="fr-FR" sz="2000" dirty="0">
              <a:latin typeface="+mj-lt"/>
            </a:endParaRPr>
          </a:p>
          <a:p>
            <a:r>
              <a:rPr lang="fr-FR" sz="2000" b="1" dirty="0" err="1">
                <a:latin typeface="+mj-lt"/>
              </a:rPr>
              <a:t>Dream</a:t>
            </a:r>
            <a:r>
              <a:rPr lang="fr-FR" sz="2000" b="1" dirty="0">
                <a:latin typeface="+mj-lt"/>
              </a:rPr>
              <a:t> Reports </a:t>
            </a:r>
            <a:r>
              <a:rPr lang="fr-FR" sz="2000" dirty="0">
                <a:latin typeface="+mj-lt"/>
              </a:rPr>
              <a:t>of </a:t>
            </a:r>
            <a:r>
              <a:rPr lang="fr-FR" sz="2000" i="1" dirty="0" err="1">
                <a:latin typeface="+mj-lt"/>
              </a:rPr>
              <a:t>Kirberg</a:t>
            </a:r>
            <a:r>
              <a:rPr lang="fr-FR" sz="2000" i="1" dirty="0">
                <a:latin typeface="+mj-lt"/>
              </a:rPr>
              <a:t> et al., 2026 :</a:t>
            </a:r>
          </a:p>
          <a:p>
            <a:r>
              <a:rPr lang="fr-FR" sz="2000" i="1" dirty="0">
                <a:latin typeface="+mj-lt"/>
              </a:rPr>
              <a:t> « </a:t>
            </a:r>
            <a:r>
              <a:rPr lang="en-US" sz="2000" i="1" dirty="0">
                <a:latin typeface="+mj-lt"/>
              </a:rPr>
              <a:t>I'm in a little boat and it is all made out of Lego, the toy Lego and I'm looking around me trying to figure out why everything around me seems to be made of Lego</a:t>
            </a:r>
            <a:r>
              <a:rPr lang="fr-FR" sz="2000" i="1" dirty="0">
                <a:latin typeface="+mj-lt"/>
              </a:rPr>
              <a:t> » </a:t>
            </a:r>
          </a:p>
          <a:p>
            <a:endParaRPr lang="fr-FR" sz="2000" i="1" dirty="0">
              <a:latin typeface="+mj-lt"/>
            </a:endParaRPr>
          </a:p>
          <a:p>
            <a:r>
              <a:rPr lang="fr-FR" sz="2000" dirty="0"/>
              <a:t> </a:t>
            </a:r>
            <a:r>
              <a:rPr lang="fr-FR" sz="2000" dirty="0" err="1"/>
              <a:t>My</a:t>
            </a:r>
            <a:r>
              <a:rPr lang="fr-FR" sz="2000" dirty="0"/>
              <a:t> </a:t>
            </a:r>
            <a:r>
              <a:rPr lang="fr-FR" sz="2000" b="1" dirty="0" err="1"/>
              <a:t>own</a:t>
            </a:r>
            <a:r>
              <a:rPr lang="fr-FR" sz="2000" b="1" dirty="0"/>
              <a:t> </a:t>
            </a:r>
            <a:r>
              <a:rPr lang="fr-FR" sz="2000" b="1" dirty="0" err="1"/>
              <a:t>dream</a:t>
            </a:r>
            <a:r>
              <a:rPr lang="fr-FR" sz="2000" b="1" dirty="0"/>
              <a:t> journal </a:t>
            </a:r>
            <a:r>
              <a:rPr lang="fr-FR" sz="2000" dirty="0"/>
              <a:t>and </a:t>
            </a:r>
            <a:r>
              <a:rPr lang="fr-FR" sz="2000" dirty="0" err="1"/>
              <a:t>dream</a:t>
            </a:r>
            <a:r>
              <a:rPr lang="fr-FR" sz="2000" dirty="0"/>
              <a:t> </a:t>
            </a:r>
          </a:p>
          <a:p>
            <a:endParaRPr lang="fr-FR" sz="2000" i="1" dirty="0">
              <a:latin typeface="+mj-lt"/>
            </a:endParaRPr>
          </a:p>
        </p:txBody>
      </p:sp>
    </p:spTree>
    <p:extLst>
      <p:ext uri="{BB962C8B-B14F-4D97-AF65-F5344CB8AC3E}">
        <p14:creationId xmlns:p14="http://schemas.microsoft.com/office/powerpoint/2010/main" val="544186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DEB19-E875-C4B1-4A3C-CAED2B15B99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701B638-FB82-612E-10FB-718637E3E237}"/>
              </a:ext>
            </a:extLst>
          </p:cNvPr>
          <p:cNvSpPr>
            <a:spLocks noGrp="1"/>
          </p:cNvSpPr>
          <p:nvPr>
            <p:ph idx="1"/>
          </p:nvPr>
        </p:nvSpPr>
        <p:spPr>
          <a:xfrm>
            <a:off x="140677" y="1585937"/>
            <a:ext cx="5174901" cy="4351338"/>
          </a:xfrm>
        </p:spPr>
        <p:txBody>
          <a:bodyPr>
            <a:noAutofit/>
          </a:bodyPr>
          <a:lstStyle/>
          <a:p>
            <a:pPr marL="0" indent="0">
              <a:buNone/>
            </a:pPr>
            <a:r>
              <a:rPr lang="fr-FR" sz="2200" dirty="0">
                <a:solidFill>
                  <a:srgbClr val="FF0000"/>
                </a:solidFill>
                <a:latin typeface="+mj-lt"/>
              </a:rPr>
              <a:t>Score</a:t>
            </a:r>
            <a:r>
              <a:rPr lang="fr-FR" sz="2200" dirty="0">
                <a:latin typeface="+mj-lt"/>
              </a:rPr>
              <a:t> formula </a:t>
            </a:r>
            <a:r>
              <a:rPr lang="fr-FR" sz="2200" dirty="0" err="1">
                <a:latin typeface="+mj-lt"/>
              </a:rPr>
              <a:t>based</a:t>
            </a:r>
            <a:r>
              <a:rPr lang="fr-FR" sz="2200" dirty="0">
                <a:latin typeface="+mj-lt"/>
              </a:rPr>
              <a:t> on </a:t>
            </a:r>
            <a:r>
              <a:rPr lang="fr-FR" sz="2200" dirty="0" err="1">
                <a:latin typeface="+mj-lt"/>
              </a:rPr>
              <a:t>cohen’s</a:t>
            </a:r>
            <a:r>
              <a:rPr lang="fr-FR" sz="2200" dirty="0">
                <a:latin typeface="+mj-lt"/>
              </a:rPr>
              <a:t> d score of </a:t>
            </a:r>
            <a:r>
              <a:rPr lang="en-US" sz="2200" dirty="0">
                <a:latin typeface="+mj-lt"/>
              </a:rPr>
              <a:t>differences between vigilance states and dimensions weight</a:t>
            </a:r>
          </a:p>
          <a:p>
            <a:pPr marL="0" indent="0">
              <a:buNone/>
            </a:pPr>
            <a:endParaRPr lang="en-US" sz="2200" dirty="0">
              <a:latin typeface="+mj-lt"/>
            </a:endParaRPr>
          </a:p>
          <a:p>
            <a:pPr marL="0" indent="0">
              <a:buNone/>
            </a:pPr>
            <a:r>
              <a:rPr lang="fr-FR" sz="2200" b="1" dirty="0">
                <a:solidFill>
                  <a:srgbClr val="FF0000"/>
                </a:solidFill>
                <a:latin typeface="+mj-lt"/>
              </a:rPr>
              <a:t>Score = </a:t>
            </a:r>
            <a:r>
              <a:rPr lang="en-US" sz="2200" b="1" dirty="0">
                <a:solidFill>
                  <a:srgbClr val="FF0000"/>
                </a:solidFill>
                <a:latin typeface="+mj-lt"/>
              </a:rPr>
              <a:t>Σ(</a:t>
            </a:r>
            <a:r>
              <a:rPr lang="en-US" sz="2200" b="1" dirty="0" err="1">
                <a:solidFill>
                  <a:srgbClr val="FF0000"/>
                </a:solidFill>
                <a:latin typeface="+mj-lt"/>
              </a:rPr>
              <a:t>scored_dimension_i</a:t>
            </a:r>
            <a:r>
              <a:rPr lang="en-US" sz="2200" b="1" dirty="0">
                <a:solidFill>
                  <a:srgbClr val="FF0000"/>
                </a:solidFill>
                <a:latin typeface="+mj-lt"/>
              </a:rPr>
              <a:t> × </a:t>
            </a:r>
            <a:r>
              <a:rPr lang="en-US" sz="2200" b="1" dirty="0" err="1">
                <a:solidFill>
                  <a:srgbClr val="FF0000"/>
                </a:solidFill>
                <a:latin typeface="+mj-lt"/>
              </a:rPr>
              <a:t>weight_i</a:t>
            </a:r>
            <a:r>
              <a:rPr lang="en-US" sz="2200" b="1" dirty="0">
                <a:solidFill>
                  <a:srgbClr val="FF0000"/>
                </a:solidFill>
                <a:latin typeface="+mj-lt"/>
              </a:rPr>
              <a:t>)</a:t>
            </a:r>
          </a:p>
          <a:p>
            <a:pPr marL="0" indent="0">
              <a:buNone/>
            </a:pPr>
            <a:endParaRPr lang="en-US" sz="2200" b="1" dirty="0">
              <a:solidFill>
                <a:srgbClr val="FF0000"/>
              </a:solidFill>
              <a:latin typeface="+mj-lt"/>
            </a:endParaRPr>
          </a:p>
          <a:p>
            <a:pPr marL="0" indent="0">
              <a:buNone/>
            </a:pPr>
            <a:endParaRPr lang="en-US" sz="2200" b="1" dirty="0">
              <a:solidFill>
                <a:srgbClr val="FF0000"/>
              </a:solidFill>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GB" sz="2200" noProof="0" dirty="0">
              <a:latin typeface="+mj-lt"/>
            </a:endParaRPr>
          </a:p>
        </p:txBody>
      </p:sp>
      <p:sp>
        <p:nvSpPr>
          <p:cNvPr id="6" name="Titre 1">
            <a:extLst>
              <a:ext uri="{FF2B5EF4-FFF2-40B4-BE49-F238E27FC236}">
                <a16:creationId xmlns:a16="http://schemas.microsoft.com/office/drawing/2014/main" id="{5AB68376-79B4-052F-02DF-A3A74BD2140F}"/>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a:solidFill>
                  <a:schemeClr val="tx2"/>
                </a:solidFill>
                <a:latin typeface="Bookman Old Style" panose="02050604050505020204" pitchFamily="18" charset="0"/>
              </a:rPr>
              <a:t>Dream/Wakefulness Score</a:t>
            </a:r>
            <a:endParaRPr lang="en-GB" sz="2900" dirty="0">
              <a:latin typeface="Bookman Old Style" panose="02050604050505020204" pitchFamily="18" charset="0"/>
            </a:endParaRPr>
          </a:p>
        </p:txBody>
      </p:sp>
      <p:pic>
        <p:nvPicPr>
          <p:cNvPr id="2" name="Image 1">
            <a:extLst>
              <a:ext uri="{FF2B5EF4-FFF2-40B4-BE49-F238E27FC236}">
                <a16:creationId xmlns:a16="http://schemas.microsoft.com/office/drawing/2014/main" id="{9A1B4162-FA0E-4BE8-EA56-0353249E0A01}"/>
              </a:ext>
            </a:extLst>
          </p:cNvPr>
          <p:cNvPicPr>
            <a:picLocks noChangeAspect="1"/>
          </p:cNvPicPr>
          <p:nvPr/>
        </p:nvPicPr>
        <p:blipFill>
          <a:blip r:embed="rId2"/>
          <a:stretch>
            <a:fillRect/>
          </a:stretch>
        </p:blipFill>
        <p:spPr>
          <a:xfrm>
            <a:off x="5315578" y="1452997"/>
            <a:ext cx="6668331" cy="4484278"/>
          </a:xfrm>
          <a:prstGeom prst="rect">
            <a:avLst/>
          </a:prstGeom>
        </p:spPr>
      </p:pic>
      <p:sp>
        <p:nvSpPr>
          <p:cNvPr id="7" name="ZoneTexte 6">
            <a:extLst>
              <a:ext uri="{FF2B5EF4-FFF2-40B4-BE49-F238E27FC236}">
                <a16:creationId xmlns:a16="http://schemas.microsoft.com/office/drawing/2014/main" id="{144451F0-17A1-38CD-E76C-B7DB7E471C91}"/>
              </a:ext>
            </a:extLst>
          </p:cNvPr>
          <p:cNvSpPr txBox="1"/>
          <p:nvPr/>
        </p:nvSpPr>
        <p:spPr>
          <a:xfrm>
            <a:off x="7069394" y="6064709"/>
            <a:ext cx="6096000" cy="369332"/>
          </a:xfrm>
          <a:prstGeom prst="rect">
            <a:avLst/>
          </a:prstGeom>
          <a:noFill/>
        </p:spPr>
        <p:txBody>
          <a:bodyPr wrap="square">
            <a:spAutoFit/>
          </a:bodyPr>
          <a:lstStyle/>
          <a:p>
            <a:pPr marL="0" indent="0">
              <a:buNone/>
            </a:pPr>
            <a:r>
              <a:rPr lang="en-US" sz="1800" i="1" dirty="0">
                <a:latin typeface="+mj-lt"/>
                <a:sym typeface="Wingdings" panose="05000000000000000000" pitchFamily="2" charset="2"/>
              </a:rPr>
              <a:t>(TabS1 Supp Data, Elce et al. 2025)</a:t>
            </a:r>
          </a:p>
        </p:txBody>
      </p:sp>
    </p:spTree>
    <p:extLst>
      <p:ext uri="{BB962C8B-B14F-4D97-AF65-F5344CB8AC3E}">
        <p14:creationId xmlns:p14="http://schemas.microsoft.com/office/powerpoint/2010/main" val="4266230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9F29D-8C16-8F05-9472-56EA7A0244F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5E40F9C-CF24-2478-BDE0-D5E181EC2F8D}"/>
              </a:ext>
            </a:extLst>
          </p:cNvPr>
          <p:cNvSpPr>
            <a:spLocks noGrp="1"/>
          </p:cNvSpPr>
          <p:nvPr>
            <p:ph idx="1"/>
          </p:nvPr>
        </p:nvSpPr>
        <p:spPr>
          <a:xfrm>
            <a:off x="140677" y="1585937"/>
            <a:ext cx="5174901" cy="4351338"/>
          </a:xfrm>
        </p:spPr>
        <p:txBody>
          <a:bodyPr>
            <a:noAutofit/>
          </a:bodyPr>
          <a:lstStyle/>
          <a:p>
            <a:pPr marL="0" indent="0">
              <a:buNone/>
            </a:pPr>
            <a:r>
              <a:rPr lang="fr-FR" sz="2200" dirty="0">
                <a:solidFill>
                  <a:srgbClr val="FF0000"/>
                </a:solidFill>
                <a:latin typeface="+mj-lt"/>
              </a:rPr>
              <a:t>Score</a:t>
            </a:r>
            <a:r>
              <a:rPr lang="fr-FR" sz="2200" dirty="0">
                <a:latin typeface="+mj-lt"/>
              </a:rPr>
              <a:t> formula </a:t>
            </a:r>
            <a:r>
              <a:rPr lang="fr-FR" sz="2200" dirty="0" err="1">
                <a:latin typeface="+mj-lt"/>
              </a:rPr>
              <a:t>based</a:t>
            </a:r>
            <a:r>
              <a:rPr lang="fr-FR" sz="2200" dirty="0">
                <a:latin typeface="+mj-lt"/>
              </a:rPr>
              <a:t> on </a:t>
            </a:r>
            <a:r>
              <a:rPr lang="fr-FR" sz="2200" dirty="0" err="1">
                <a:latin typeface="+mj-lt"/>
              </a:rPr>
              <a:t>cohen’s</a:t>
            </a:r>
            <a:r>
              <a:rPr lang="fr-FR" sz="2200" dirty="0">
                <a:latin typeface="+mj-lt"/>
              </a:rPr>
              <a:t> d score of </a:t>
            </a:r>
            <a:r>
              <a:rPr lang="en-US" sz="2200" dirty="0">
                <a:latin typeface="+mj-lt"/>
              </a:rPr>
              <a:t>differences between vigilance states and dimensions weight</a:t>
            </a:r>
          </a:p>
          <a:p>
            <a:pPr marL="0" indent="0">
              <a:buNone/>
            </a:pPr>
            <a:endParaRPr lang="en-US" sz="2200" dirty="0">
              <a:latin typeface="+mj-lt"/>
            </a:endParaRPr>
          </a:p>
          <a:p>
            <a:pPr marL="0" indent="0">
              <a:buNone/>
            </a:pPr>
            <a:r>
              <a:rPr lang="fr-FR" sz="2200" b="1" dirty="0">
                <a:solidFill>
                  <a:srgbClr val="FF0000"/>
                </a:solidFill>
                <a:latin typeface="+mj-lt"/>
              </a:rPr>
              <a:t>Score = </a:t>
            </a:r>
            <a:r>
              <a:rPr lang="en-US" sz="2200" b="1" dirty="0">
                <a:solidFill>
                  <a:srgbClr val="FF0000"/>
                </a:solidFill>
                <a:latin typeface="+mj-lt"/>
              </a:rPr>
              <a:t>Σ(</a:t>
            </a:r>
            <a:r>
              <a:rPr lang="en-US" sz="2200" b="1" dirty="0" err="1">
                <a:solidFill>
                  <a:srgbClr val="FF0000"/>
                </a:solidFill>
                <a:latin typeface="+mj-lt"/>
              </a:rPr>
              <a:t>scored_dimension_i</a:t>
            </a:r>
            <a:r>
              <a:rPr lang="en-US" sz="2200" b="1" dirty="0">
                <a:solidFill>
                  <a:srgbClr val="FF0000"/>
                </a:solidFill>
                <a:latin typeface="+mj-lt"/>
              </a:rPr>
              <a:t> × </a:t>
            </a:r>
            <a:r>
              <a:rPr lang="en-US" sz="2200" b="1" dirty="0" err="1">
                <a:solidFill>
                  <a:srgbClr val="FF0000"/>
                </a:solidFill>
                <a:latin typeface="+mj-lt"/>
              </a:rPr>
              <a:t>weight_i</a:t>
            </a:r>
            <a:r>
              <a:rPr lang="en-US" sz="2200" b="1" dirty="0">
                <a:solidFill>
                  <a:srgbClr val="FF0000"/>
                </a:solidFill>
                <a:latin typeface="+mj-lt"/>
              </a:rPr>
              <a:t>)</a:t>
            </a:r>
          </a:p>
          <a:p>
            <a:pPr marL="0" indent="0">
              <a:buNone/>
            </a:pPr>
            <a:endParaRPr lang="en-US" sz="2200" b="1" dirty="0">
              <a:solidFill>
                <a:srgbClr val="FF0000"/>
              </a:solidFill>
              <a:latin typeface="+mj-lt"/>
            </a:endParaRPr>
          </a:p>
          <a:p>
            <a:pPr marL="0" indent="0">
              <a:buNone/>
            </a:pPr>
            <a:endParaRPr lang="en-US" sz="2200" b="1" dirty="0">
              <a:solidFill>
                <a:srgbClr val="FF0000"/>
              </a:solidFill>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GB" sz="2200" noProof="0" dirty="0">
              <a:latin typeface="+mj-lt"/>
            </a:endParaRPr>
          </a:p>
        </p:txBody>
      </p:sp>
      <p:sp>
        <p:nvSpPr>
          <p:cNvPr id="6" name="Titre 1">
            <a:extLst>
              <a:ext uri="{FF2B5EF4-FFF2-40B4-BE49-F238E27FC236}">
                <a16:creationId xmlns:a16="http://schemas.microsoft.com/office/drawing/2014/main" id="{8EB4B4B8-53CF-5E99-8B3E-81315120E00A}"/>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a:solidFill>
                  <a:schemeClr val="tx2"/>
                </a:solidFill>
                <a:latin typeface="Bookman Old Style" panose="02050604050505020204" pitchFamily="18" charset="0"/>
              </a:rPr>
              <a:t>Dream/Wakefulness Score</a:t>
            </a:r>
            <a:endParaRPr lang="en-GB" sz="2900" dirty="0">
              <a:latin typeface="Bookman Old Style" panose="02050604050505020204" pitchFamily="18" charset="0"/>
            </a:endParaRPr>
          </a:p>
        </p:txBody>
      </p:sp>
      <p:pic>
        <p:nvPicPr>
          <p:cNvPr id="5" name="Image 4">
            <a:extLst>
              <a:ext uri="{FF2B5EF4-FFF2-40B4-BE49-F238E27FC236}">
                <a16:creationId xmlns:a16="http://schemas.microsoft.com/office/drawing/2014/main" id="{4071ECEF-F927-386D-9862-6EF1ADC05E12}"/>
              </a:ext>
            </a:extLst>
          </p:cNvPr>
          <p:cNvPicPr>
            <a:picLocks noChangeAspect="1"/>
          </p:cNvPicPr>
          <p:nvPr/>
        </p:nvPicPr>
        <p:blipFill>
          <a:blip r:embed="rId2"/>
          <a:stretch>
            <a:fillRect/>
          </a:stretch>
        </p:blipFill>
        <p:spPr>
          <a:xfrm>
            <a:off x="6338159" y="1084403"/>
            <a:ext cx="4690165" cy="5497268"/>
          </a:xfrm>
          <a:prstGeom prst="rect">
            <a:avLst/>
          </a:prstGeom>
        </p:spPr>
      </p:pic>
    </p:spTree>
    <p:extLst>
      <p:ext uri="{BB962C8B-B14F-4D97-AF65-F5344CB8AC3E}">
        <p14:creationId xmlns:p14="http://schemas.microsoft.com/office/powerpoint/2010/main" val="3221328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C803-0027-5B07-EEB9-F278F25B3C9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1686A15-5783-94C8-E22C-053163D79042}"/>
              </a:ext>
            </a:extLst>
          </p:cNvPr>
          <p:cNvSpPr>
            <a:spLocks noGrp="1"/>
          </p:cNvSpPr>
          <p:nvPr>
            <p:ph idx="1"/>
          </p:nvPr>
        </p:nvSpPr>
        <p:spPr>
          <a:xfrm>
            <a:off x="140676" y="1325563"/>
            <a:ext cx="6073310" cy="4351338"/>
          </a:xfrm>
        </p:spPr>
        <p:txBody>
          <a:bodyPr>
            <a:noAutofit/>
          </a:bodyPr>
          <a:lstStyle/>
          <a:p>
            <a:pPr marL="0" indent="0">
              <a:buNone/>
            </a:pPr>
            <a:endParaRPr lang="en-US" sz="2200" dirty="0">
              <a:latin typeface="+mj-lt"/>
            </a:endParaRPr>
          </a:p>
          <a:p>
            <a:pPr marL="0" indent="0">
              <a:buNone/>
            </a:pPr>
            <a:r>
              <a:rPr lang="fr-FR" sz="2200" b="1" dirty="0">
                <a:solidFill>
                  <a:srgbClr val="FF0000"/>
                </a:solidFill>
                <a:latin typeface="+mj-lt"/>
              </a:rPr>
              <a:t>Score = </a:t>
            </a:r>
            <a:r>
              <a:rPr lang="en-US" sz="2200" b="1" dirty="0">
                <a:solidFill>
                  <a:srgbClr val="FF0000"/>
                </a:solidFill>
                <a:latin typeface="+mj-lt"/>
              </a:rPr>
              <a:t>Σ(</a:t>
            </a:r>
            <a:r>
              <a:rPr lang="en-US" sz="2200" b="1" dirty="0" err="1">
                <a:solidFill>
                  <a:srgbClr val="FF0000"/>
                </a:solidFill>
                <a:latin typeface="+mj-lt"/>
              </a:rPr>
              <a:t>scored_dimension_i</a:t>
            </a:r>
            <a:r>
              <a:rPr lang="en-US" sz="2200" b="1" dirty="0">
                <a:solidFill>
                  <a:srgbClr val="FF0000"/>
                </a:solidFill>
                <a:latin typeface="+mj-lt"/>
              </a:rPr>
              <a:t> × </a:t>
            </a:r>
            <a:r>
              <a:rPr lang="en-US" sz="2200" b="1" dirty="0" err="1">
                <a:solidFill>
                  <a:srgbClr val="FF0000"/>
                </a:solidFill>
                <a:latin typeface="+mj-lt"/>
              </a:rPr>
              <a:t>weight_i</a:t>
            </a:r>
            <a:r>
              <a:rPr lang="en-US" sz="2200" b="1" dirty="0">
                <a:solidFill>
                  <a:srgbClr val="FF0000"/>
                </a:solidFill>
                <a:latin typeface="+mj-lt"/>
              </a:rPr>
              <a:t>)</a:t>
            </a:r>
          </a:p>
          <a:p>
            <a:pPr marL="0" indent="0">
              <a:buNone/>
            </a:pPr>
            <a:endParaRPr lang="en-US" sz="2200" b="1" dirty="0">
              <a:solidFill>
                <a:srgbClr val="FF0000"/>
              </a:solidFill>
              <a:latin typeface="+mj-lt"/>
            </a:endParaRPr>
          </a:p>
          <a:p>
            <a:pPr marL="0" indent="0">
              <a:buNone/>
            </a:pPr>
            <a:r>
              <a:rPr lang="fr-FR" sz="2200" b="1" i="1" dirty="0"/>
              <a:t>« I </a:t>
            </a:r>
            <a:r>
              <a:rPr lang="fr-FR" sz="2200" b="1" i="1" dirty="0" err="1"/>
              <a:t>was</a:t>
            </a:r>
            <a:r>
              <a:rPr lang="fr-FR" sz="2200" b="1" i="1" dirty="0"/>
              <a:t> </a:t>
            </a:r>
            <a:r>
              <a:rPr lang="fr-FR" sz="2200" b="1" i="1" dirty="0" err="1"/>
              <a:t>flying</a:t>
            </a:r>
            <a:r>
              <a:rPr lang="fr-FR" sz="2200" b="1" i="1" dirty="0"/>
              <a:t> »</a:t>
            </a:r>
          </a:p>
          <a:p>
            <a:pPr marL="0" indent="0">
              <a:buNone/>
            </a:pPr>
            <a:endParaRPr lang="fr-FR" sz="2200" b="1" dirty="0"/>
          </a:p>
          <a:p>
            <a:pPr marL="0" indent="0">
              <a:buNone/>
            </a:pPr>
            <a:r>
              <a:rPr lang="fr-FR" sz="2200" dirty="0" err="1"/>
              <a:t>Scorables</a:t>
            </a:r>
            <a:r>
              <a:rPr lang="fr-FR" sz="2200" dirty="0"/>
              <a:t> dimensions :</a:t>
            </a:r>
          </a:p>
          <a:p>
            <a:pPr marL="0" indent="0">
              <a:buNone/>
            </a:pPr>
            <a:r>
              <a:rPr lang="fr-FR" sz="2200" dirty="0"/>
              <a:t>BIZARRENESS = 10, </a:t>
            </a:r>
            <a:r>
              <a:rPr lang="fr-FR" sz="2200" dirty="0" err="1"/>
              <a:t>weight</a:t>
            </a:r>
            <a:r>
              <a:rPr lang="fr-FR" sz="2200" dirty="0"/>
              <a:t> = +2.85 → +28.50</a:t>
            </a:r>
          </a:p>
          <a:p>
            <a:pPr marL="0" indent="0">
              <a:buNone/>
            </a:pPr>
            <a:r>
              <a:rPr lang="fr-FR" sz="2200" dirty="0"/>
              <a:t>VISUAL = 5, </a:t>
            </a:r>
            <a:r>
              <a:rPr lang="fr-FR" sz="2200" dirty="0" err="1"/>
              <a:t>weight</a:t>
            </a:r>
            <a:r>
              <a:rPr lang="fr-FR" sz="2200" dirty="0"/>
              <a:t> = +1.52 → +7.60</a:t>
            </a:r>
          </a:p>
          <a:p>
            <a:pPr marL="0" indent="0">
              <a:buNone/>
            </a:pPr>
            <a:r>
              <a:rPr lang="fr-FR" sz="2200" dirty="0"/>
              <a:t>MOVEMENTS = 7, </a:t>
            </a:r>
            <a:r>
              <a:rPr lang="fr-FR" sz="2200" dirty="0" err="1"/>
              <a:t>weight</a:t>
            </a:r>
            <a:r>
              <a:rPr lang="fr-FR" sz="2200" dirty="0"/>
              <a:t> = +0.83 → +5.81</a:t>
            </a:r>
          </a:p>
          <a:p>
            <a:pPr marL="0" indent="0">
              <a:buNone/>
            </a:pPr>
            <a:r>
              <a:rPr lang="fr-FR" sz="2200" dirty="0"/>
              <a:t>BODY = 4, </a:t>
            </a:r>
            <a:r>
              <a:rPr lang="fr-FR" sz="2200" dirty="0" err="1"/>
              <a:t>weight</a:t>
            </a:r>
            <a:r>
              <a:rPr lang="fr-FR" sz="2200" dirty="0"/>
              <a:t> = −0.73 → −2.92</a:t>
            </a:r>
          </a:p>
          <a:p>
            <a:pPr marL="0" indent="0">
              <a:buNone/>
            </a:pPr>
            <a:r>
              <a:rPr lang="fr-FR" sz="2200" dirty="0"/>
              <a:t>Score = 28.50 + 7.60 + 5.81 − 2.92 = </a:t>
            </a:r>
            <a:r>
              <a:rPr lang="fr-FR" sz="2200" b="1" dirty="0"/>
              <a:t>+39.00</a:t>
            </a:r>
            <a:endParaRPr lang="en-US" sz="2200" dirty="0">
              <a:solidFill>
                <a:srgbClr val="FF0000"/>
              </a:solidFill>
            </a:endParaRPr>
          </a:p>
          <a:p>
            <a:pPr marL="0" indent="0">
              <a:buNone/>
            </a:pPr>
            <a:endParaRPr lang="en-US" sz="2200" dirty="0">
              <a:latin typeface="+mj-lt"/>
            </a:endParaRPr>
          </a:p>
          <a:p>
            <a:pPr marL="0" indent="0">
              <a:buNone/>
            </a:pPr>
            <a:endParaRPr lang="en-GB" sz="2200" noProof="0" dirty="0">
              <a:latin typeface="+mj-lt"/>
            </a:endParaRPr>
          </a:p>
        </p:txBody>
      </p:sp>
      <p:sp>
        <p:nvSpPr>
          <p:cNvPr id="6" name="Titre 1">
            <a:extLst>
              <a:ext uri="{FF2B5EF4-FFF2-40B4-BE49-F238E27FC236}">
                <a16:creationId xmlns:a16="http://schemas.microsoft.com/office/drawing/2014/main" id="{914C4D1A-7C30-4551-E5AE-C0194F3E2131}"/>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a:solidFill>
                  <a:schemeClr val="tx2"/>
                </a:solidFill>
                <a:latin typeface="Bookman Old Style" panose="02050604050505020204" pitchFamily="18" charset="0"/>
              </a:rPr>
              <a:t>Dream/Wakefulness Score</a:t>
            </a:r>
            <a:endParaRPr lang="en-GB" sz="2900" dirty="0">
              <a:latin typeface="Bookman Old Style" panose="02050604050505020204" pitchFamily="18" charset="0"/>
            </a:endParaRPr>
          </a:p>
        </p:txBody>
      </p:sp>
      <p:pic>
        <p:nvPicPr>
          <p:cNvPr id="5" name="Image 4">
            <a:extLst>
              <a:ext uri="{FF2B5EF4-FFF2-40B4-BE49-F238E27FC236}">
                <a16:creationId xmlns:a16="http://schemas.microsoft.com/office/drawing/2014/main" id="{3A886F22-F6CD-79D4-F61B-E35FAE40BF72}"/>
              </a:ext>
            </a:extLst>
          </p:cNvPr>
          <p:cNvPicPr>
            <a:picLocks noChangeAspect="1"/>
          </p:cNvPicPr>
          <p:nvPr/>
        </p:nvPicPr>
        <p:blipFill>
          <a:blip r:embed="rId2"/>
          <a:stretch>
            <a:fillRect/>
          </a:stretch>
        </p:blipFill>
        <p:spPr>
          <a:xfrm>
            <a:off x="6338159" y="1084403"/>
            <a:ext cx="4690165" cy="5497268"/>
          </a:xfrm>
          <a:prstGeom prst="rect">
            <a:avLst/>
          </a:prstGeom>
        </p:spPr>
      </p:pic>
    </p:spTree>
    <p:extLst>
      <p:ext uri="{BB962C8B-B14F-4D97-AF65-F5344CB8AC3E}">
        <p14:creationId xmlns:p14="http://schemas.microsoft.com/office/powerpoint/2010/main" val="3100939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F6E3-F721-26FF-8E06-7E40BA4BF52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1896CD0-4F43-A22F-64A0-063F9933AD16}"/>
              </a:ext>
            </a:extLst>
          </p:cNvPr>
          <p:cNvSpPr>
            <a:spLocks noGrp="1"/>
          </p:cNvSpPr>
          <p:nvPr>
            <p:ph idx="1"/>
          </p:nvPr>
        </p:nvSpPr>
        <p:spPr>
          <a:xfrm>
            <a:off x="527255" y="597310"/>
            <a:ext cx="11137490" cy="5663380"/>
          </a:xfrm>
        </p:spPr>
        <p:txBody>
          <a:bodyPr>
            <a:noAutofit/>
          </a:bodyPr>
          <a:lstStyle/>
          <a:p>
            <a:pPr marL="0" indent="0">
              <a:buNone/>
            </a:pPr>
            <a:endParaRPr lang="fr-FR" sz="2200" dirty="0">
              <a:solidFill>
                <a:srgbClr val="FF0000"/>
              </a:solidFill>
              <a:latin typeface="+mj-lt"/>
            </a:endParaRPr>
          </a:p>
          <a:p>
            <a:pPr marL="0" indent="0">
              <a:buNone/>
            </a:pPr>
            <a:endParaRPr lang="en-US" sz="2200" b="1" dirty="0">
              <a:latin typeface="+mj-lt"/>
            </a:endParaRPr>
          </a:p>
          <a:p>
            <a:pPr marL="0" indent="0">
              <a:buNone/>
            </a:pPr>
            <a:r>
              <a:rPr lang="en-US" sz="2200" b="1" dirty="0">
                <a:latin typeface="+mj-lt"/>
              </a:rPr>
              <a:t>84 </a:t>
            </a:r>
            <a:r>
              <a:rPr lang="en-US" sz="2200" dirty="0">
                <a:latin typeface="+mj-lt"/>
              </a:rPr>
              <a:t>reports </a:t>
            </a:r>
            <a:r>
              <a:rPr lang="en-US" sz="2200" b="1" dirty="0">
                <a:latin typeface="+mj-lt"/>
              </a:rPr>
              <a:t>scored</a:t>
            </a:r>
            <a:r>
              <a:rPr lang="en-US" sz="2200" dirty="0">
                <a:latin typeface="+mj-lt"/>
              </a:rPr>
              <a:t> for now</a:t>
            </a:r>
          </a:p>
          <a:p>
            <a:pPr marL="0" indent="0">
              <a:buNone/>
            </a:pPr>
            <a:endParaRPr lang="en-US" sz="2200" dirty="0">
              <a:latin typeface="+mj-lt"/>
            </a:endParaRPr>
          </a:p>
          <a:p>
            <a:pPr marL="0" indent="0">
              <a:buNone/>
            </a:pPr>
            <a:endParaRPr lang="fr-FR" sz="2200" b="1" dirty="0">
              <a:latin typeface="+mj-lt"/>
            </a:endParaRPr>
          </a:p>
          <a:p>
            <a:pPr marL="0" indent="0">
              <a:buNone/>
            </a:pPr>
            <a:r>
              <a:rPr lang="fr-FR" sz="2200" b="1" dirty="0" err="1">
                <a:latin typeface="+mj-lt"/>
              </a:rPr>
              <a:t>Overall</a:t>
            </a:r>
            <a:r>
              <a:rPr lang="fr-FR" sz="2200" dirty="0">
                <a:latin typeface="+mj-lt"/>
              </a:rPr>
              <a:t> </a:t>
            </a:r>
            <a:r>
              <a:rPr lang="fr-FR" sz="2200" b="1" dirty="0" err="1">
                <a:latin typeface="+mj-lt"/>
              </a:rPr>
              <a:t>Precision</a:t>
            </a:r>
            <a:r>
              <a:rPr lang="fr-FR" sz="2200" dirty="0">
                <a:latin typeface="+mj-lt"/>
              </a:rPr>
              <a:t> :</a:t>
            </a:r>
            <a:r>
              <a:rPr lang="fr-FR" sz="2200" b="1" dirty="0">
                <a:latin typeface="+mj-lt"/>
              </a:rPr>
              <a:t> </a:t>
            </a:r>
            <a:r>
              <a:rPr lang="fr-FR" sz="2200" dirty="0">
                <a:latin typeface="+mj-lt"/>
              </a:rPr>
              <a:t>74/84 =</a:t>
            </a:r>
            <a:r>
              <a:rPr lang="fr-FR" sz="2200" b="1" dirty="0">
                <a:latin typeface="+mj-lt"/>
              </a:rPr>
              <a:t> 88%</a:t>
            </a:r>
            <a:r>
              <a:rPr lang="fr-FR" sz="2200" dirty="0">
                <a:latin typeface="+mj-lt"/>
              </a:rPr>
              <a:t> </a:t>
            </a:r>
          </a:p>
          <a:p>
            <a:pPr marL="0" indent="0">
              <a:buNone/>
            </a:pPr>
            <a:endParaRPr lang="fr-FR" sz="2200" dirty="0">
              <a:latin typeface="+mj-lt"/>
            </a:endParaRPr>
          </a:p>
          <a:p>
            <a:pPr marL="0" indent="0">
              <a:buNone/>
            </a:pPr>
            <a:endParaRPr lang="fr-FR" sz="2200" dirty="0">
              <a:latin typeface="+mj-lt"/>
            </a:endParaRPr>
          </a:p>
          <a:p>
            <a:pPr marL="0" indent="0">
              <a:buNone/>
            </a:pPr>
            <a:r>
              <a:rPr lang="fr-FR" sz="2200" dirty="0">
                <a:latin typeface="+mj-lt"/>
              </a:rPr>
              <a:t>9 </a:t>
            </a:r>
            <a:r>
              <a:rPr lang="fr-FR" sz="2200" dirty="0" err="1">
                <a:latin typeface="+mj-lt"/>
              </a:rPr>
              <a:t>errors</a:t>
            </a:r>
            <a:r>
              <a:rPr lang="fr-FR" sz="2200" dirty="0">
                <a:latin typeface="+mj-lt"/>
              </a:rPr>
              <a:t> </a:t>
            </a:r>
            <a:r>
              <a:rPr lang="fr-FR" sz="2200" dirty="0">
                <a:latin typeface="+mj-lt"/>
                <a:sym typeface="Wingdings" panose="05000000000000000000" pitchFamily="2" charset="2"/>
              </a:rPr>
              <a:t> </a:t>
            </a:r>
            <a:r>
              <a:rPr lang="fr-FR" sz="2200" dirty="0" err="1">
                <a:latin typeface="+mj-lt"/>
                <a:sym typeface="Wingdings" panose="05000000000000000000" pitchFamily="2" charset="2"/>
              </a:rPr>
              <a:t>only</a:t>
            </a:r>
            <a:r>
              <a:rPr lang="fr-FR" sz="2200" dirty="0">
                <a:latin typeface="+mj-lt"/>
                <a:sym typeface="Wingdings" panose="05000000000000000000" pitchFamily="2" charset="2"/>
              </a:rPr>
              <a:t> 1 </a:t>
            </a:r>
            <a:r>
              <a:rPr lang="fr-FR" sz="2200" dirty="0" err="1">
                <a:latin typeface="+mj-lt"/>
                <a:sym typeface="Wingdings" panose="05000000000000000000" pitchFamily="2" charset="2"/>
              </a:rPr>
              <a:t>Dream</a:t>
            </a:r>
            <a:r>
              <a:rPr lang="fr-FR" sz="2200" dirty="0">
                <a:latin typeface="+mj-lt"/>
                <a:sym typeface="Wingdings" panose="05000000000000000000" pitchFamily="2" charset="2"/>
              </a:rPr>
              <a:t> report </a:t>
            </a:r>
            <a:r>
              <a:rPr lang="fr-FR" sz="2200" dirty="0" err="1">
                <a:latin typeface="+mj-lt"/>
                <a:sym typeface="Wingdings" panose="05000000000000000000" pitchFamily="2" charset="2"/>
              </a:rPr>
              <a:t>misscored</a:t>
            </a:r>
            <a:r>
              <a:rPr lang="fr-FR" sz="2200" dirty="0">
                <a:latin typeface="+mj-lt"/>
                <a:sym typeface="Wingdings" panose="05000000000000000000" pitchFamily="2" charset="2"/>
              </a:rPr>
              <a:t> as </a:t>
            </a:r>
            <a:r>
              <a:rPr lang="fr-FR" sz="2200" dirty="0" err="1">
                <a:latin typeface="+mj-lt"/>
                <a:sym typeface="Wingdings" panose="05000000000000000000" pitchFamily="2" charset="2"/>
              </a:rPr>
              <a:t>Wakefulness</a:t>
            </a:r>
            <a:r>
              <a:rPr lang="fr-FR" sz="2200" dirty="0">
                <a:latin typeface="+mj-lt"/>
                <a:sym typeface="Wingdings" panose="05000000000000000000" pitchFamily="2" charset="2"/>
              </a:rPr>
              <a:t> </a:t>
            </a:r>
          </a:p>
          <a:p>
            <a:pPr marL="0" indent="0">
              <a:buNone/>
            </a:pPr>
            <a:endParaRPr lang="fr-FR" sz="2200" dirty="0">
              <a:latin typeface="+mj-lt"/>
              <a:sym typeface="Wingdings" panose="05000000000000000000" pitchFamily="2" charset="2"/>
            </a:endParaRPr>
          </a:p>
          <a:p>
            <a:pPr marL="0" indent="0">
              <a:buNone/>
            </a:pPr>
            <a:endParaRPr lang="fr-FR" sz="2200" dirty="0">
              <a:latin typeface="+mj-lt"/>
              <a:sym typeface="Wingdings" panose="05000000000000000000" pitchFamily="2" charset="2"/>
            </a:endParaRPr>
          </a:p>
          <a:p>
            <a:pPr marL="0" indent="0">
              <a:buNone/>
            </a:pPr>
            <a:endParaRPr lang="fr-FR" sz="2200" b="1" dirty="0">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
        <p:nvSpPr>
          <p:cNvPr id="6" name="Titre 1">
            <a:extLst>
              <a:ext uri="{FF2B5EF4-FFF2-40B4-BE49-F238E27FC236}">
                <a16:creationId xmlns:a16="http://schemas.microsoft.com/office/drawing/2014/main" id="{5A4E2792-6495-CE44-1E47-7DC0DE80E998}"/>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Performance</a:t>
            </a:r>
          </a:p>
        </p:txBody>
      </p:sp>
    </p:spTree>
    <p:extLst>
      <p:ext uri="{BB962C8B-B14F-4D97-AF65-F5344CB8AC3E}">
        <p14:creationId xmlns:p14="http://schemas.microsoft.com/office/powerpoint/2010/main" val="1803073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B900D-1D67-FCE3-D754-E6BE98BDC79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226CAF7-E033-D4FA-2337-7A7DB277266F}"/>
              </a:ext>
            </a:extLst>
          </p:cNvPr>
          <p:cNvSpPr>
            <a:spLocks noGrp="1"/>
          </p:cNvSpPr>
          <p:nvPr>
            <p:ph idx="1"/>
          </p:nvPr>
        </p:nvSpPr>
        <p:spPr>
          <a:xfrm>
            <a:off x="471859" y="1649654"/>
            <a:ext cx="10776244" cy="4351338"/>
          </a:xfrm>
        </p:spPr>
        <p:txBody>
          <a:bodyPr>
            <a:noAutofit/>
          </a:bodyPr>
          <a:lstStyle/>
          <a:p>
            <a:pPr marL="0" indent="0">
              <a:buNone/>
            </a:pPr>
            <a:r>
              <a:rPr lang="en-US" sz="2200" b="1" dirty="0">
                <a:latin typeface="+mj-lt"/>
              </a:rPr>
              <a:t>Questions : </a:t>
            </a:r>
          </a:p>
          <a:p>
            <a:pPr marL="0" indent="0">
              <a:buNone/>
            </a:pPr>
            <a:endParaRPr lang="en-US" sz="2200" dirty="0">
              <a:latin typeface="+mj-lt"/>
            </a:endParaRPr>
          </a:p>
          <a:p>
            <a:pPr marL="0" indent="0">
              <a:buNone/>
            </a:pPr>
            <a:r>
              <a:rPr lang="en-US" sz="2200" dirty="0">
                <a:latin typeface="+mj-lt"/>
              </a:rPr>
              <a:t>What are the </a:t>
            </a:r>
            <a:r>
              <a:rPr lang="en-US" sz="2200" b="1" dirty="0">
                <a:latin typeface="+mj-lt"/>
              </a:rPr>
              <a:t>principal</a:t>
            </a:r>
            <a:r>
              <a:rPr lang="en-US" sz="2200" dirty="0">
                <a:latin typeface="+mj-lt"/>
              </a:rPr>
              <a:t> </a:t>
            </a:r>
            <a:r>
              <a:rPr lang="en-US" sz="2200" b="1" dirty="0">
                <a:latin typeface="+mj-lt"/>
              </a:rPr>
              <a:t>dimensions</a:t>
            </a:r>
            <a:r>
              <a:rPr lang="en-US" sz="2200" dirty="0">
                <a:latin typeface="+mj-lt"/>
              </a:rPr>
              <a:t> relevant for </a:t>
            </a:r>
            <a:r>
              <a:rPr lang="en-US" sz="2200" b="1" dirty="0">
                <a:latin typeface="+mj-lt"/>
              </a:rPr>
              <a:t>AI scoring </a:t>
            </a:r>
            <a:r>
              <a:rPr lang="en-US" sz="2200" dirty="0">
                <a:latin typeface="+mj-lt"/>
              </a:rPr>
              <a:t>?</a:t>
            </a:r>
          </a:p>
          <a:p>
            <a:pPr marL="0" indent="0">
              <a:buNone/>
            </a:pPr>
            <a:endParaRPr lang="en-US" sz="2200" noProof="0" dirty="0">
              <a:latin typeface="+mj-lt"/>
            </a:endParaRPr>
          </a:p>
          <a:p>
            <a:pPr marL="0" indent="0">
              <a:buNone/>
            </a:pPr>
            <a:endParaRPr lang="en-US" sz="2200" noProof="0" dirty="0">
              <a:latin typeface="+mj-lt"/>
            </a:endParaRPr>
          </a:p>
        </p:txBody>
      </p:sp>
      <p:sp>
        <p:nvSpPr>
          <p:cNvPr id="6" name="Titre 1">
            <a:extLst>
              <a:ext uri="{FF2B5EF4-FFF2-40B4-BE49-F238E27FC236}">
                <a16:creationId xmlns:a16="http://schemas.microsoft.com/office/drawing/2014/main" id="{F2EFEF51-1A17-6FBE-9D99-39A8F307B232}"/>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r>
              <a:rPr lang="fr-FR" sz="3200" dirty="0">
                <a:latin typeface="Bookman Old Style" panose="02050604050505020204" pitchFamily="18" charset="0"/>
              </a:rPr>
              <a:t>The </a:t>
            </a:r>
            <a:r>
              <a:rPr lang="fr-FR" sz="3200" dirty="0" err="1">
                <a:latin typeface="Bookman Old Style" panose="02050604050505020204" pitchFamily="18" charset="0"/>
              </a:rPr>
              <a:t>semantics</a:t>
            </a:r>
            <a:r>
              <a:rPr lang="fr-FR" sz="3200" dirty="0">
                <a:latin typeface="Bookman Old Style" panose="02050604050505020204" pitchFamily="18" charset="0"/>
              </a:rPr>
              <a:t> of </a:t>
            </a:r>
            <a:r>
              <a:rPr lang="fr-FR" sz="3200" dirty="0" err="1">
                <a:latin typeface="Bookman Old Style" panose="02050604050505020204" pitchFamily="18" charset="0"/>
              </a:rPr>
              <a:t>dreams</a:t>
            </a:r>
            <a:endParaRPr lang="fr-FR" sz="3200" dirty="0">
              <a:latin typeface="Bookman Old Style" panose="02050604050505020204" pitchFamily="18" charset="0"/>
            </a:endParaRPr>
          </a:p>
        </p:txBody>
      </p:sp>
    </p:spTree>
    <p:extLst>
      <p:ext uri="{BB962C8B-B14F-4D97-AF65-F5344CB8AC3E}">
        <p14:creationId xmlns:p14="http://schemas.microsoft.com/office/powerpoint/2010/main" val="977988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0FB5E-FF0A-FC30-665D-8E8E1FF5E52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2649152-A891-5B82-B16F-000F5B514DA6}"/>
              </a:ext>
            </a:extLst>
          </p:cNvPr>
          <p:cNvSpPr>
            <a:spLocks noGrp="1"/>
          </p:cNvSpPr>
          <p:nvPr>
            <p:ph idx="1"/>
          </p:nvPr>
        </p:nvSpPr>
        <p:spPr>
          <a:xfrm>
            <a:off x="471859" y="1649654"/>
            <a:ext cx="11002386" cy="4351338"/>
          </a:xfrm>
        </p:spPr>
        <p:txBody>
          <a:bodyPr>
            <a:noAutofit/>
          </a:bodyPr>
          <a:lstStyle/>
          <a:p>
            <a:pPr marL="0" indent="0">
              <a:buNone/>
            </a:pPr>
            <a:r>
              <a:rPr lang="en-US" sz="2200" b="1" dirty="0">
                <a:latin typeface="+mj-lt"/>
              </a:rPr>
              <a:t>Questions : </a:t>
            </a:r>
          </a:p>
          <a:p>
            <a:pPr marL="0" indent="0">
              <a:buNone/>
            </a:pPr>
            <a:endParaRPr lang="en-US" sz="2200" dirty="0">
              <a:latin typeface="+mj-lt"/>
            </a:endParaRPr>
          </a:p>
          <a:p>
            <a:pPr marL="0" indent="0">
              <a:buNone/>
            </a:pPr>
            <a:r>
              <a:rPr lang="en-US" sz="2200" dirty="0">
                <a:latin typeface="+mj-lt"/>
              </a:rPr>
              <a:t>What are the </a:t>
            </a:r>
            <a:r>
              <a:rPr lang="en-US" sz="2200" b="1" dirty="0">
                <a:latin typeface="+mj-lt"/>
              </a:rPr>
              <a:t>principal</a:t>
            </a:r>
            <a:r>
              <a:rPr lang="en-US" sz="2200" dirty="0">
                <a:latin typeface="+mj-lt"/>
              </a:rPr>
              <a:t> </a:t>
            </a:r>
            <a:r>
              <a:rPr lang="en-US" sz="2200" b="1" dirty="0">
                <a:latin typeface="+mj-lt"/>
              </a:rPr>
              <a:t>dimensions</a:t>
            </a:r>
            <a:r>
              <a:rPr lang="en-US" sz="2200" dirty="0">
                <a:latin typeface="+mj-lt"/>
              </a:rPr>
              <a:t> relevant for </a:t>
            </a:r>
            <a:r>
              <a:rPr lang="en-US" sz="2200" b="1" dirty="0">
                <a:latin typeface="+mj-lt"/>
              </a:rPr>
              <a:t>AI scoring </a:t>
            </a:r>
            <a:r>
              <a:rPr lang="en-US" sz="2200" dirty="0">
                <a:latin typeface="+mj-lt"/>
              </a:rPr>
              <a:t>?</a:t>
            </a:r>
          </a:p>
          <a:p>
            <a:pPr marL="0" indent="0">
              <a:buNone/>
            </a:pPr>
            <a:endParaRPr lang="en-US" sz="2200" noProof="0" dirty="0">
              <a:latin typeface="+mj-lt"/>
            </a:endParaRPr>
          </a:p>
          <a:p>
            <a:pPr marL="0" indent="0">
              <a:buNone/>
            </a:pPr>
            <a:r>
              <a:rPr lang="en-US" sz="2200" noProof="0" dirty="0">
                <a:latin typeface="+mj-lt"/>
              </a:rPr>
              <a:t>Do</a:t>
            </a:r>
            <a:r>
              <a:rPr lang="en-US" sz="2200" dirty="0">
                <a:latin typeface="+mj-lt"/>
              </a:rPr>
              <a:t>es it match </a:t>
            </a:r>
            <a:r>
              <a:rPr lang="en-US" sz="2200" b="1" dirty="0">
                <a:latin typeface="+mj-lt"/>
              </a:rPr>
              <a:t>your</a:t>
            </a:r>
            <a:r>
              <a:rPr lang="en-US" sz="2200" dirty="0">
                <a:latin typeface="+mj-lt"/>
              </a:rPr>
              <a:t> determined </a:t>
            </a:r>
            <a:r>
              <a:rPr lang="en-US" sz="2200" b="1" dirty="0">
                <a:latin typeface="+mj-lt"/>
              </a:rPr>
              <a:t>dimensions</a:t>
            </a:r>
            <a:r>
              <a:rPr lang="en-US" sz="2200" dirty="0">
                <a:latin typeface="+mj-lt"/>
              </a:rPr>
              <a:t> ?</a:t>
            </a:r>
          </a:p>
          <a:p>
            <a:pPr marL="0" indent="0">
              <a:buNone/>
            </a:pPr>
            <a:endParaRPr lang="en-US" sz="2200" noProof="0" dirty="0">
              <a:latin typeface="+mj-lt"/>
            </a:endParaRPr>
          </a:p>
        </p:txBody>
      </p:sp>
      <p:sp>
        <p:nvSpPr>
          <p:cNvPr id="6" name="Titre 1">
            <a:extLst>
              <a:ext uri="{FF2B5EF4-FFF2-40B4-BE49-F238E27FC236}">
                <a16:creationId xmlns:a16="http://schemas.microsoft.com/office/drawing/2014/main" id="{2BD5A63E-E98E-262D-ED7C-3C7322077509}"/>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r>
              <a:rPr lang="fr-FR" sz="3200" dirty="0">
                <a:latin typeface="Bookman Old Style" panose="02050604050505020204" pitchFamily="18" charset="0"/>
              </a:rPr>
              <a:t>The </a:t>
            </a:r>
            <a:r>
              <a:rPr lang="fr-FR" sz="3200" dirty="0" err="1">
                <a:latin typeface="Bookman Old Style" panose="02050604050505020204" pitchFamily="18" charset="0"/>
              </a:rPr>
              <a:t>semantics</a:t>
            </a:r>
            <a:r>
              <a:rPr lang="fr-FR" sz="3200" dirty="0">
                <a:latin typeface="Bookman Old Style" panose="02050604050505020204" pitchFamily="18" charset="0"/>
              </a:rPr>
              <a:t> of </a:t>
            </a:r>
            <a:r>
              <a:rPr lang="fr-FR" sz="3200" dirty="0" err="1">
                <a:latin typeface="Bookman Old Style" panose="02050604050505020204" pitchFamily="18" charset="0"/>
              </a:rPr>
              <a:t>dreams</a:t>
            </a:r>
            <a:endParaRPr lang="fr-FR" sz="3200" dirty="0">
              <a:latin typeface="Bookman Old Style" panose="02050604050505020204" pitchFamily="18" charset="0"/>
            </a:endParaRPr>
          </a:p>
        </p:txBody>
      </p:sp>
    </p:spTree>
    <p:extLst>
      <p:ext uri="{BB962C8B-B14F-4D97-AF65-F5344CB8AC3E}">
        <p14:creationId xmlns:p14="http://schemas.microsoft.com/office/powerpoint/2010/main" val="144429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85752-CB4A-8D55-E7AE-2DAB9E46EC3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E6B33CF-AEE1-F3EE-65E4-FD9EDA8619E3}"/>
              </a:ext>
            </a:extLst>
          </p:cNvPr>
          <p:cNvSpPr>
            <a:spLocks noGrp="1"/>
          </p:cNvSpPr>
          <p:nvPr>
            <p:ph idx="1"/>
          </p:nvPr>
        </p:nvSpPr>
        <p:spPr>
          <a:xfrm>
            <a:off x="471859" y="1649654"/>
            <a:ext cx="11238360" cy="4351338"/>
          </a:xfrm>
        </p:spPr>
        <p:txBody>
          <a:bodyPr>
            <a:noAutofit/>
          </a:bodyPr>
          <a:lstStyle/>
          <a:p>
            <a:pPr marL="0" indent="0">
              <a:buNone/>
            </a:pPr>
            <a:r>
              <a:rPr lang="en-US" sz="2200" b="1" dirty="0">
                <a:latin typeface="+mj-lt"/>
              </a:rPr>
              <a:t>Questions : </a:t>
            </a:r>
          </a:p>
          <a:p>
            <a:pPr marL="0" indent="0">
              <a:buNone/>
            </a:pPr>
            <a:endParaRPr lang="en-US" sz="2200" dirty="0">
              <a:latin typeface="+mj-lt"/>
            </a:endParaRPr>
          </a:p>
          <a:p>
            <a:pPr marL="0" indent="0">
              <a:buNone/>
            </a:pPr>
            <a:r>
              <a:rPr lang="en-US" sz="2200" dirty="0">
                <a:latin typeface="+mj-lt"/>
              </a:rPr>
              <a:t>What are the </a:t>
            </a:r>
            <a:r>
              <a:rPr lang="en-US" sz="2200" b="1" dirty="0">
                <a:latin typeface="+mj-lt"/>
              </a:rPr>
              <a:t>principal</a:t>
            </a:r>
            <a:r>
              <a:rPr lang="en-US" sz="2200" dirty="0">
                <a:latin typeface="+mj-lt"/>
              </a:rPr>
              <a:t> </a:t>
            </a:r>
            <a:r>
              <a:rPr lang="en-US" sz="2200" b="1" dirty="0">
                <a:latin typeface="+mj-lt"/>
              </a:rPr>
              <a:t>dimensions</a:t>
            </a:r>
            <a:r>
              <a:rPr lang="en-US" sz="2200" dirty="0">
                <a:latin typeface="+mj-lt"/>
              </a:rPr>
              <a:t> relevant for </a:t>
            </a:r>
            <a:r>
              <a:rPr lang="en-US" sz="2200" b="1" dirty="0">
                <a:latin typeface="+mj-lt"/>
              </a:rPr>
              <a:t>AI scoring </a:t>
            </a:r>
            <a:r>
              <a:rPr lang="en-US" sz="2200" dirty="0">
                <a:latin typeface="+mj-lt"/>
              </a:rPr>
              <a:t>?</a:t>
            </a:r>
          </a:p>
          <a:p>
            <a:pPr marL="0" indent="0">
              <a:buNone/>
            </a:pPr>
            <a:endParaRPr lang="en-US" sz="2200" noProof="0" dirty="0">
              <a:latin typeface="+mj-lt"/>
            </a:endParaRPr>
          </a:p>
          <a:p>
            <a:pPr marL="0" indent="0">
              <a:buNone/>
            </a:pPr>
            <a:r>
              <a:rPr lang="en-US" sz="2200" noProof="0" dirty="0">
                <a:latin typeface="+mj-lt"/>
              </a:rPr>
              <a:t>Do</a:t>
            </a:r>
            <a:r>
              <a:rPr lang="en-US" sz="2200" dirty="0">
                <a:latin typeface="+mj-lt"/>
              </a:rPr>
              <a:t>es it match </a:t>
            </a:r>
            <a:r>
              <a:rPr lang="en-US" sz="2200" b="1" dirty="0">
                <a:latin typeface="+mj-lt"/>
              </a:rPr>
              <a:t>your</a:t>
            </a:r>
            <a:r>
              <a:rPr lang="en-US" sz="2200" dirty="0">
                <a:latin typeface="+mj-lt"/>
              </a:rPr>
              <a:t> determined </a:t>
            </a:r>
            <a:r>
              <a:rPr lang="en-US" sz="2200" b="1" dirty="0">
                <a:latin typeface="+mj-lt"/>
              </a:rPr>
              <a:t>dimensions</a:t>
            </a:r>
            <a:r>
              <a:rPr lang="en-US" sz="2200" dirty="0">
                <a:latin typeface="+mj-lt"/>
              </a:rPr>
              <a:t> ?</a:t>
            </a:r>
          </a:p>
          <a:p>
            <a:pPr marL="0" indent="0">
              <a:buNone/>
            </a:pPr>
            <a:endParaRPr lang="en-US" sz="2200" noProof="0" dirty="0">
              <a:latin typeface="+mj-lt"/>
            </a:endParaRPr>
          </a:p>
          <a:p>
            <a:pPr marL="0" indent="0">
              <a:buNone/>
            </a:pPr>
            <a:r>
              <a:rPr lang="en-US" sz="2200" dirty="0">
                <a:latin typeface="+mj-lt"/>
              </a:rPr>
              <a:t>Does the </a:t>
            </a:r>
            <a:r>
              <a:rPr lang="en-US" sz="2200" b="1" dirty="0">
                <a:latin typeface="+mj-lt"/>
              </a:rPr>
              <a:t>dimensions</a:t>
            </a:r>
            <a:r>
              <a:rPr lang="en-US" sz="2200" dirty="0">
                <a:latin typeface="+mj-lt"/>
              </a:rPr>
              <a:t> are </a:t>
            </a:r>
            <a:r>
              <a:rPr lang="en-US" sz="2200" b="1" dirty="0">
                <a:latin typeface="+mj-lt"/>
              </a:rPr>
              <a:t>homogenous</a:t>
            </a:r>
            <a:r>
              <a:rPr lang="en-US" sz="2200" dirty="0">
                <a:latin typeface="+mj-lt"/>
              </a:rPr>
              <a:t> </a:t>
            </a:r>
            <a:r>
              <a:rPr lang="en-US" sz="2200" b="1" dirty="0">
                <a:latin typeface="+mj-lt"/>
              </a:rPr>
              <a:t>across</a:t>
            </a:r>
            <a:r>
              <a:rPr lang="en-US" sz="2200" dirty="0">
                <a:latin typeface="+mj-lt"/>
              </a:rPr>
              <a:t> </a:t>
            </a:r>
            <a:r>
              <a:rPr lang="en-US" sz="2200" b="1" dirty="0">
                <a:latin typeface="+mj-lt"/>
              </a:rPr>
              <a:t>individuals</a:t>
            </a:r>
            <a:r>
              <a:rPr lang="en-US" sz="2200" dirty="0">
                <a:latin typeface="+mj-lt"/>
              </a:rPr>
              <a:t> ? </a:t>
            </a:r>
            <a:endParaRPr lang="en-GB" sz="2200" noProof="0" dirty="0">
              <a:latin typeface="+mj-lt"/>
            </a:endParaRPr>
          </a:p>
        </p:txBody>
      </p:sp>
      <p:sp>
        <p:nvSpPr>
          <p:cNvPr id="6" name="Titre 1">
            <a:extLst>
              <a:ext uri="{FF2B5EF4-FFF2-40B4-BE49-F238E27FC236}">
                <a16:creationId xmlns:a16="http://schemas.microsoft.com/office/drawing/2014/main" id="{68C26FE5-A08F-9749-C817-0B1C5C36CD45}"/>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r>
              <a:rPr lang="fr-FR" sz="3200" dirty="0">
                <a:latin typeface="Bookman Old Style" panose="02050604050505020204" pitchFamily="18" charset="0"/>
              </a:rPr>
              <a:t>The </a:t>
            </a:r>
            <a:r>
              <a:rPr lang="fr-FR" sz="3200" dirty="0" err="1">
                <a:latin typeface="Bookman Old Style" panose="02050604050505020204" pitchFamily="18" charset="0"/>
              </a:rPr>
              <a:t>semantics</a:t>
            </a:r>
            <a:r>
              <a:rPr lang="fr-FR" sz="3200" dirty="0">
                <a:latin typeface="Bookman Old Style" panose="02050604050505020204" pitchFamily="18" charset="0"/>
              </a:rPr>
              <a:t> of </a:t>
            </a:r>
            <a:r>
              <a:rPr lang="fr-FR" sz="3200" dirty="0" err="1">
                <a:latin typeface="Bookman Old Style" panose="02050604050505020204" pitchFamily="18" charset="0"/>
              </a:rPr>
              <a:t>dreams</a:t>
            </a:r>
            <a:endParaRPr lang="fr-FR" sz="3200" dirty="0">
              <a:latin typeface="Bookman Old Style" panose="02050604050505020204" pitchFamily="18" charset="0"/>
            </a:endParaRPr>
          </a:p>
        </p:txBody>
      </p:sp>
    </p:spTree>
    <p:extLst>
      <p:ext uri="{BB962C8B-B14F-4D97-AF65-F5344CB8AC3E}">
        <p14:creationId xmlns:p14="http://schemas.microsoft.com/office/powerpoint/2010/main" val="1786395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9CBA9-E1B8-B71C-8FE2-0E241565401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FE9176A-6841-5C7F-DD73-A65C3E3BDA94}"/>
              </a:ext>
            </a:extLst>
          </p:cNvPr>
          <p:cNvSpPr>
            <a:spLocks noGrp="1"/>
          </p:cNvSpPr>
          <p:nvPr>
            <p:ph idx="1"/>
          </p:nvPr>
        </p:nvSpPr>
        <p:spPr>
          <a:xfrm>
            <a:off x="471859" y="1452997"/>
            <a:ext cx="9704528" cy="4351338"/>
          </a:xfrm>
        </p:spPr>
        <p:txBody>
          <a:bodyPr>
            <a:noAutofit/>
          </a:bodyPr>
          <a:lstStyle/>
          <a:p>
            <a:pPr marL="0" indent="0">
              <a:buNone/>
            </a:pPr>
            <a:r>
              <a:rPr lang="en-US" sz="2200" b="1" dirty="0">
                <a:latin typeface="+mj-lt"/>
              </a:rPr>
              <a:t>Questions : </a:t>
            </a:r>
          </a:p>
          <a:p>
            <a:pPr marL="0" indent="0">
              <a:buNone/>
            </a:pPr>
            <a:endParaRPr lang="en-US" sz="2200" dirty="0">
              <a:latin typeface="+mj-lt"/>
            </a:endParaRPr>
          </a:p>
          <a:p>
            <a:pPr marL="0" indent="0">
              <a:buNone/>
            </a:pPr>
            <a:endParaRPr lang="en-US" sz="2200" dirty="0">
              <a:latin typeface="+mj-lt"/>
            </a:endParaRPr>
          </a:p>
          <a:p>
            <a:pPr marL="0" indent="0">
              <a:buNone/>
            </a:pPr>
            <a:r>
              <a:rPr lang="en-US" sz="2200" dirty="0">
                <a:latin typeface="+mj-lt"/>
              </a:rPr>
              <a:t>Does the </a:t>
            </a:r>
            <a:r>
              <a:rPr lang="en-US" sz="2200" b="1" dirty="0">
                <a:latin typeface="+mj-lt"/>
              </a:rPr>
              <a:t>domains</a:t>
            </a:r>
            <a:r>
              <a:rPr lang="en-US" sz="2200" dirty="0">
                <a:latin typeface="+mj-lt"/>
              </a:rPr>
              <a:t> can be </a:t>
            </a:r>
            <a:r>
              <a:rPr lang="en-US" sz="2200" b="1" dirty="0">
                <a:latin typeface="+mj-lt"/>
              </a:rPr>
              <a:t>different</a:t>
            </a:r>
            <a:r>
              <a:rPr lang="en-US" sz="2200" dirty="0">
                <a:latin typeface="+mj-lt"/>
              </a:rPr>
              <a:t> in other </a:t>
            </a:r>
            <a:r>
              <a:rPr lang="en-US" sz="2200" b="1" dirty="0">
                <a:latin typeface="+mj-lt"/>
              </a:rPr>
              <a:t>language</a:t>
            </a:r>
            <a:r>
              <a:rPr lang="en-US" sz="2200" dirty="0">
                <a:latin typeface="+mj-lt"/>
              </a:rPr>
              <a:t> or </a:t>
            </a:r>
            <a:r>
              <a:rPr lang="en-US" sz="2200" b="1" dirty="0">
                <a:latin typeface="+mj-lt"/>
              </a:rPr>
              <a:t>culture</a:t>
            </a:r>
            <a:r>
              <a:rPr lang="en-US" sz="2200" dirty="0">
                <a:latin typeface="+mj-lt"/>
              </a:rPr>
              <a:t> ?</a:t>
            </a:r>
          </a:p>
          <a:p>
            <a:pPr marL="0" indent="0">
              <a:buNone/>
            </a:pPr>
            <a:endParaRPr lang="en-US" sz="2200" dirty="0">
              <a:latin typeface="+mj-lt"/>
            </a:endParaRPr>
          </a:p>
          <a:p>
            <a:pPr marL="0" indent="0">
              <a:buNone/>
            </a:pPr>
            <a:r>
              <a:rPr lang="en-US" sz="2200" dirty="0">
                <a:latin typeface="+mj-lt"/>
              </a:rPr>
              <a:t>What is the best way to </a:t>
            </a:r>
            <a:r>
              <a:rPr lang="en-US" sz="2200" b="1" dirty="0">
                <a:latin typeface="+mj-lt"/>
              </a:rPr>
              <a:t>normalize</a:t>
            </a:r>
            <a:r>
              <a:rPr lang="en-US" sz="2200" dirty="0">
                <a:latin typeface="+mj-lt"/>
              </a:rPr>
              <a:t> the score to </a:t>
            </a:r>
            <a:r>
              <a:rPr lang="en-US" sz="2200" b="1" dirty="0">
                <a:latin typeface="+mj-lt"/>
              </a:rPr>
              <a:t>suppress the length report bias</a:t>
            </a:r>
          </a:p>
          <a:p>
            <a:pPr marL="0" indent="0">
              <a:buNone/>
            </a:pPr>
            <a:endParaRPr lang="en-US" sz="2200" dirty="0">
              <a:latin typeface="+mj-lt"/>
            </a:endParaRPr>
          </a:p>
          <a:p>
            <a:pPr marL="0" indent="0">
              <a:buNone/>
            </a:pPr>
            <a:endParaRPr lang="en-US" sz="2200" noProof="0" dirty="0">
              <a:latin typeface="+mj-lt"/>
            </a:endParaRPr>
          </a:p>
        </p:txBody>
      </p:sp>
      <p:sp>
        <p:nvSpPr>
          <p:cNvPr id="6" name="Titre 1">
            <a:extLst>
              <a:ext uri="{FF2B5EF4-FFF2-40B4-BE49-F238E27FC236}">
                <a16:creationId xmlns:a16="http://schemas.microsoft.com/office/drawing/2014/main" id="{53E481FD-902D-A19F-CFA2-349A1287B267}"/>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r>
              <a:rPr lang="fr-FR" sz="3200" dirty="0" err="1">
                <a:latin typeface="Bookman Old Style" panose="02050604050505020204" pitchFamily="18" charset="0"/>
              </a:rPr>
              <a:t>Subsidary</a:t>
            </a:r>
            <a:r>
              <a:rPr lang="fr-FR" sz="3200" dirty="0">
                <a:latin typeface="Bookman Old Style" panose="02050604050505020204" pitchFamily="18" charset="0"/>
              </a:rPr>
              <a:t> questions</a:t>
            </a:r>
          </a:p>
        </p:txBody>
      </p:sp>
    </p:spTree>
    <p:extLst>
      <p:ext uri="{BB962C8B-B14F-4D97-AF65-F5344CB8AC3E}">
        <p14:creationId xmlns:p14="http://schemas.microsoft.com/office/powerpoint/2010/main" val="2892992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FD7B7F-4983-5B4F-9B0B-CB2452E504E4}"/>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D4A09F08-8362-801D-5B09-082608761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324DDC9-A486-8405-D4BA-7029286577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0E47A6D6-CBD4-0686-3767-57575343E907}"/>
              </a:ext>
            </a:extLst>
          </p:cNvPr>
          <p:cNvSpPr>
            <a:spLocks noGrp="1"/>
          </p:cNvSpPr>
          <p:nvPr>
            <p:ph type="ctrTitle"/>
          </p:nvPr>
        </p:nvSpPr>
        <p:spPr>
          <a:xfrm>
            <a:off x="753925" y="1321056"/>
            <a:ext cx="10684151" cy="1991979"/>
          </a:xfrm>
        </p:spPr>
        <p:txBody>
          <a:bodyPr anchor="b">
            <a:normAutofit/>
          </a:bodyPr>
          <a:lstStyle/>
          <a:p>
            <a:r>
              <a:rPr lang="en-GB" sz="5200" dirty="0">
                <a:solidFill>
                  <a:schemeClr val="tx2"/>
                </a:solidFill>
                <a:latin typeface="Bookman Old Style" panose="02050604050505020204" pitchFamily="18" charset="0"/>
              </a:rPr>
              <a:t>Supplementary Data</a:t>
            </a:r>
            <a:endParaRPr lang="fr-FR" sz="5200" dirty="0">
              <a:solidFill>
                <a:schemeClr val="tx2"/>
              </a:solidFill>
            </a:endParaRPr>
          </a:p>
        </p:txBody>
      </p:sp>
      <p:grpSp>
        <p:nvGrpSpPr>
          <p:cNvPr id="42" name="Group 41">
            <a:extLst>
              <a:ext uri="{FF2B5EF4-FFF2-40B4-BE49-F238E27FC236}">
                <a16:creationId xmlns:a16="http://schemas.microsoft.com/office/drawing/2014/main" id="{D92420A2-B36F-8C31-C262-2754EEAD5E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43" name="Freeform: Shape 42">
              <a:extLst>
                <a:ext uri="{FF2B5EF4-FFF2-40B4-BE49-F238E27FC236}">
                  <a16:creationId xmlns:a16="http://schemas.microsoft.com/office/drawing/2014/main" id="{76B8CFBC-A343-9716-9748-BE1283D3EF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0B791AFF-5FAE-A0BD-E49A-2A87275D5E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AA4F4951-2996-E43D-D1BD-B9D31017E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4FC11D59-3B1B-C7DF-AD05-3EBB35889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3A2487CB-2E2D-C501-0151-0B83D81935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49" name="Freeform: Shape 48">
              <a:extLst>
                <a:ext uri="{FF2B5EF4-FFF2-40B4-BE49-F238E27FC236}">
                  <a16:creationId xmlns:a16="http://schemas.microsoft.com/office/drawing/2014/main" id="{B605AC42-1A91-102E-5F05-D98176D82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92E1CD0D-C21E-53EE-0B75-8800D981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AF21E2BD-C26F-0EE9-49E9-CADD28B93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D41BE2B6-11FE-AB65-A256-3A5E48EAF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14086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5BC1F-C9FD-8FB0-4574-25679F7A0A7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67A176A-129A-F09C-5D7F-24751DA0E75C}"/>
              </a:ext>
            </a:extLst>
          </p:cNvPr>
          <p:cNvSpPr>
            <a:spLocks noGrp="1"/>
          </p:cNvSpPr>
          <p:nvPr>
            <p:ph idx="1"/>
          </p:nvPr>
        </p:nvSpPr>
        <p:spPr>
          <a:xfrm>
            <a:off x="710381" y="953729"/>
            <a:ext cx="10193594" cy="5663380"/>
          </a:xfrm>
        </p:spPr>
        <p:txBody>
          <a:bodyPr>
            <a:noAutofit/>
          </a:bodyPr>
          <a:lstStyle/>
          <a:p>
            <a:pPr marL="0" indent="0">
              <a:buNone/>
            </a:pPr>
            <a:endParaRPr lang="fr-FR" sz="1800" dirty="0">
              <a:solidFill>
                <a:srgbClr val="FF0000"/>
              </a:solidFill>
            </a:endParaRPr>
          </a:p>
          <a:p>
            <a:pPr marL="0" indent="0">
              <a:buNone/>
            </a:pPr>
            <a:r>
              <a:rPr lang="fr-FR" sz="1800" b="1" dirty="0">
                <a:solidFill>
                  <a:srgbClr val="FF0000"/>
                </a:solidFill>
                <a:latin typeface="+mj-lt"/>
              </a:rPr>
              <a:t>NDS RAW Score = </a:t>
            </a:r>
            <a:r>
              <a:rPr lang="en-US" sz="1800" b="1" dirty="0">
                <a:solidFill>
                  <a:srgbClr val="FF0000"/>
                </a:solidFill>
                <a:latin typeface="+mj-lt"/>
              </a:rPr>
              <a:t>Σ(</a:t>
            </a:r>
            <a:r>
              <a:rPr lang="en-US" sz="1800" b="1" dirty="0" err="1">
                <a:solidFill>
                  <a:srgbClr val="FF0000"/>
                </a:solidFill>
                <a:latin typeface="+mj-lt"/>
              </a:rPr>
              <a:t>score_i</a:t>
            </a:r>
            <a:r>
              <a:rPr lang="en-US" sz="1800" b="1" dirty="0">
                <a:solidFill>
                  <a:srgbClr val="FF0000"/>
                </a:solidFill>
                <a:latin typeface="+mj-lt"/>
              </a:rPr>
              <a:t> × </a:t>
            </a:r>
            <a:r>
              <a:rPr lang="en-US" sz="1800" b="1" dirty="0" err="1">
                <a:solidFill>
                  <a:srgbClr val="FF0000"/>
                </a:solidFill>
                <a:latin typeface="+mj-lt"/>
              </a:rPr>
              <a:t>weight_i</a:t>
            </a:r>
            <a:r>
              <a:rPr lang="en-US" sz="1800" b="1" dirty="0">
                <a:solidFill>
                  <a:srgbClr val="FF0000"/>
                </a:solidFill>
                <a:latin typeface="+mj-lt"/>
              </a:rPr>
              <a:t>)</a:t>
            </a:r>
          </a:p>
          <a:p>
            <a:pPr marL="0" indent="0">
              <a:buNone/>
            </a:pPr>
            <a:endParaRPr lang="en-US" sz="1800" dirty="0">
              <a:solidFill>
                <a:srgbClr val="FF0000"/>
              </a:solidFill>
              <a:latin typeface="+mj-lt"/>
            </a:endParaRPr>
          </a:p>
          <a:p>
            <a:pPr marL="0" indent="0">
              <a:buNone/>
            </a:pPr>
            <a:r>
              <a:rPr lang="en-US" sz="1800" dirty="0">
                <a:latin typeface="+mj-lt"/>
              </a:rPr>
              <a:t>To avoid bias of report length size </a:t>
            </a:r>
            <a:r>
              <a:rPr lang="en-US" sz="1800" dirty="0">
                <a:latin typeface="+mj-lt"/>
                <a:sym typeface="Wingdings" panose="05000000000000000000" pitchFamily="2" charset="2"/>
              </a:rPr>
              <a:t> </a:t>
            </a:r>
            <a:r>
              <a:rPr lang="en-US" sz="1800" dirty="0" err="1">
                <a:latin typeface="+mj-lt"/>
                <a:sym typeface="Wingdings" panose="05000000000000000000" pitchFamily="2" charset="2"/>
              </a:rPr>
              <a:t>Normalisation</a:t>
            </a:r>
            <a:r>
              <a:rPr lang="en-US" sz="1800" dirty="0">
                <a:latin typeface="+mj-lt"/>
                <a:sym typeface="Wingdings" panose="05000000000000000000" pitchFamily="2" charset="2"/>
              </a:rPr>
              <a:t> : </a:t>
            </a:r>
            <a:r>
              <a:rPr lang="fr-FR" sz="1800" dirty="0">
                <a:latin typeface="+mj-lt"/>
              </a:rPr>
              <a:t>DENOM = </a:t>
            </a:r>
            <a:r>
              <a:rPr lang="el-GR" sz="1800" dirty="0">
                <a:latin typeface="+mj-lt"/>
              </a:rPr>
              <a:t>Σ|</a:t>
            </a:r>
            <a:r>
              <a:rPr lang="fr-FR" sz="1800" dirty="0" err="1">
                <a:latin typeface="+mj-lt"/>
              </a:rPr>
              <a:t>weight_i</a:t>
            </a:r>
            <a:r>
              <a:rPr lang="fr-FR" sz="1800" dirty="0">
                <a:latin typeface="+mj-lt"/>
              </a:rPr>
              <a:t>| </a:t>
            </a:r>
            <a:endParaRPr lang="en-US" sz="1800" dirty="0">
              <a:latin typeface="+mj-lt"/>
              <a:sym typeface="Wingdings" panose="05000000000000000000" pitchFamily="2" charset="2"/>
            </a:endParaRPr>
          </a:p>
          <a:p>
            <a:pPr marL="0" indent="0">
              <a:buNone/>
            </a:pPr>
            <a:endParaRPr lang="en-US" sz="1800" dirty="0">
              <a:solidFill>
                <a:srgbClr val="FF0000"/>
              </a:solidFill>
            </a:endParaRPr>
          </a:p>
        </p:txBody>
      </p:sp>
      <p:sp>
        <p:nvSpPr>
          <p:cNvPr id="6" name="Titre 1">
            <a:extLst>
              <a:ext uri="{FF2B5EF4-FFF2-40B4-BE49-F238E27FC236}">
                <a16:creationId xmlns:a16="http://schemas.microsoft.com/office/drawing/2014/main" id="{AFDF56C8-19BA-C298-F62C-E4DA14ADD8A8}"/>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solidFill>
                  <a:schemeClr val="tx2"/>
                </a:solidFill>
                <a:latin typeface="Bookman Old Style" panose="02050604050505020204" pitchFamily="18" charset="0"/>
              </a:rPr>
              <a:t>Normalised Discriminant Score</a:t>
            </a:r>
            <a:endParaRPr lang="en-GB" sz="2900" dirty="0">
              <a:latin typeface="Bookman Old Style" panose="02050604050505020204" pitchFamily="18" charset="0"/>
            </a:endParaRPr>
          </a:p>
        </p:txBody>
      </p:sp>
    </p:spTree>
    <p:extLst>
      <p:ext uri="{BB962C8B-B14F-4D97-AF65-F5344CB8AC3E}">
        <p14:creationId xmlns:p14="http://schemas.microsoft.com/office/powerpoint/2010/main" val="4120934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FCD98-919B-6E64-1741-71EF431BE46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6437607-FB2E-268F-8211-66B2C9B67A79}"/>
              </a:ext>
            </a:extLst>
          </p:cNvPr>
          <p:cNvSpPr>
            <a:spLocks noGrp="1"/>
          </p:cNvSpPr>
          <p:nvPr>
            <p:ph idx="1"/>
          </p:nvPr>
        </p:nvSpPr>
        <p:spPr>
          <a:xfrm>
            <a:off x="710381" y="953729"/>
            <a:ext cx="10193594" cy="5663380"/>
          </a:xfrm>
        </p:spPr>
        <p:txBody>
          <a:bodyPr>
            <a:noAutofit/>
          </a:bodyPr>
          <a:lstStyle/>
          <a:p>
            <a:pPr marL="0" indent="0">
              <a:buNone/>
            </a:pPr>
            <a:endParaRPr lang="fr-FR" sz="1800" dirty="0">
              <a:solidFill>
                <a:srgbClr val="FF0000"/>
              </a:solidFill>
              <a:latin typeface="+mj-lt"/>
            </a:endParaRPr>
          </a:p>
          <a:p>
            <a:pPr marL="0" indent="0">
              <a:buNone/>
            </a:pPr>
            <a:r>
              <a:rPr lang="fr-FR" sz="1800" b="1" dirty="0">
                <a:solidFill>
                  <a:srgbClr val="FF0000"/>
                </a:solidFill>
                <a:latin typeface="+mj-lt"/>
              </a:rPr>
              <a:t>NDS RAW Score = </a:t>
            </a:r>
            <a:r>
              <a:rPr lang="en-US" sz="1800" b="1" dirty="0">
                <a:solidFill>
                  <a:srgbClr val="FF0000"/>
                </a:solidFill>
                <a:latin typeface="+mj-lt"/>
              </a:rPr>
              <a:t>Σ(</a:t>
            </a:r>
            <a:r>
              <a:rPr lang="en-US" sz="1800" b="1" dirty="0" err="1">
                <a:solidFill>
                  <a:srgbClr val="FF0000"/>
                </a:solidFill>
                <a:latin typeface="+mj-lt"/>
              </a:rPr>
              <a:t>score_i</a:t>
            </a:r>
            <a:r>
              <a:rPr lang="en-US" sz="1800" b="1" dirty="0">
                <a:solidFill>
                  <a:srgbClr val="FF0000"/>
                </a:solidFill>
                <a:latin typeface="+mj-lt"/>
              </a:rPr>
              <a:t> × </a:t>
            </a:r>
            <a:r>
              <a:rPr lang="en-US" sz="1800" b="1" dirty="0" err="1">
                <a:solidFill>
                  <a:srgbClr val="FF0000"/>
                </a:solidFill>
                <a:latin typeface="+mj-lt"/>
              </a:rPr>
              <a:t>weight_i</a:t>
            </a:r>
            <a:r>
              <a:rPr lang="en-US" sz="1800" b="1" dirty="0">
                <a:solidFill>
                  <a:srgbClr val="FF0000"/>
                </a:solidFill>
                <a:latin typeface="+mj-lt"/>
              </a:rPr>
              <a:t>)</a:t>
            </a:r>
          </a:p>
          <a:p>
            <a:pPr marL="0" indent="0">
              <a:buNone/>
            </a:pPr>
            <a:endParaRPr lang="en-US" sz="1800" dirty="0">
              <a:solidFill>
                <a:srgbClr val="FF0000"/>
              </a:solidFill>
              <a:latin typeface="+mj-lt"/>
            </a:endParaRPr>
          </a:p>
          <a:p>
            <a:pPr marL="0" indent="0">
              <a:buNone/>
            </a:pPr>
            <a:r>
              <a:rPr lang="en-US" sz="1800" dirty="0"/>
              <a:t>To avoid bias of report length size </a:t>
            </a:r>
            <a:r>
              <a:rPr lang="en-US" sz="1800" dirty="0">
                <a:latin typeface="+mj-lt"/>
                <a:sym typeface="Wingdings" panose="05000000000000000000" pitchFamily="2" charset="2"/>
              </a:rPr>
              <a:t> </a:t>
            </a:r>
            <a:r>
              <a:rPr lang="en-US" sz="1800" dirty="0" err="1">
                <a:latin typeface="+mj-lt"/>
                <a:sym typeface="Wingdings" panose="05000000000000000000" pitchFamily="2" charset="2"/>
              </a:rPr>
              <a:t>Normalisation</a:t>
            </a:r>
            <a:r>
              <a:rPr lang="en-US" sz="1800" dirty="0">
                <a:latin typeface="+mj-lt"/>
                <a:sym typeface="Wingdings" panose="05000000000000000000" pitchFamily="2" charset="2"/>
              </a:rPr>
              <a:t> : </a:t>
            </a:r>
            <a:r>
              <a:rPr lang="fr-FR" sz="1800" dirty="0">
                <a:latin typeface="+mj-lt"/>
              </a:rPr>
              <a:t>DENOM = </a:t>
            </a:r>
            <a:r>
              <a:rPr lang="el-GR" sz="1800" dirty="0">
                <a:latin typeface="+mj-lt"/>
              </a:rPr>
              <a:t>Σ|</a:t>
            </a:r>
            <a:r>
              <a:rPr lang="fr-FR" sz="1800" dirty="0" err="1">
                <a:latin typeface="+mj-lt"/>
              </a:rPr>
              <a:t>weight_i</a:t>
            </a:r>
            <a:r>
              <a:rPr lang="fr-FR" sz="1800" dirty="0">
                <a:latin typeface="+mj-lt"/>
              </a:rPr>
              <a:t>| </a:t>
            </a:r>
            <a:endParaRPr lang="en-US" sz="1800" dirty="0">
              <a:latin typeface="+mj-lt"/>
              <a:sym typeface="Wingdings" panose="05000000000000000000" pitchFamily="2" charset="2"/>
            </a:endParaRPr>
          </a:p>
          <a:p>
            <a:pPr marL="0" indent="0">
              <a:buNone/>
            </a:pPr>
            <a:r>
              <a:rPr lang="en-US" sz="1800" dirty="0">
                <a:latin typeface="+mj-lt"/>
                <a:sym typeface="Wingdings" panose="05000000000000000000" pitchFamily="2" charset="2"/>
              </a:rPr>
              <a:t> </a:t>
            </a:r>
          </a:p>
          <a:p>
            <a:pPr marL="0" indent="0">
              <a:buNone/>
            </a:pPr>
            <a:r>
              <a:rPr lang="fr-FR" sz="1800" b="1" dirty="0">
                <a:solidFill>
                  <a:srgbClr val="FF0000"/>
                </a:solidFill>
                <a:latin typeface="+mj-lt"/>
              </a:rPr>
              <a:t>NDS = RAW / DENOM</a:t>
            </a:r>
            <a:endParaRPr lang="en-US" sz="1800" b="1" dirty="0">
              <a:solidFill>
                <a:srgbClr val="FF0000"/>
              </a:solidFill>
              <a:latin typeface="+mj-lt"/>
              <a:sym typeface="Wingdings" panose="05000000000000000000" pitchFamily="2" charset="2"/>
            </a:endParaRPr>
          </a:p>
          <a:p>
            <a:pPr marL="0" indent="0">
              <a:buNone/>
            </a:pPr>
            <a:endParaRPr lang="en-US" sz="1800" dirty="0">
              <a:latin typeface="+mj-lt"/>
            </a:endParaRPr>
          </a:p>
          <a:p>
            <a:pPr marL="0" indent="0">
              <a:buNone/>
            </a:pPr>
            <a:endParaRPr lang="en-US" sz="1800" dirty="0">
              <a:solidFill>
                <a:srgbClr val="FF0000"/>
              </a:solidFill>
              <a:latin typeface="+mj-lt"/>
            </a:endParaRPr>
          </a:p>
        </p:txBody>
      </p:sp>
      <p:sp>
        <p:nvSpPr>
          <p:cNvPr id="6" name="Titre 1">
            <a:extLst>
              <a:ext uri="{FF2B5EF4-FFF2-40B4-BE49-F238E27FC236}">
                <a16:creationId xmlns:a16="http://schemas.microsoft.com/office/drawing/2014/main" id="{7E2A78E3-FBFF-BDB6-D3D4-6C7BC4EAF2DA}"/>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solidFill>
                  <a:schemeClr val="tx2"/>
                </a:solidFill>
                <a:latin typeface="Bookman Old Style" panose="02050604050505020204" pitchFamily="18" charset="0"/>
              </a:rPr>
              <a:t>Normalised Discriminant Score</a:t>
            </a:r>
            <a:endParaRPr lang="en-GB" sz="2900" dirty="0">
              <a:latin typeface="Bookman Old Style" panose="02050604050505020204" pitchFamily="18" charset="0"/>
            </a:endParaRPr>
          </a:p>
        </p:txBody>
      </p:sp>
    </p:spTree>
    <p:extLst>
      <p:ext uri="{BB962C8B-B14F-4D97-AF65-F5344CB8AC3E}">
        <p14:creationId xmlns:p14="http://schemas.microsoft.com/office/powerpoint/2010/main" val="3983078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190B7-8C69-53D3-2A57-E349DB22661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F7D11C7-C006-0315-441F-A977112B4F04}"/>
              </a:ext>
            </a:extLst>
          </p:cNvPr>
          <p:cNvSpPr>
            <a:spLocks noGrp="1"/>
          </p:cNvSpPr>
          <p:nvPr>
            <p:ph idx="1"/>
          </p:nvPr>
        </p:nvSpPr>
        <p:spPr>
          <a:xfrm>
            <a:off x="710381" y="953729"/>
            <a:ext cx="10193594" cy="5663380"/>
          </a:xfrm>
        </p:spPr>
        <p:txBody>
          <a:bodyPr>
            <a:noAutofit/>
          </a:bodyPr>
          <a:lstStyle/>
          <a:p>
            <a:pPr marL="0" indent="0">
              <a:buNone/>
            </a:pPr>
            <a:endParaRPr lang="fr-FR" sz="1800" dirty="0">
              <a:solidFill>
                <a:srgbClr val="FF0000"/>
              </a:solidFill>
              <a:latin typeface="+mj-lt"/>
            </a:endParaRPr>
          </a:p>
          <a:p>
            <a:pPr marL="0" indent="0">
              <a:buNone/>
            </a:pPr>
            <a:r>
              <a:rPr lang="fr-FR" sz="1800" b="1" dirty="0">
                <a:solidFill>
                  <a:srgbClr val="FF0000"/>
                </a:solidFill>
                <a:latin typeface="+mj-lt"/>
              </a:rPr>
              <a:t>NDS RAW Score = </a:t>
            </a:r>
            <a:r>
              <a:rPr lang="en-US" sz="1800" b="1" dirty="0">
                <a:solidFill>
                  <a:srgbClr val="FF0000"/>
                </a:solidFill>
                <a:latin typeface="+mj-lt"/>
              </a:rPr>
              <a:t>Σ(</a:t>
            </a:r>
            <a:r>
              <a:rPr lang="en-US" sz="1800" b="1" dirty="0" err="1">
                <a:solidFill>
                  <a:srgbClr val="FF0000"/>
                </a:solidFill>
                <a:latin typeface="+mj-lt"/>
              </a:rPr>
              <a:t>score_i</a:t>
            </a:r>
            <a:r>
              <a:rPr lang="en-US" sz="1800" b="1" dirty="0">
                <a:solidFill>
                  <a:srgbClr val="FF0000"/>
                </a:solidFill>
                <a:latin typeface="+mj-lt"/>
              </a:rPr>
              <a:t> × </a:t>
            </a:r>
            <a:r>
              <a:rPr lang="en-US" sz="1800" b="1" dirty="0" err="1">
                <a:solidFill>
                  <a:srgbClr val="FF0000"/>
                </a:solidFill>
                <a:latin typeface="+mj-lt"/>
              </a:rPr>
              <a:t>weight_i</a:t>
            </a:r>
            <a:r>
              <a:rPr lang="en-US" sz="1800" b="1" dirty="0">
                <a:solidFill>
                  <a:srgbClr val="FF0000"/>
                </a:solidFill>
                <a:latin typeface="+mj-lt"/>
              </a:rPr>
              <a:t>)</a:t>
            </a:r>
          </a:p>
          <a:p>
            <a:pPr marL="0" indent="0">
              <a:buNone/>
            </a:pPr>
            <a:endParaRPr lang="en-US" sz="1800" dirty="0">
              <a:solidFill>
                <a:srgbClr val="FF0000"/>
              </a:solidFill>
              <a:latin typeface="+mj-lt"/>
            </a:endParaRPr>
          </a:p>
          <a:p>
            <a:pPr marL="0" indent="0">
              <a:buNone/>
            </a:pPr>
            <a:r>
              <a:rPr lang="en-US" sz="1800" dirty="0"/>
              <a:t>To avoid bias of report length size </a:t>
            </a:r>
            <a:r>
              <a:rPr lang="en-US" sz="1800" dirty="0">
                <a:latin typeface="+mj-lt"/>
                <a:sym typeface="Wingdings" panose="05000000000000000000" pitchFamily="2" charset="2"/>
              </a:rPr>
              <a:t> </a:t>
            </a:r>
            <a:r>
              <a:rPr lang="en-US" sz="1800" dirty="0" err="1">
                <a:latin typeface="+mj-lt"/>
                <a:sym typeface="Wingdings" panose="05000000000000000000" pitchFamily="2" charset="2"/>
              </a:rPr>
              <a:t>Normalisation</a:t>
            </a:r>
            <a:r>
              <a:rPr lang="en-US" sz="1800" dirty="0">
                <a:latin typeface="+mj-lt"/>
                <a:sym typeface="Wingdings" panose="05000000000000000000" pitchFamily="2" charset="2"/>
              </a:rPr>
              <a:t> : </a:t>
            </a:r>
            <a:r>
              <a:rPr lang="fr-FR" sz="1800" dirty="0">
                <a:latin typeface="+mj-lt"/>
              </a:rPr>
              <a:t>DENOM = </a:t>
            </a:r>
            <a:r>
              <a:rPr lang="el-GR" sz="1800" dirty="0">
                <a:latin typeface="+mj-lt"/>
              </a:rPr>
              <a:t>Σ|</a:t>
            </a:r>
            <a:r>
              <a:rPr lang="fr-FR" sz="1800" dirty="0" err="1">
                <a:latin typeface="+mj-lt"/>
              </a:rPr>
              <a:t>weight_i</a:t>
            </a:r>
            <a:r>
              <a:rPr lang="fr-FR" sz="1800" dirty="0">
                <a:latin typeface="+mj-lt"/>
              </a:rPr>
              <a:t>| </a:t>
            </a:r>
            <a:endParaRPr lang="en-US" sz="1800" dirty="0">
              <a:latin typeface="+mj-lt"/>
              <a:sym typeface="Wingdings" panose="05000000000000000000" pitchFamily="2" charset="2"/>
            </a:endParaRPr>
          </a:p>
          <a:p>
            <a:pPr marL="0" indent="0">
              <a:buNone/>
            </a:pPr>
            <a:r>
              <a:rPr lang="en-US" sz="1800" dirty="0">
                <a:latin typeface="+mj-lt"/>
                <a:sym typeface="Wingdings" panose="05000000000000000000" pitchFamily="2" charset="2"/>
              </a:rPr>
              <a:t> </a:t>
            </a:r>
          </a:p>
          <a:p>
            <a:pPr marL="0" indent="0">
              <a:buNone/>
            </a:pPr>
            <a:r>
              <a:rPr lang="fr-FR" sz="1800" b="1" dirty="0">
                <a:solidFill>
                  <a:srgbClr val="FF0000"/>
                </a:solidFill>
                <a:latin typeface="+mj-lt"/>
              </a:rPr>
              <a:t>NDS = RAW / DENOM</a:t>
            </a:r>
            <a:endParaRPr lang="en-US" sz="1800" b="1" dirty="0">
              <a:solidFill>
                <a:srgbClr val="FF0000"/>
              </a:solidFill>
              <a:latin typeface="+mj-lt"/>
              <a:sym typeface="Wingdings" panose="05000000000000000000" pitchFamily="2" charset="2"/>
            </a:endParaRPr>
          </a:p>
          <a:p>
            <a:pPr marL="0" indent="0">
              <a:buNone/>
            </a:pPr>
            <a:endParaRPr lang="en-US" sz="1800" dirty="0">
              <a:latin typeface="+mj-lt"/>
            </a:endParaRPr>
          </a:p>
          <a:p>
            <a:pPr marL="0" indent="0">
              <a:buNone/>
            </a:pPr>
            <a:r>
              <a:rPr lang="fr-FR" sz="1800" b="1" i="1" dirty="0">
                <a:latin typeface="+mj-lt"/>
              </a:rPr>
              <a:t>« I </a:t>
            </a:r>
            <a:r>
              <a:rPr lang="fr-FR" sz="1800" b="1" i="1" dirty="0" err="1">
                <a:latin typeface="+mj-lt"/>
              </a:rPr>
              <a:t>was</a:t>
            </a:r>
            <a:r>
              <a:rPr lang="fr-FR" sz="1800" b="1" i="1" dirty="0">
                <a:latin typeface="+mj-lt"/>
              </a:rPr>
              <a:t> </a:t>
            </a:r>
            <a:r>
              <a:rPr lang="fr-FR" sz="1800" b="1" i="1" dirty="0" err="1">
                <a:latin typeface="+mj-lt"/>
              </a:rPr>
              <a:t>flying</a:t>
            </a:r>
            <a:r>
              <a:rPr lang="fr-FR" sz="1800" b="1" i="1" dirty="0">
                <a:latin typeface="+mj-lt"/>
              </a:rPr>
              <a:t> »</a:t>
            </a:r>
            <a:endParaRPr lang="fr-FR" sz="1800" b="1" dirty="0">
              <a:latin typeface="+mj-lt"/>
            </a:endParaRPr>
          </a:p>
          <a:p>
            <a:pPr marL="0" indent="0">
              <a:buNone/>
            </a:pPr>
            <a:r>
              <a:rPr lang="fr-FR" sz="1800" dirty="0" err="1">
                <a:latin typeface="+mj-lt"/>
              </a:rPr>
              <a:t>Scorables</a:t>
            </a:r>
            <a:r>
              <a:rPr lang="fr-FR" sz="1800" dirty="0">
                <a:latin typeface="+mj-lt"/>
              </a:rPr>
              <a:t> dimensions :</a:t>
            </a:r>
          </a:p>
          <a:p>
            <a:pPr marL="0" indent="0">
              <a:buNone/>
            </a:pPr>
            <a:r>
              <a:rPr lang="fr-FR" sz="1800" dirty="0">
                <a:latin typeface="+mj-lt"/>
              </a:rPr>
              <a:t>BIZARRENESS = 10, </a:t>
            </a:r>
            <a:r>
              <a:rPr lang="fr-FR" sz="1800" dirty="0" err="1">
                <a:latin typeface="+mj-lt"/>
              </a:rPr>
              <a:t>weight</a:t>
            </a:r>
            <a:r>
              <a:rPr lang="fr-FR" sz="1800" dirty="0">
                <a:latin typeface="+mj-lt"/>
              </a:rPr>
              <a:t> = +2.85 → +28.50</a:t>
            </a:r>
          </a:p>
          <a:p>
            <a:pPr marL="0" indent="0">
              <a:buNone/>
            </a:pPr>
            <a:r>
              <a:rPr lang="fr-FR" sz="1800" dirty="0">
                <a:latin typeface="+mj-lt"/>
              </a:rPr>
              <a:t>VISUAL = 5, </a:t>
            </a:r>
            <a:r>
              <a:rPr lang="fr-FR" sz="1800" dirty="0" err="1">
                <a:latin typeface="+mj-lt"/>
              </a:rPr>
              <a:t>weight</a:t>
            </a:r>
            <a:r>
              <a:rPr lang="fr-FR" sz="1800" dirty="0">
                <a:latin typeface="+mj-lt"/>
              </a:rPr>
              <a:t> = +1.52 → +7.60</a:t>
            </a:r>
          </a:p>
          <a:p>
            <a:pPr marL="0" indent="0">
              <a:buNone/>
            </a:pPr>
            <a:r>
              <a:rPr lang="fr-FR" sz="1800" dirty="0">
                <a:latin typeface="+mj-lt"/>
              </a:rPr>
              <a:t>MOVEMENTS = 7, </a:t>
            </a:r>
            <a:r>
              <a:rPr lang="fr-FR" sz="1800" dirty="0" err="1">
                <a:latin typeface="+mj-lt"/>
              </a:rPr>
              <a:t>weight</a:t>
            </a:r>
            <a:r>
              <a:rPr lang="fr-FR" sz="1800" dirty="0">
                <a:latin typeface="+mj-lt"/>
              </a:rPr>
              <a:t> = +0.83 → +5.81</a:t>
            </a:r>
          </a:p>
          <a:p>
            <a:pPr marL="0" indent="0">
              <a:buNone/>
            </a:pPr>
            <a:r>
              <a:rPr lang="fr-FR" sz="1800" dirty="0">
                <a:latin typeface="+mj-lt"/>
              </a:rPr>
              <a:t>BODY = 4, </a:t>
            </a:r>
            <a:r>
              <a:rPr lang="fr-FR" sz="1800" dirty="0" err="1">
                <a:latin typeface="+mj-lt"/>
              </a:rPr>
              <a:t>weight</a:t>
            </a:r>
            <a:r>
              <a:rPr lang="fr-FR" sz="1800" dirty="0">
                <a:latin typeface="+mj-lt"/>
              </a:rPr>
              <a:t> = −0.73 → −2.92</a:t>
            </a:r>
          </a:p>
          <a:p>
            <a:pPr marL="0" indent="0">
              <a:buNone/>
            </a:pPr>
            <a:r>
              <a:rPr lang="fr-FR" sz="1800" dirty="0">
                <a:latin typeface="+mj-lt"/>
              </a:rPr>
              <a:t>RAW = 28.50 + 7.60 + 5.81 − 2.92 = </a:t>
            </a:r>
            <a:r>
              <a:rPr lang="fr-FR" sz="1800" b="1" dirty="0">
                <a:latin typeface="+mj-lt"/>
              </a:rPr>
              <a:t>+39.00</a:t>
            </a:r>
            <a:r>
              <a:rPr lang="fr-FR" sz="1800" dirty="0">
                <a:latin typeface="+mj-lt"/>
              </a:rPr>
              <a:t> DENOM = 2.85 + 1.52 + 0.83 + 0.73 = </a:t>
            </a:r>
            <a:r>
              <a:rPr lang="fr-FR" sz="1800" b="1" dirty="0">
                <a:latin typeface="+mj-lt"/>
              </a:rPr>
              <a:t>5.93</a:t>
            </a:r>
            <a:r>
              <a:rPr lang="fr-FR" sz="1800" dirty="0">
                <a:latin typeface="+mj-lt"/>
              </a:rPr>
              <a:t> NDS = 39.00 / 5.93 = </a:t>
            </a:r>
            <a:r>
              <a:rPr lang="fr-FR" sz="1800" b="1" dirty="0">
                <a:latin typeface="+mj-lt"/>
              </a:rPr>
              <a:t>+6.58</a:t>
            </a:r>
            <a:endParaRPr lang="fr-FR" sz="1800" dirty="0">
              <a:latin typeface="+mj-lt"/>
            </a:endParaRPr>
          </a:p>
          <a:p>
            <a:pPr marL="0" indent="0">
              <a:buNone/>
            </a:pPr>
            <a:endParaRPr lang="en-US" sz="1800" dirty="0">
              <a:solidFill>
                <a:srgbClr val="FF0000"/>
              </a:solidFill>
              <a:latin typeface="+mj-lt"/>
            </a:endParaRPr>
          </a:p>
        </p:txBody>
      </p:sp>
      <p:sp>
        <p:nvSpPr>
          <p:cNvPr id="6" name="Titre 1">
            <a:extLst>
              <a:ext uri="{FF2B5EF4-FFF2-40B4-BE49-F238E27FC236}">
                <a16:creationId xmlns:a16="http://schemas.microsoft.com/office/drawing/2014/main" id="{29EE8BB6-6BDC-9976-5A94-1A399C867EDB}"/>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solidFill>
                  <a:schemeClr val="tx2"/>
                </a:solidFill>
                <a:latin typeface="Bookman Old Style" panose="02050604050505020204" pitchFamily="18" charset="0"/>
              </a:rPr>
              <a:t>Normalised Discriminant Score</a:t>
            </a:r>
            <a:endParaRPr lang="en-GB" sz="2900" dirty="0">
              <a:latin typeface="Bookman Old Style" panose="02050604050505020204" pitchFamily="18" charset="0"/>
            </a:endParaRPr>
          </a:p>
        </p:txBody>
      </p:sp>
    </p:spTree>
    <p:extLst>
      <p:ext uri="{BB962C8B-B14F-4D97-AF65-F5344CB8AC3E}">
        <p14:creationId xmlns:p14="http://schemas.microsoft.com/office/powerpoint/2010/main" val="2776615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34B64-5618-ACF4-A5AB-78B3408B366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CD0DE4-136C-1DFB-33CB-9120BCF40E36}"/>
              </a:ext>
            </a:extLst>
          </p:cNvPr>
          <p:cNvSpPr>
            <a:spLocks noGrp="1"/>
          </p:cNvSpPr>
          <p:nvPr>
            <p:ph idx="1"/>
          </p:nvPr>
        </p:nvSpPr>
        <p:spPr>
          <a:xfrm>
            <a:off x="527255" y="597310"/>
            <a:ext cx="11137490" cy="5663380"/>
          </a:xfrm>
        </p:spPr>
        <p:txBody>
          <a:bodyPr>
            <a:noAutofit/>
          </a:bodyPr>
          <a:lstStyle/>
          <a:p>
            <a:pPr marL="0" indent="0">
              <a:buNone/>
            </a:pPr>
            <a:endParaRPr lang="fr-FR" sz="2200" dirty="0">
              <a:solidFill>
                <a:srgbClr val="FF0000"/>
              </a:solidFill>
              <a:latin typeface="+mj-lt"/>
            </a:endParaRPr>
          </a:p>
          <a:p>
            <a:pPr marL="0" indent="0">
              <a:buNone/>
            </a:pPr>
            <a:endParaRPr lang="en-US" sz="2200" b="1" dirty="0">
              <a:latin typeface="+mj-lt"/>
            </a:endParaRPr>
          </a:p>
          <a:p>
            <a:pPr marL="0" indent="0">
              <a:buNone/>
            </a:pPr>
            <a:endParaRPr lang="en-US" sz="2200" b="1" dirty="0">
              <a:latin typeface="+mj-lt"/>
            </a:endParaRPr>
          </a:p>
          <a:p>
            <a:pPr marL="0" indent="0">
              <a:buNone/>
            </a:pPr>
            <a:r>
              <a:rPr lang="en-US" sz="2200" b="1" dirty="0">
                <a:latin typeface="+mj-lt"/>
              </a:rPr>
              <a:t>182 </a:t>
            </a:r>
            <a:r>
              <a:rPr lang="en-US" sz="2200" dirty="0">
                <a:latin typeface="+mj-lt"/>
              </a:rPr>
              <a:t>reports scored for now</a:t>
            </a:r>
          </a:p>
          <a:p>
            <a:pPr marL="0" indent="0">
              <a:buNone/>
            </a:pPr>
            <a:endParaRPr lang="en-US" sz="2200" dirty="0">
              <a:latin typeface="+mj-lt"/>
            </a:endParaRPr>
          </a:p>
          <a:p>
            <a:pPr marL="0" indent="0">
              <a:buNone/>
            </a:pPr>
            <a:r>
              <a:rPr lang="fr-FR" sz="2200" b="1" dirty="0" err="1">
                <a:latin typeface="+mj-lt"/>
              </a:rPr>
              <a:t>Overall</a:t>
            </a:r>
            <a:r>
              <a:rPr lang="fr-FR" sz="2200" dirty="0">
                <a:latin typeface="+mj-lt"/>
              </a:rPr>
              <a:t> </a:t>
            </a:r>
            <a:r>
              <a:rPr lang="fr-FR" sz="2200" b="1" dirty="0" err="1">
                <a:latin typeface="+mj-lt"/>
              </a:rPr>
              <a:t>Precision</a:t>
            </a:r>
            <a:r>
              <a:rPr lang="fr-FR" sz="2200" dirty="0">
                <a:latin typeface="+mj-lt"/>
              </a:rPr>
              <a:t> :</a:t>
            </a:r>
            <a:r>
              <a:rPr lang="fr-FR" sz="2200" b="1" dirty="0">
                <a:latin typeface="+mj-lt"/>
              </a:rPr>
              <a:t> </a:t>
            </a:r>
            <a:r>
              <a:rPr lang="fr-FR" sz="2200" dirty="0">
                <a:latin typeface="+mj-lt"/>
              </a:rPr>
              <a:t>178/182 =</a:t>
            </a:r>
            <a:r>
              <a:rPr lang="fr-FR" sz="2200" b="1" dirty="0">
                <a:latin typeface="+mj-lt"/>
              </a:rPr>
              <a:t> 97.8%</a:t>
            </a:r>
            <a:r>
              <a:rPr lang="fr-FR" sz="2200" dirty="0">
                <a:latin typeface="+mj-lt"/>
              </a:rPr>
              <a:t> </a:t>
            </a:r>
          </a:p>
          <a:p>
            <a:pPr marL="0" indent="0">
              <a:buNone/>
            </a:pPr>
            <a:endParaRPr lang="fr-FR" sz="2200" b="1" dirty="0">
              <a:latin typeface="+mj-lt"/>
            </a:endParaRPr>
          </a:p>
          <a:p>
            <a:pPr marL="0" indent="0">
              <a:buNone/>
            </a:pPr>
            <a:r>
              <a:rPr lang="fr-FR" sz="2200" dirty="0">
                <a:latin typeface="+mj-lt"/>
              </a:rPr>
              <a:t>4 </a:t>
            </a:r>
            <a:r>
              <a:rPr lang="fr-FR" sz="2200" dirty="0" err="1">
                <a:latin typeface="+mj-lt"/>
              </a:rPr>
              <a:t>errors</a:t>
            </a:r>
            <a:r>
              <a:rPr lang="fr-FR" sz="2200" dirty="0">
                <a:latin typeface="+mj-lt"/>
              </a:rPr>
              <a:t> are </a:t>
            </a:r>
            <a:r>
              <a:rPr lang="fr-FR" sz="2200" dirty="0" err="1">
                <a:latin typeface="+mj-lt"/>
              </a:rPr>
              <a:t>from</a:t>
            </a:r>
            <a:r>
              <a:rPr lang="fr-FR" sz="2200" dirty="0">
                <a:latin typeface="+mj-lt"/>
              </a:rPr>
              <a:t> the corpus of </a:t>
            </a:r>
            <a:r>
              <a:rPr lang="fr-FR" sz="2200" dirty="0" err="1">
                <a:latin typeface="+mj-lt"/>
              </a:rPr>
              <a:t>Dream</a:t>
            </a:r>
            <a:r>
              <a:rPr lang="fr-FR" sz="2200" dirty="0">
                <a:latin typeface="+mj-lt"/>
              </a:rPr>
              <a:t> and </a:t>
            </a:r>
            <a:r>
              <a:rPr lang="fr-FR" sz="2200" dirty="0" err="1">
                <a:latin typeface="+mj-lt"/>
              </a:rPr>
              <a:t>Mind</a:t>
            </a:r>
            <a:r>
              <a:rPr lang="fr-FR" sz="2200" dirty="0">
                <a:latin typeface="+mj-lt"/>
              </a:rPr>
              <a:t> </a:t>
            </a:r>
            <a:r>
              <a:rPr lang="fr-FR" sz="2200" dirty="0" err="1">
                <a:latin typeface="+mj-lt"/>
              </a:rPr>
              <a:t>wandering</a:t>
            </a:r>
            <a:r>
              <a:rPr lang="fr-FR" sz="2200" dirty="0">
                <a:latin typeface="+mj-lt"/>
              </a:rPr>
              <a:t> reports (</a:t>
            </a:r>
            <a:r>
              <a:rPr lang="fr-FR" sz="2200" dirty="0" err="1">
                <a:latin typeface="+mj-lt"/>
              </a:rPr>
              <a:t>Kirberg</a:t>
            </a:r>
            <a:r>
              <a:rPr lang="fr-FR" sz="2200" dirty="0">
                <a:latin typeface="+mj-lt"/>
              </a:rPr>
              <a:t> 2026) : </a:t>
            </a:r>
            <a:r>
              <a:rPr lang="fr-FR" sz="2200" b="1" dirty="0">
                <a:latin typeface="+mj-lt"/>
              </a:rPr>
              <a:t>71/75 = 94.7%</a:t>
            </a:r>
            <a:endParaRPr lang="en-US" sz="2200" dirty="0">
              <a:latin typeface="+mj-lt"/>
            </a:endParaRPr>
          </a:p>
          <a:p>
            <a:pPr marL="0" indent="0">
              <a:buNone/>
            </a:pPr>
            <a:endParaRPr lang="en-US" sz="2200" dirty="0">
              <a:latin typeface="+mj-lt"/>
            </a:endParaRPr>
          </a:p>
          <a:p>
            <a:pPr marL="0" indent="0">
              <a:buNone/>
            </a:pPr>
            <a:r>
              <a:rPr lang="en-US" sz="2200" dirty="0">
                <a:latin typeface="+mj-lt"/>
              </a:rPr>
              <a:t>4 false negative : Realistic dreams scored as wakefulness – low confidence and ambiguous zone </a:t>
            </a: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
        <p:nvSpPr>
          <p:cNvPr id="6" name="Titre 1">
            <a:extLst>
              <a:ext uri="{FF2B5EF4-FFF2-40B4-BE49-F238E27FC236}">
                <a16:creationId xmlns:a16="http://schemas.microsoft.com/office/drawing/2014/main" id="{EB5A52A0-0D4B-EBE5-1BE1-84CC0D435070}"/>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Performance</a:t>
            </a:r>
          </a:p>
        </p:txBody>
      </p:sp>
    </p:spTree>
    <p:extLst>
      <p:ext uri="{BB962C8B-B14F-4D97-AF65-F5344CB8AC3E}">
        <p14:creationId xmlns:p14="http://schemas.microsoft.com/office/powerpoint/2010/main" val="1612614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B4A49-4B75-F31A-8423-8B768F1D1E7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DE397F6-C35F-6178-24AA-DFB5F395C7BF}"/>
              </a:ext>
            </a:extLst>
          </p:cNvPr>
          <p:cNvSpPr>
            <a:spLocks noGrp="1"/>
          </p:cNvSpPr>
          <p:nvPr>
            <p:ph idx="1"/>
          </p:nvPr>
        </p:nvSpPr>
        <p:spPr>
          <a:xfrm>
            <a:off x="710381" y="953729"/>
            <a:ext cx="10193594" cy="5663380"/>
          </a:xfrm>
        </p:spPr>
        <p:txBody>
          <a:bodyPr>
            <a:noAutofit/>
          </a:bodyPr>
          <a:lstStyle/>
          <a:p>
            <a:pPr marL="0" indent="0">
              <a:buNone/>
            </a:pPr>
            <a:endParaRPr lang="fr-FR" sz="1800" dirty="0">
              <a:solidFill>
                <a:srgbClr val="FF0000"/>
              </a:solidFill>
            </a:endParaRPr>
          </a:p>
          <a:p>
            <a:pPr marL="0" indent="0">
              <a:buNone/>
            </a:pPr>
            <a:endParaRPr lang="en-US" sz="1800" dirty="0">
              <a:solidFill>
                <a:srgbClr val="FF0000"/>
              </a:solidFill>
            </a:endParaRPr>
          </a:p>
        </p:txBody>
      </p:sp>
      <p:sp>
        <p:nvSpPr>
          <p:cNvPr id="6" name="Titre 1">
            <a:extLst>
              <a:ext uri="{FF2B5EF4-FFF2-40B4-BE49-F238E27FC236}">
                <a16:creationId xmlns:a16="http://schemas.microsoft.com/office/drawing/2014/main" id="{4A21A474-3F8C-32A1-A3F9-FC01A281466A}"/>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The ambiguous zone</a:t>
            </a:r>
          </a:p>
        </p:txBody>
      </p:sp>
      <p:pic>
        <p:nvPicPr>
          <p:cNvPr id="4" name="Image 3">
            <a:extLst>
              <a:ext uri="{FF2B5EF4-FFF2-40B4-BE49-F238E27FC236}">
                <a16:creationId xmlns:a16="http://schemas.microsoft.com/office/drawing/2014/main" id="{414EC128-F96D-8032-B3F5-15329D4659B1}"/>
              </a:ext>
            </a:extLst>
          </p:cNvPr>
          <p:cNvPicPr>
            <a:picLocks noChangeAspect="1"/>
          </p:cNvPicPr>
          <p:nvPr/>
        </p:nvPicPr>
        <p:blipFill>
          <a:blip r:embed="rId2"/>
          <a:stretch>
            <a:fillRect/>
          </a:stretch>
        </p:blipFill>
        <p:spPr>
          <a:xfrm>
            <a:off x="2307068" y="1459420"/>
            <a:ext cx="7577864" cy="3545869"/>
          </a:xfrm>
          <a:prstGeom prst="rect">
            <a:avLst/>
          </a:prstGeom>
        </p:spPr>
      </p:pic>
      <p:sp>
        <p:nvSpPr>
          <p:cNvPr id="7" name="ZoneTexte 6">
            <a:extLst>
              <a:ext uri="{FF2B5EF4-FFF2-40B4-BE49-F238E27FC236}">
                <a16:creationId xmlns:a16="http://schemas.microsoft.com/office/drawing/2014/main" id="{EDAB7DE7-0832-5D0A-7E0E-4169B1ED97EC}"/>
              </a:ext>
            </a:extLst>
          </p:cNvPr>
          <p:cNvSpPr txBox="1"/>
          <p:nvPr/>
        </p:nvSpPr>
        <p:spPr>
          <a:xfrm>
            <a:off x="3482463" y="5595755"/>
            <a:ext cx="4649429" cy="430887"/>
          </a:xfrm>
          <a:prstGeom prst="rect">
            <a:avLst/>
          </a:prstGeom>
          <a:noFill/>
        </p:spPr>
        <p:txBody>
          <a:bodyPr wrap="square">
            <a:spAutoFit/>
          </a:bodyPr>
          <a:lstStyle/>
          <a:p>
            <a:pPr marL="0" indent="0">
              <a:buNone/>
            </a:pPr>
            <a:r>
              <a:rPr lang="en-US" sz="2200" b="1" dirty="0">
                <a:latin typeface="+mj-lt"/>
                <a:sym typeface="Wingdings" panose="05000000000000000000" pitchFamily="2" charset="2"/>
              </a:rPr>
              <a:t>100% Accuracy</a:t>
            </a:r>
            <a:r>
              <a:rPr lang="en-US" sz="2200" dirty="0">
                <a:latin typeface="+mj-lt"/>
                <a:sym typeface="Wingdings" panose="05000000000000000000" pitchFamily="2" charset="2"/>
              </a:rPr>
              <a:t> for </a:t>
            </a:r>
            <a:r>
              <a:rPr lang="en-US" sz="2200" b="1" dirty="0">
                <a:latin typeface="+mj-lt"/>
                <a:sym typeface="Wingdings" panose="05000000000000000000" pitchFamily="2" charset="2"/>
              </a:rPr>
              <a:t>NDS</a:t>
            </a:r>
            <a:r>
              <a:rPr lang="en-US" sz="2200" dirty="0">
                <a:latin typeface="+mj-lt"/>
                <a:sym typeface="Wingdings" panose="05000000000000000000" pitchFamily="2" charset="2"/>
              </a:rPr>
              <a:t> &lt; -3 and &gt; +3</a:t>
            </a:r>
          </a:p>
        </p:txBody>
      </p:sp>
    </p:spTree>
    <p:extLst>
      <p:ext uri="{BB962C8B-B14F-4D97-AF65-F5344CB8AC3E}">
        <p14:creationId xmlns:p14="http://schemas.microsoft.com/office/powerpoint/2010/main" val="1724626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FA045-8348-00EA-040B-0E703E03E67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BC9FE89-4862-6E64-5949-7FFB64050E95}"/>
              </a:ext>
            </a:extLst>
          </p:cNvPr>
          <p:cNvSpPr>
            <a:spLocks noGrp="1"/>
          </p:cNvSpPr>
          <p:nvPr>
            <p:ph idx="1"/>
          </p:nvPr>
        </p:nvSpPr>
        <p:spPr>
          <a:xfrm>
            <a:off x="710381" y="806245"/>
            <a:ext cx="10193594" cy="5663380"/>
          </a:xfrm>
        </p:spPr>
        <p:txBody>
          <a:bodyPr>
            <a:noAutofit/>
          </a:bodyPr>
          <a:lstStyle/>
          <a:p>
            <a:pPr marL="0" indent="0">
              <a:buNone/>
            </a:pPr>
            <a:endParaRPr lang="fr-FR" sz="1800" dirty="0">
              <a:solidFill>
                <a:srgbClr val="FF0000"/>
              </a:solidFill>
              <a:latin typeface="+mj-lt"/>
            </a:endParaRPr>
          </a:p>
          <a:p>
            <a:pPr marL="0" indent="0">
              <a:buNone/>
            </a:pPr>
            <a:endParaRPr lang="fr-FR" sz="1800" dirty="0">
              <a:solidFill>
                <a:srgbClr val="FF0000"/>
              </a:solidFill>
              <a:latin typeface="+mj-lt"/>
            </a:endParaRPr>
          </a:p>
          <a:p>
            <a:pPr marL="0" indent="0">
              <a:buNone/>
            </a:pPr>
            <a:endParaRPr lang="fr-FR" sz="1800" dirty="0">
              <a:solidFill>
                <a:srgbClr val="FF0000"/>
              </a:solidFill>
              <a:latin typeface="+mj-lt"/>
            </a:endParaRPr>
          </a:p>
          <a:p>
            <a:pPr marL="0" indent="0">
              <a:buNone/>
            </a:pPr>
            <a:endParaRPr lang="fr-FR" sz="1800" dirty="0">
              <a:solidFill>
                <a:srgbClr val="FF0000"/>
              </a:solidFill>
              <a:latin typeface="+mj-lt"/>
            </a:endParaRPr>
          </a:p>
          <a:p>
            <a:pPr marL="0" indent="0">
              <a:buNone/>
            </a:pPr>
            <a:r>
              <a:rPr lang="en-US" sz="2200" dirty="0">
                <a:latin typeface="+mj-lt"/>
              </a:rPr>
              <a:t>Performance measures of the GLME model for the </a:t>
            </a:r>
            <a:r>
              <a:rPr lang="en-US" sz="2200" b="1" dirty="0">
                <a:latin typeface="+mj-lt"/>
              </a:rPr>
              <a:t>prediction of lexical domains across vigilance states</a:t>
            </a:r>
            <a:r>
              <a:rPr lang="en-US" sz="2200" dirty="0">
                <a:latin typeface="+mj-lt"/>
              </a:rPr>
              <a:t> </a:t>
            </a:r>
            <a:r>
              <a:rPr lang="en-US" sz="2200" dirty="0">
                <a:latin typeface="+mj-lt"/>
                <a:sym typeface="Wingdings" panose="05000000000000000000" pitchFamily="2" charset="2"/>
              </a:rPr>
              <a:t> 32 Lexical domain with Cohen’s d. </a:t>
            </a:r>
            <a:r>
              <a:rPr lang="en-US" sz="2200" i="1" dirty="0">
                <a:latin typeface="+mj-lt"/>
                <a:sym typeface="Wingdings" panose="05000000000000000000" pitchFamily="2" charset="2"/>
              </a:rPr>
              <a:t>(table S4, Elche 2025)</a:t>
            </a:r>
          </a:p>
          <a:p>
            <a:pPr marL="0" indent="0">
              <a:buNone/>
            </a:pPr>
            <a:endParaRPr lang="en-US" sz="2200" i="1" dirty="0">
              <a:solidFill>
                <a:srgbClr val="FF0000"/>
              </a:solidFill>
              <a:latin typeface="+mj-lt"/>
              <a:sym typeface="Wingdings" panose="05000000000000000000" pitchFamily="2" charset="2"/>
            </a:endParaRPr>
          </a:p>
          <a:p>
            <a:pPr marL="0" indent="0">
              <a:buNone/>
            </a:pPr>
            <a:r>
              <a:rPr lang="en-US" sz="2200" b="1" dirty="0">
                <a:latin typeface="+mj-lt"/>
                <a:sym typeface="Wingdings" panose="05000000000000000000" pitchFamily="2" charset="2"/>
              </a:rPr>
              <a:t>Statistical association between lexical domain and vigilance states </a:t>
            </a:r>
          </a:p>
          <a:p>
            <a:pPr marL="0" indent="0">
              <a:buNone/>
            </a:pPr>
            <a:endParaRPr lang="en-US" sz="1800" dirty="0">
              <a:latin typeface="+mj-lt"/>
              <a:sym typeface="Wingdings" panose="05000000000000000000" pitchFamily="2" charset="2"/>
            </a:endParaRPr>
          </a:p>
          <a:p>
            <a:pPr marL="0" indent="0">
              <a:buNone/>
            </a:pPr>
            <a:endParaRPr lang="en-US" sz="1800" dirty="0">
              <a:latin typeface="+mj-lt"/>
            </a:endParaRPr>
          </a:p>
        </p:txBody>
      </p:sp>
      <p:sp>
        <p:nvSpPr>
          <p:cNvPr id="6" name="Titre 1">
            <a:extLst>
              <a:ext uri="{FF2B5EF4-FFF2-40B4-BE49-F238E27FC236}">
                <a16:creationId xmlns:a16="http://schemas.microsoft.com/office/drawing/2014/main" id="{C9C97FB1-367B-0DCD-C5C6-C38F0AAC1B06}"/>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Lexical Adjustment</a:t>
            </a:r>
          </a:p>
        </p:txBody>
      </p:sp>
    </p:spTree>
    <p:extLst>
      <p:ext uri="{BB962C8B-B14F-4D97-AF65-F5344CB8AC3E}">
        <p14:creationId xmlns:p14="http://schemas.microsoft.com/office/powerpoint/2010/main" val="27227510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1766-5823-3273-397D-FC22C5CCA58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6FF4E58-7E8D-8A56-C59B-DB1503328A15}"/>
              </a:ext>
            </a:extLst>
          </p:cNvPr>
          <p:cNvSpPr>
            <a:spLocks noGrp="1"/>
          </p:cNvSpPr>
          <p:nvPr>
            <p:ph idx="1"/>
          </p:nvPr>
        </p:nvSpPr>
        <p:spPr>
          <a:xfrm>
            <a:off x="710381" y="806245"/>
            <a:ext cx="10193594" cy="5663380"/>
          </a:xfrm>
        </p:spPr>
        <p:txBody>
          <a:bodyPr>
            <a:noAutofit/>
          </a:bodyPr>
          <a:lstStyle/>
          <a:p>
            <a:pPr marL="0" indent="0">
              <a:buNone/>
            </a:pPr>
            <a:endParaRPr lang="fr-FR" sz="1800" dirty="0">
              <a:solidFill>
                <a:srgbClr val="FF0000"/>
              </a:solidFill>
              <a:latin typeface="+mj-lt"/>
            </a:endParaRPr>
          </a:p>
          <a:p>
            <a:pPr marL="0" indent="0">
              <a:buNone/>
            </a:pPr>
            <a:r>
              <a:rPr lang="en-US" sz="2200" dirty="0">
                <a:latin typeface="+mj-lt"/>
              </a:rPr>
              <a:t>Performance measures of the GLME model for the </a:t>
            </a:r>
            <a:r>
              <a:rPr lang="en-US" sz="2200" b="1" dirty="0">
                <a:latin typeface="+mj-lt"/>
              </a:rPr>
              <a:t>prediction of lexical domains across vigilance states</a:t>
            </a:r>
            <a:r>
              <a:rPr lang="en-US" sz="2200" dirty="0">
                <a:latin typeface="+mj-lt"/>
              </a:rPr>
              <a:t> </a:t>
            </a:r>
            <a:r>
              <a:rPr lang="en-US" sz="2200" dirty="0">
                <a:latin typeface="+mj-lt"/>
                <a:sym typeface="Wingdings" panose="05000000000000000000" pitchFamily="2" charset="2"/>
              </a:rPr>
              <a:t> 32 Lexical domain with Cohen’s d. </a:t>
            </a:r>
            <a:r>
              <a:rPr lang="en-US" sz="2200" i="1" dirty="0">
                <a:latin typeface="+mj-lt"/>
                <a:sym typeface="Wingdings" panose="05000000000000000000" pitchFamily="2" charset="2"/>
              </a:rPr>
              <a:t>(table S4, Elche 2025)</a:t>
            </a:r>
          </a:p>
          <a:p>
            <a:pPr marL="0" indent="0">
              <a:buNone/>
            </a:pPr>
            <a:endParaRPr lang="en-US" sz="2200" i="1" dirty="0">
              <a:solidFill>
                <a:srgbClr val="FF0000"/>
              </a:solidFill>
              <a:latin typeface="+mj-lt"/>
              <a:sym typeface="Wingdings" panose="05000000000000000000" pitchFamily="2" charset="2"/>
            </a:endParaRPr>
          </a:p>
          <a:p>
            <a:pPr marL="0" indent="0">
              <a:buNone/>
            </a:pPr>
            <a:r>
              <a:rPr lang="en-US" sz="2200" b="1" dirty="0">
                <a:latin typeface="+mj-lt"/>
                <a:sym typeface="Wingdings" panose="05000000000000000000" pitchFamily="2" charset="2"/>
              </a:rPr>
              <a:t>Statistical association between lexical domain and vigilance states </a:t>
            </a:r>
          </a:p>
          <a:p>
            <a:pPr marL="0" indent="0">
              <a:buNone/>
            </a:pPr>
            <a:endParaRPr lang="en-US" sz="2200" dirty="0">
              <a:latin typeface="+mj-lt"/>
              <a:sym typeface="Wingdings" panose="05000000000000000000" pitchFamily="2" charset="2"/>
            </a:endParaRPr>
          </a:p>
          <a:p>
            <a:pPr marL="0" indent="0">
              <a:buNone/>
            </a:pPr>
            <a:r>
              <a:rPr lang="en-US" sz="2200" dirty="0">
                <a:latin typeface="+mj-lt"/>
                <a:sym typeface="Wingdings" panose="05000000000000000000" pitchFamily="2" charset="2"/>
              </a:rPr>
              <a:t>18 Lexical domain used (statistical significance)</a:t>
            </a:r>
          </a:p>
          <a:p>
            <a:pPr marL="0" indent="0">
              <a:buNone/>
            </a:pPr>
            <a:r>
              <a:rPr lang="en-US" sz="2200" dirty="0">
                <a:latin typeface="+mj-lt"/>
                <a:sym typeface="Wingdings" panose="05000000000000000000" pitchFamily="2" charset="2"/>
              </a:rPr>
              <a:t> </a:t>
            </a:r>
            <a:r>
              <a:rPr lang="fr-FR" sz="2200" b="1" dirty="0">
                <a:latin typeface="+mj-lt"/>
              </a:rPr>
              <a:t>Domaines </a:t>
            </a:r>
            <a:r>
              <a:rPr lang="fr-FR" sz="2200" b="1" dirty="0" err="1">
                <a:latin typeface="+mj-lt"/>
              </a:rPr>
              <a:t>dream-favoring</a:t>
            </a:r>
            <a:r>
              <a:rPr lang="fr-FR" sz="2200" b="1" dirty="0">
                <a:latin typeface="+mj-lt"/>
              </a:rPr>
              <a:t> (exemples) :</a:t>
            </a:r>
            <a:endParaRPr lang="fr-FR" sz="2200" dirty="0">
              <a:latin typeface="+mj-lt"/>
            </a:endParaRPr>
          </a:p>
          <a:p>
            <a:pPr marL="0" indent="0">
              <a:buNone/>
            </a:pPr>
            <a:r>
              <a:rPr lang="fr-FR" sz="2200" dirty="0">
                <a:latin typeface="+mj-lt"/>
              </a:rPr>
              <a:t>APPEARANCE (+0.30), ARCHITECTURE/GEOMETRY (+0.25), ANIMALS (+0.25), LOCATIONS (+0.20), THRILLER (+0.20)</a:t>
            </a:r>
          </a:p>
          <a:p>
            <a:pPr marL="0" indent="0">
              <a:buNone/>
            </a:pPr>
            <a:r>
              <a:rPr lang="fr-FR" sz="2200" b="1" dirty="0">
                <a:latin typeface="+mj-lt"/>
              </a:rPr>
              <a:t>Domaines </a:t>
            </a:r>
            <a:r>
              <a:rPr lang="fr-FR" sz="2200" b="1" dirty="0" err="1">
                <a:latin typeface="+mj-lt"/>
              </a:rPr>
              <a:t>wakefulness-favoring</a:t>
            </a:r>
            <a:r>
              <a:rPr lang="fr-FR" sz="2200" b="1" dirty="0">
                <a:latin typeface="+mj-lt"/>
              </a:rPr>
              <a:t> (exemples) :</a:t>
            </a:r>
            <a:endParaRPr lang="fr-FR" sz="2200" dirty="0">
              <a:latin typeface="+mj-lt"/>
            </a:endParaRPr>
          </a:p>
          <a:p>
            <a:pPr marL="0" indent="0">
              <a:buNone/>
            </a:pPr>
            <a:r>
              <a:rPr lang="fr-FR" sz="2200" dirty="0">
                <a:latin typeface="+mj-lt"/>
              </a:rPr>
              <a:t>TIMING (−0.40), HUMANITIES (−0.25), HEALTHCARE (−0.25), TECHNOLOGY (−0.20)</a:t>
            </a:r>
          </a:p>
          <a:p>
            <a:pPr marL="0" indent="0">
              <a:buNone/>
            </a:pPr>
            <a:endParaRPr lang="fr-FR" sz="2200" dirty="0">
              <a:latin typeface="+mj-lt"/>
            </a:endParaRPr>
          </a:p>
          <a:p>
            <a:pPr marL="0" indent="0">
              <a:buNone/>
            </a:pPr>
            <a:r>
              <a:rPr lang="fr-FR" sz="2200" dirty="0" err="1">
                <a:latin typeface="+mj-lt"/>
              </a:rPr>
              <a:t>Allow</a:t>
            </a:r>
            <a:r>
              <a:rPr lang="fr-FR" sz="2200" dirty="0">
                <a:latin typeface="+mj-lt"/>
              </a:rPr>
              <a:t> a </a:t>
            </a:r>
            <a:r>
              <a:rPr lang="fr-FR" sz="2200" b="1" dirty="0" err="1">
                <a:latin typeface="+mj-lt"/>
              </a:rPr>
              <a:t>better</a:t>
            </a:r>
            <a:r>
              <a:rPr lang="fr-FR" sz="2200" b="1" dirty="0">
                <a:latin typeface="+mj-lt"/>
              </a:rPr>
              <a:t> </a:t>
            </a:r>
            <a:r>
              <a:rPr lang="fr-FR" sz="2200" b="1" dirty="0" err="1">
                <a:latin typeface="+mj-lt"/>
              </a:rPr>
              <a:t>judgement</a:t>
            </a:r>
            <a:r>
              <a:rPr lang="fr-FR" sz="2200" b="1" dirty="0">
                <a:latin typeface="+mj-lt"/>
              </a:rPr>
              <a:t> </a:t>
            </a:r>
            <a:r>
              <a:rPr lang="fr-FR" sz="2200" dirty="0">
                <a:latin typeface="+mj-lt"/>
              </a:rPr>
              <a:t>in </a:t>
            </a:r>
            <a:r>
              <a:rPr lang="fr-FR" sz="2200" b="1" dirty="0" err="1">
                <a:latin typeface="+mj-lt"/>
              </a:rPr>
              <a:t>ambiguous</a:t>
            </a:r>
            <a:r>
              <a:rPr lang="fr-FR" sz="2200" dirty="0">
                <a:latin typeface="+mj-lt"/>
              </a:rPr>
              <a:t> zone  </a:t>
            </a:r>
          </a:p>
          <a:p>
            <a:pPr marL="0" indent="0">
              <a:buNone/>
            </a:pPr>
            <a:endParaRPr lang="en-US" sz="1800" dirty="0">
              <a:latin typeface="+mj-lt"/>
              <a:sym typeface="Wingdings" panose="05000000000000000000" pitchFamily="2" charset="2"/>
            </a:endParaRPr>
          </a:p>
          <a:p>
            <a:pPr marL="0" indent="0">
              <a:buNone/>
            </a:pPr>
            <a:endParaRPr lang="en-US" sz="1800" dirty="0">
              <a:latin typeface="+mj-lt"/>
            </a:endParaRPr>
          </a:p>
        </p:txBody>
      </p:sp>
      <p:sp>
        <p:nvSpPr>
          <p:cNvPr id="6" name="Titre 1">
            <a:extLst>
              <a:ext uri="{FF2B5EF4-FFF2-40B4-BE49-F238E27FC236}">
                <a16:creationId xmlns:a16="http://schemas.microsoft.com/office/drawing/2014/main" id="{D045F0FE-0CB7-03E2-A867-3C102459121D}"/>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Lexical Adjustment</a:t>
            </a:r>
          </a:p>
        </p:txBody>
      </p:sp>
    </p:spTree>
    <p:extLst>
      <p:ext uri="{BB962C8B-B14F-4D97-AF65-F5344CB8AC3E}">
        <p14:creationId xmlns:p14="http://schemas.microsoft.com/office/powerpoint/2010/main" val="1921421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792D-2014-B89E-3298-C6ECBF785AF1}"/>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0C489EFC-0922-9825-D710-BC1FFBF52962}"/>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Structural Overrides</a:t>
            </a:r>
          </a:p>
        </p:txBody>
      </p:sp>
      <p:pic>
        <p:nvPicPr>
          <p:cNvPr id="8" name="Image 7">
            <a:extLst>
              <a:ext uri="{FF2B5EF4-FFF2-40B4-BE49-F238E27FC236}">
                <a16:creationId xmlns:a16="http://schemas.microsoft.com/office/drawing/2014/main" id="{685AEAE6-A456-3883-0D23-20082C21C470}"/>
              </a:ext>
            </a:extLst>
          </p:cNvPr>
          <p:cNvPicPr>
            <a:picLocks noChangeAspect="1"/>
          </p:cNvPicPr>
          <p:nvPr/>
        </p:nvPicPr>
        <p:blipFill>
          <a:blip r:embed="rId2"/>
          <a:stretch>
            <a:fillRect/>
          </a:stretch>
        </p:blipFill>
        <p:spPr>
          <a:xfrm>
            <a:off x="5604387" y="1762576"/>
            <a:ext cx="6240920" cy="3332847"/>
          </a:xfrm>
          <a:prstGeom prst="rect">
            <a:avLst/>
          </a:prstGeom>
        </p:spPr>
      </p:pic>
      <p:sp>
        <p:nvSpPr>
          <p:cNvPr id="12" name="Espace réservé du contenu 2">
            <a:extLst>
              <a:ext uri="{FF2B5EF4-FFF2-40B4-BE49-F238E27FC236}">
                <a16:creationId xmlns:a16="http://schemas.microsoft.com/office/drawing/2014/main" id="{1D42A785-4482-C15A-CADF-52F7ACD8E6E8}"/>
              </a:ext>
            </a:extLst>
          </p:cNvPr>
          <p:cNvSpPr>
            <a:spLocks noGrp="1"/>
          </p:cNvSpPr>
          <p:nvPr>
            <p:ph idx="1"/>
          </p:nvPr>
        </p:nvSpPr>
        <p:spPr>
          <a:xfrm>
            <a:off x="572729" y="1194620"/>
            <a:ext cx="4638367" cy="5663380"/>
          </a:xfrm>
        </p:spPr>
        <p:txBody>
          <a:bodyPr>
            <a:noAutofit/>
          </a:bodyPr>
          <a:lstStyle/>
          <a:p>
            <a:pPr marL="0" indent="0">
              <a:buNone/>
            </a:pPr>
            <a:endParaRPr lang="fr-FR" sz="2200" dirty="0">
              <a:solidFill>
                <a:srgbClr val="FF0000"/>
              </a:solidFill>
              <a:latin typeface="+mj-lt"/>
            </a:endParaRPr>
          </a:p>
          <a:p>
            <a:pPr marL="0" indent="0">
              <a:buNone/>
            </a:pPr>
            <a:r>
              <a:rPr lang="en-US" sz="2200" b="1" dirty="0">
                <a:latin typeface="+mj-lt"/>
              </a:rPr>
              <a:t>Overrides</a:t>
            </a:r>
            <a:r>
              <a:rPr lang="en-US" sz="2200" dirty="0">
                <a:latin typeface="+mj-lt"/>
              </a:rPr>
              <a:t> : discrete, binary rules designed to capture </a:t>
            </a:r>
            <a:r>
              <a:rPr lang="en-US" sz="2200" b="1" dirty="0">
                <a:latin typeface="+mj-lt"/>
              </a:rPr>
              <a:t>dream </a:t>
            </a:r>
            <a:r>
              <a:rPr lang="en-US" sz="2200" dirty="0">
                <a:latin typeface="+mj-lt"/>
              </a:rPr>
              <a:t>and</a:t>
            </a:r>
            <a:r>
              <a:rPr lang="en-US" sz="2200" b="1" dirty="0">
                <a:latin typeface="+mj-lt"/>
              </a:rPr>
              <a:t> wakefulness features </a:t>
            </a:r>
            <a:r>
              <a:rPr lang="en-US" sz="2200" dirty="0">
                <a:latin typeface="+mj-lt"/>
              </a:rPr>
              <a:t>that are immediately diagnostic to a human scorer.</a:t>
            </a:r>
          </a:p>
          <a:p>
            <a:pPr marL="0" indent="0">
              <a:buNone/>
            </a:pPr>
            <a:r>
              <a:rPr lang="en-US" sz="2200" dirty="0">
                <a:latin typeface="+mj-lt"/>
              </a:rPr>
              <a:t>Can overpass NDS ambiguous zone.</a:t>
            </a:r>
          </a:p>
          <a:p>
            <a:pPr marL="0" indent="0">
              <a:buNone/>
            </a:pPr>
            <a:endParaRPr lang="en-US" sz="2200" dirty="0">
              <a:latin typeface="+mj-lt"/>
            </a:endParaRPr>
          </a:p>
          <a:p>
            <a:pPr marL="0" indent="0">
              <a:buNone/>
            </a:pPr>
            <a:r>
              <a:rPr lang="en-US" sz="2200" dirty="0">
                <a:latin typeface="+mj-lt"/>
              </a:rPr>
              <a:t>8 Overrides in dreams – 1 is enough to assess dream </a:t>
            </a:r>
          </a:p>
          <a:p>
            <a:pPr marL="0" indent="0">
              <a:buNone/>
            </a:pPr>
            <a:endParaRPr lang="en-US" sz="2200" dirty="0">
              <a:latin typeface="+mj-lt"/>
            </a:endParaRPr>
          </a:p>
          <a:p>
            <a:pPr marL="0" indent="0">
              <a:buNone/>
            </a:pPr>
            <a:r>
              <a:rPr lang="en-US" sz="2200" dirty="0">
                <a:latin typeface="+mj-lt"/>
              </a:rPr>
              <a:t>4 Overrides in wakefulness – 4 need to be present to assess wakefulness</a:t>
            </a: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Tree>
    <p:extLst>
      <p:ext uri="{BB962C8B-B14F-4D97-AF65-F5344CB8AC3E}">
        <p14:creationId xmlns:p14="http://schemas.microsoft.com/office/powerpoint/2010/main" val="1619997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3F413-F300-72A5-14F4-FBE165C8025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D654364-BD1D-2DFF-0394-2BAE1CC0788D}"/>
              </a:ext>
            </a:extLst>
          </p:cNvPr>
          <p:cNvSpPr>
            <a:spLocks noGrp="1"/>
          </p:cNvSpPr>
          <p:nvPr>
            <p:ph idx="1"/>
          </p:nvPr>
        </p:nvSpPr>
        <p:spPr>
          <a:xfrm>
            <a:off x="572729" y="1194620"/>
            <a:ext cx="4638367" cy="5663380"/>
          </a:xfrm>
        </p:spPr>
        <p:txBody>
          <a:bodyPr>
            <a:noAutofit/>
          </a:bodyPr>
          <a:lstStyle/>
          <a:p>
            <a:pPr marL="0" indent="0">
              <a:buNone/>
            </a:pPr>
            <a:endParaRPr lang="fr-FR" sz="2200" dirty="0">
              <a:solidFill>
                <a:srgbClr val="FF0000"/>
              </a:solidFill>
              <a:latin typeface="+mj-lt"/>
            </a:endParaRPr>
          </a:p>
          <a:p>
            <a:pPr marL="0" indent="0">
              <a:buNone/>
            </a:pPr>
            <a:r>
              <a:rPr lang="en-US" sz="2200" b="1" dirty="0">
                <a:latin typeface="+mj-lt"/>
              </a:rPr>
              <a:t>Overrides</a:t>
            </a:r>
            <a:r>
              <a:rPr lang="en-US" sz="2200" dirty="0">
                <a:latin typeface="+mj-lt"/>
              </a:rPr>
              <a:t> : discrete, binary rules designed to capture </a:t>
            </a:r>
            <a:r>
              <a:rPr lang="en-US" sz="2200" b="1" dirty="0">
                <a:latin typeface="+mj-lt"/>
              </a:rPr>
              <a:t>dream </a:t>
            </a:r>
            <a:r>
              <a:rPr lang="en-US" sz="2200" dirty="0">
                <a:latin typeface="+mj-lt"/>
              </a:rPr>
              <a:t>and</a:t>
            </a:r>
            <a:r>
              <a:rPr lang="en-US" sz="2200" b="1" dirty="0">
                <a:latin typeface="+mj-lt"/>
              </a:rPr>
              <a:t> wakefulness features </a:t>
            </a:r>
            <a:r>
              <a:rPr lang="en-US" sz="2200" dirty="0">
                <a:latin typeface="+mj-lt"/>
              </a:rPr>
              <a:t>that are immediately diagnostic to a human scorer.</a:t>
            </a:r>
          </a:p>
          <a:p>
            <a:pPr marL="0" indent="0">
              <a:buNone/>
            </a:pPr>
            <a:r>
              <a:rPr lang="en-US" sz="2200" dirty="0">
                <a:latin typeface="+mj-lt"/>
              </a:rPr>
              <a:t>Can overpass NDS ambiguous zone.</a:t>
            </a:r>
          </a:p>
          <a:p>
            <a:pPr marL="0" indent="0">
              <a:buNone/>
            </a:pPr>
            <a:endParaRPr lang="en-US" sz="2200" dirty="0">
              <a:latin typeface="+mj-lt"/>
            </a:endParaRPr>
          </a:p>
          <a:p>
            <a:pPr marL="0" indent="0">
              <a:buNone/>
            </a:pPr>
            <a:r>
              <a:rPr lang="en-US" sz="2200" dirty="0">
                <a:latin typeface="+mj-lt"/>
              </a:rPr>
              <a:t>8 Overrides in dreams – 1 is enough to assess dream </a:t>
            </a:r>
          </a:p>
          <a:p>
            <a:pPr marL="0" indent="0">
              <a:buNone/>
            </a:pPr>
            <a:endParaRPr lang="en-US" sz="2200" dirty="0">
              <a:latin typeface="+mj-lt"/>
            </a:endParaRPr>
          </a:p>
          <a:p>
            <a:pPr marL="0" indent="0">
              <a:buNone/>
            </a:pPr>
            <a:r>
              <a:rPr lang="en-US" sz="2200" dirty="0">
                <a:latin typeface="+mj-lt"/>
              </a:rPr>
              <a:t>4 Overrides in wakefulness – 4 need to be present to assess wakefulness</a:t>
            </a: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
        <p:nvSpPr>
          <p:cNvPr id="6" name="Titre 1">
            <a:extLst>
              <a:ext uri="{FF2B5EF4-FFF2-40B4-BE49-F238E27FC236}">
                <a16:creationId xmlns:a16="http://schemas.microsoft.com/office/drawing/2014/main" id="{D080FA63-B8B6-8294-B7CF-2280F15D523F}"/>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Structural Overrides</a:t>
            </a:r>
          </a:p>
        </p:txBody>
      </p:sp>
      <p:sp>
        <p:nvSpPr>
          <p:cNvPr id="4" name="ZoneTexte 3">
            <a:extLst>
              <a:ext uri="{FF2B5EF4-FFF2-40B4-BE49-F238E27FC236}">
                <a16:creationId xmlns:a16="http://schemas.microsoft.com/office/drawing/2014/main" id="{D46A50B1-3090-B5A7-32AF-4CE7F42CF12B}"/>
              </a:ext>
            </a:extLst>
          </p:cNvPr>
          <p:cNvSpPr txBox="1"/>
          <p:nvPr/>
        </p:nvSpPr>
        <p:spPr>
          <a:xfrm>
            <a:off x="6096000" y="1900364"/>
            <a:ext cx="5820697" cy="3477875"/>
          </a:xfrm>
          <a:prstGeom prst="rect">
            <a:avLst/>
          </a:prstGeom>
          <a:noFill/>
        </p:spPr>
        <p:txBody>
          <a:bodyPr wrap="square">
            <a:spAutoFit/>
          </a:bodyPr>
          <a:lstStyle/>
          <a:p>
            <a:pPr>
              <a:buNone/>
            </a:pPr>
            <a:r>
              <a:rPr lang="fr-FR" sz="2200" dirty="0"/>
              <a:t>4 </a:t>
            </a:r>
            <a:r>
              <a:rPr lang="fr-FR" sz="2200" dirty="0" err="1"/>
              <a:t>overrides</a:t>
            </a:r>
            <a:r>
              <a:rPr lang="fr-FR" sz="2200" dirty="0"/>
              <a:t> → </a:t>
            </a:r>
            <a:r>
              <a:rPr lang="fr-FR" sz="2200" b="1" dirty="0"/>
              <a:t>WAKEFULNESS</a:t>
            </a:r>
            <a:r>
              <a:rPr lang="fr-FR" sz="2200" dirty="0"/>
              <a:t> ≥90 :</a:t>
            </a:r>
          </a:p>
          <a:p>
            <a:pPr>
              <a:buNone/>
            </a:pPr>
            <a:endParaRPr lang="fr-FR" sz="2200" dirty="0"/>
          </a:p>
          <a:p>
            <a:pPr>
              <a:buFont typeface="+mj-lt"/>
              <a:buAutoNum type="arabicPeriod"/>
            </a:pPr>
            <a:r>
              <a:rPr lang="fr-FR" sz="2200" dirty="0"/>
              <a:t>Explicit temporal </a:t>
            </a:r>
            <a:r>
              <a:rPr lang="fr-FR" sz="2200" dirty="0" err="1"/>
              <a:t>réference</a:t>
            </a:r>
            <a:endParaRPr lang="fr-FR" sz="2200" dirty="0"/>
          </a:p>
          <a:p>
            <a:pPr>
              <a:buFont typeface="+mj-lt"/>
              <a:buAutoNum type="arabicPeriod"/>
            </a:pPr>
            <a:endParaRPr lang="fr-FR" sz="2200" dirty="0"/>
          </a:p>
          <a:p>
            <a:pPr>
              <a:buFont typeface="+mj-lt"/>
              <a:buAutoNum type="arabicPeriod"/>
            </a:pPr>
            <a:r>
              <a:rPr lang="fr-FR" sz="2200" dirty="0"/>
              <a:t>Métacognitive process</a:t>
            </a:r>
          </a:p>
          <a:p>
            <a:pPr>
              <a:buFont typeface="+mj-lt"/>
              <a:buAutoNum type="arabicPeriod"/>
            </a:pPr>
            <a:endParaRPr lang="fr-FR" sz="2200" dirty="0"/>
          </a:p>
          <a:p>
            <a:pPr>
              <a:buFont typeface="+mj-lt"/>
              <a:buAutoNum type="arabicPeriod"/>
            </a:pPr>
            <a:r>
              <a:rPr lang="fr-FR" sz="2200" dirty="0" err="1"/>
              <a:t>Narrator</a:t>
            </a:r>
            <a:r>
              <a:rPr lang="fr-FR" sz="2200" dirty="0"/>
              <a:t> </a:t>
            </a:r>
            <a:r>
              <a:rPr lang="fr-FR" sz="2200" dirty="0" err="1"/>
              <a:t>is</a:t>
            </a:r>
            <a:r>
              <a:rPr lang="fr-FR" sz="2200" dirty="0"/>
              <a:t> </a:t>
            </a:r>
            <a:r>
              <a:rPr lang="fr-FR" sz="2200" dirty="0" err="1"/>
              <a:t>actively</a:t>
            </a:r>
            <a:r>
              <a:rPr lang="fr-FR" sz="2200" dirty="0"/>
              <a:t> </a:t>
            </a:r>
            <a:r>
              <a:rPr lang="fr-FR" sz="2200" dirty="0" err="1"/>
              <a:t>initiating</a:t>
            </a:r>
            <a:r>
              <a:rPr lang="fr-FR" sz="2200" dirty="0"/>
              <a:t> all key actions </a:t>
            </a:r>
            <a:r>
              <a:rPr lang="fr-FR" sz="2200" dirty="0" err="1"/>
              <a:t>deliberately</a:t>
            </a:r>
            <a:endParaRPr lang="fr-FR" sz="2200" dirty="0"/>
          </a:p>
          <a:p>
            <a:pPr>
              <a:buFont typeface="+mj-lt"/>
              <a:buAutoNum type="arabicPeriod"/>
            </a:pPr>
            <a:endParaRPr lang="fr-FR" sz="2200" dirty="0"/>
          </a:p>
          <a:p>
            <a:pPr>
              <a:buFont typeface="+mj-lt"/>
              <a:buAutoNum type="arabicPeriod"/>
            </a:pPr>
            <a:r>
              <a:rPr lang="fr-FR" sz="2200" dirty="0"/>
              <a:t>None bizarre or impossible </a:t>
            </a:r>
            <a:r>
              <a:rPr lang="fr-FR" sz="2200" dirty="0" err="1"/>
              <a:t>event</a:t>
            </a:r>
            <a:r>
              <a:rPr lang="fr-FR" sz="2200" dirty="0"/>
              <a:t> or </a:t>
            </a:r>
            <a:r>
              <a:rPr lang="fr-FR" sz="2200" dirty="0" err="1"/>
              <a:t>element</a:t>
            </a:r>
            <a:r>
              <a:rPr lang="fr-FR" sz="2200" dirty="0"/>
              <a:t> </a:t>
            </a:r>
          </a:p>
        </p:txBody>
      </p:sp>
    </p:spTree>
    <p:extLst>
      <p:ext uri="{BB962C8B-B14F-4D97-AF65-F5344CB8AC3E}">
        <p14:creationId xmlns:p14="http://schemas.microsoft.com/office/powerpoint/2010/main" val="805761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557B6-12AF-5EC3-82E5-7D158A0C8ED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4DBACDC-2961-50D6-C299-86A9958191D8}"/>
              </a:ext>
            </a:extLst>
          </p:cNvPr>
          <p:cNvSpPr>
            <a:spLocks noGrp="1"/>
          </p:cNvSpPr>
          <p:nvPr>
            <p:ph idx="1"/>
          </p:nvPr>
        </p:nvSpPr>
        <p:spPr>
          <a:xfrm>
            <a:off x="527255" y="597310"/>
            <a:ext cx="11137490" cy="5663380"/>
          </a:xfrm>
        </p:spPr>
        <p:txBody>
          <a:bodyPr>
            <a:noAutofit/>
          </a:bodyPr>
          <a:lstStyle/>
          <a:p>
            <a:pPr marL="0" indent="0">
              <a:buNone/>
            </a:pPr>
            <a:endParaRPr lang="en-US" sz="2200" b="1" dirty="0">
              <a:latin typeface="+mj-lt"/>
            </a:endParaRPr>
          </a:p>
          <a:p>
            <a:pPr marL="0" indent="0">
              <a:buNone/>
            </a:pPr>
            <a:endParaRPr lang="en-US" sz="2200" b="1" dirty="0">
              <a:latin typeface="+mj-lt"/>
            </a:endParaRPr>
          </a:p>
          <a:p>
            <a:pPr marL="0" indent="0">
              <a:buNone/>
            </a:pPr>
            <a:r>
              <a:rPr lang="en-US" sz="2200" b="1" dirty="0">
                <a:latin typeface="+mj-lt"/>
              </a:rPr>
              <a:t>004_21 — Scored as WAKEFULNESS, True = DREAM</a:t>
            </a:r>
          </a:p>
          <a:p>
            <a:pPr marL="0" indent="0">
              <a:buNone/>
            </a:pPr>
            <a:r>
              <a:rPr lang="en-US" sz="2200" i="1" dirty="0">
                <a:latin typeface="+mj-lt"/>
              </a:rPr>
              <a:t>"I was imagining my life in a future in a way that I was imagining all the things I had to do. I was kind of imagining the tasks that I needed to do. Seeing myself as if from the outside doing these tasks, I can't really remember what these tasks were, but it was around this theme of maybe like maybe I need to educate myself some more and maybe I need to talk to this person or do that thing.“</a:t>
            </a:r>
          </a:p>
          <a:p>
            <a:pPr marL="0" indent="0">
              <a:buNone/>
            </a:pPr>
            <a:endParaRPr lang="en-US" sz="2200" i="1" dirty="0">
              <a:latin typeface="+mj-lt"/>
            </a:endParaRPr>
          </a:p>
          <a:p>
            <a:pPr marL="0" indent="0">
              <a:buNone/>
            </a:pPr>
            <a:r>
              <a:rPr lang="en-US" sz="2200" dirty="0">
                <a:latin typeface="+mj-lt"/>
              </a:rPr>
              <a:t>NDS = -1,06 (probable wakefulness) and trigger wakefulness override :</a:t>
            </a:r>
          </a:p>
          <a:p>
            <a:pPr>
              <a:buFont typeface="+mj-lt"/>
              <a:buAutoNum type="arabicPeriod"/>
            </a:pPr>
            <a:r>
              <a:rPr lang="fr-FR" sz="2200" dirty="0">
                <a:latin typeface="+mj-lt"/>
              </a:rPr>
              <a:t>Explicit temporal </a:t>
            </a:r>
            <a:r>
              <a:rPr lang="fr-FR" sz="2200" dirty="0" err="1">
                <a:latin typeface="+mj-lt"/>
              </a:rPr>
              <a:t>réference</a:t>
            </a:r>
            <a:endParaRPr lang="fr-FR" sz="2200" dirty="0">
              <a:latin typeface="+mj-lt"/>
            </a:endParaRPr>
          </a:p>
          <a:p>
            <a:pPr>
              <a:buFont typeface="+mj-lt"/>
              <a:buAutoNum type="arabicPeriod"/>
            </a:pPr>
            <a:r>
              <a:rPr lang="fr-FR" sz="2200" dirty="0">
                <a:latin typeface="+mj-lt"/>
              </a:rPr>
              <a:t>Métacognitive process</a:t>
            </a:r>
          </a:p>
          <a:p>
            <a:pPr>
              <a:buFont typeface="+mj-lt"/>
              <a:buAutoNum type="arabicPeriod"/>
            </a:pPr>
            <a:r>
              <a:rPr lang="fr-FR" sz="2200" dirty="0" err="1">
                <a:latin typeface="+mj-lt"/>
              </a:rPr>
              <a:t>Narrator</a:t>
            </a:r>
            <a:r>
              <a:rPr lang="fr-FR" sz="2200" dirty="0">
                <a:latin typeface="+mj-lt"/>
              </a:rPr>
              <a:t> </a:t>
            </a:r>
            <a:r>
              <a:rPr lang="fr-FR" sz="2200" dirty="0" err="1">
                <a:latin typeface="+mj-lt"/>
              </a:rPr>
              <a:t>is</a:t>
            </a:r>
            <a:r>
              <a:rPr lang="fr-FR" sz="2200" dirty="0">
                <a:latin typeface="+mj-lt"/>
              </a:rPr>
              <a:t> </a:t>
            </a:r>
            <a:r>
              <a:rPr lang="fr-FR" sz="2200" dirty="0" err="1">
                <a:latin typeface="+mj-lt"/>
              </a:rPr>
              <a:t>actively</a:t>
            </a:r>
            <a:r>
              <a:rPr lang="fr-FR" sz="2200" dirty="0">
                <a:latin typeface="+mj-lt"/>
              </a:rPr>
              <a:t> </a:t>
            </a:r>
            <a:r>
              <a:rPr lang="fr-FR" sz="2200" dirty="0" err="1">
                <a:latin typeface="+mj-lt"/>
              </a:rPr>
              <a:t>initiating</a:t>
            </a:r>
            <a:r>
              <a:rPr lang="fr-FR" sz="2200" dirty="0">
                <a:latin typeface="+mj-lt"/>
              </a:rPr>
              <a:t> all key actions </a:t>
            </a:r>
            <a:r>
              <a:rPr lang="fr-FR" sz="2200" dirty="0" err="1">
                <a:latin typeface="+mj-lt"/>
              </a:rPr>
              <a:t>deliberately</a:t>
            </a:r>
            <a:endParaRPr lang="fr-FR" sz="2200" dirty="0">
              <a:latin typeface="+mj-lt"/>
            </a:endParaRPr>
          </a:p>
          <a:p>
            <a:pPr>
              <a:buFont typeface="+mj-lt"/>
              <a:buAutoNum type="arabicPeriod"/>
            </a:pPr>
            <a:r>
              <a:rPr lang="fr-FR" sz="2200" dirty="0">
                <a:latin typeface="+mj-lt"/>
              </a:rPr>
              <a:t>None bizarre or impossible </a:t>
            </a:r>
            <a:r>
              <a:rPr lang="fr-FR" sz="2200" dirty="0" err="1">
                <a:latin typeface="+mj-lt"/>
              </a:rPr>
              <a:t>event</a:t>
            </a:r>
            <a:r>
              <a:rPr lang="fr-FR" sz="2200" dirty="0">
                <a:latin typeface="+mj-lt"/>
              </a:rPr>
              <a:t> or </a:t>
            </a:r>
            <a:r>
              <a:rPr lang="fr-FR" sz="2200" dirty="0" err="1">
                <a:latin typeface="+mj-lt"/>
              </a:rPr>
              <a:t>element</a:t>
            </a:r>
            <a:r>
              <a:rPr lang="fr-FR" sz="2200" dirty="0">
                <a:latin typeface="+mj-lt"/>
              </a:rPr>
              <a:t> </a:t>
            </a: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a:p>
            <a:pPr marL="0" indent="0">
              <a:buNone/>
            </a:pPr>
            <a:endParaRPr lang="en-US" sz="2200" dirty="0">
              <a:latin typeface="+mj-lt"/>
            </a:endParaRPr>
          </a:p>
        </p:txBody>
      </p:sp>
      <p:sp>
        <p:nvSpPr>
          <p:cNvPr id="6" name="Titre 1">
            <a:extLst>
              <a:ext uri="{FF2B5EF4-FFF2-40B4-BE49-F238E27FC236}">
                <a16:creationId xmlns:a16="http://schemas.microsoft.com/office/drawing/2014/main" id="{30952418-5E7B-CD59-B18A-4CF55F1E6A1F}"/>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dirty="0">
                <a:latin typeface="Bookman Old Style" panose="02050604050505020204" pitchFamily="18" charset="0"/>
              </a:rPr>
              <a:t>Performance</a:t>
            </a:r>
          </a:p>
        </p:txBody>
      </p:sp>
    </p:spTree>
    <p:extLst>
      <p:ext uri="{BB962C8B-B14F-4D97-AF65-F5344CB8AC3E}">
        <p14:creationId xmlns:p14="http://schemas.microsoft.com/office/powerpoint/2010/main" val="5575881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807C-1DCB-910A-3FFD-CC20885CF30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C5BEF30-5C64-F405-2EE2-F086FF538D9D}"/>
              </a:ext>
            </a:extLst>
          </p:cNvPr>
          <p:cNvSpPr>
            <a:spLocks noGrp="1"/>
          </p:cNvSpPr>
          <p:nvPr>
            <p:ph idx="1"/>
          </p:nvPr>
        </p:nvSpPr>
        <p:spPr>
          <a:xfrm>
            <a:off x="527255" y="911943"/>
            <a:ext cx="11137490" cy="5663380"/>
          </a:xfrm>
        </p:spPr>
        <p:txBody>
          <a:bodyPr>
            <a:noAutofit/>
          </a:bodyPr>
          <a:lstStyle/>
          <a:p>
            <a:pPr marL="0" indent="0">
              <a:buNone/>
            </a:pPr>
            <a:endParaRPr lang="en-US" sz="1800" b="1" dirty="0"/>
          </a:p>
          <a:p>
            <a:pPr marL="0" indent="0">
              <a:buNone/>
            </a:pPr>
            <a:endParaRPr lang="en-US" sz="1800" b="1" dirty="0"/>
          </a:p>
          <a:p>
            <a:pPr marL="0" indent="0">
              <a:buNone/>
            </a:pPr>
            <a:endParaRPr lang="en-US" sz="2500" b="1" dirty="0">
              <a:latin typeface="Bookman Old Style" panose="02050604050505020204" pitchFamily="18" charset="0"/>
            </a:endParaRPr>
          </a:p>
          <a:p>
            <a:pPr marL="0" indent="0">
              <a:buNone/>
            </a:pPr>
            <a:r>
              <a:rPr lang="en-US" sz="2200" b="1" dirty="0">
                <a:latin typeface="+mj-lt"/>
              </a:rPr>
              <a:t>Overall </a:t>
            </a:r>
            <a:r>
              <a:rPr lang="en-US" sz="2200" dirty="0">
                <a:latin typeface="+mj-lt"/>
              </a:rPr>
              <a:t>need more</a:t>
            </a:r>
            <a:r>
              <a:rPr lang="en-US" sz="2200" b="1" dirty="0">
                <a:latin typeface="+mj-lt"/>
              </a:rPr>
              <a:t> data </a:t>
            </a:r>
            <a:r>
              <a:rPr lang="en-US" sz="2200" dirty="0">
                <a:latin typeface="+mj-lt"/>
              </a:rPr>
              <a:t>especially of </a:t>
            </a:r>
            <a:r>
              <a:rPr lang="en-US" sz="2200" b="1" dirty="0">
                <a:latin typeface="+mj-lt"/>
              </a:rPr>
              <a:t>wakefulness</a:t>
            </a:r>
            <a:r>
              <a:rPr lang="en-US" sz="2200" dirty="0">
                <a:latin typeface="+mj-lt"/>
              </a:rPr>
              <a:t> reports to improve :</a:t>
            </a:r>
          </a:p>
          <a:p>
            <a:pPr marL="0" indent="0">
              <a:buNone/>
            </a:pPr>
            <a:endParaRPr lang="en-US" sz="2200" dirty="0">
              <a:latin typeface="+mj-lt"/>
            </a:endParaRPr>
          </a:p>
          <a:p>
            <a:pPr>
              <a:buFontTx/>
              <a:buChar char="-"/>
            </a:pPr>
            <a:r>
              <a:rPr lang="en-US" sz="2200" dirty="0">
                <a:latin typeface="+mj-lt"/>
              </a:rPr>
              <a:t>NDS thresholds </a:t>
            </a:r>
          </a:p>
          <a:p>
            <a:pPr>
              <a:buFontTx/>
              <a:buChar char="-"/>
            </a:pPr>
            <a:r>
              <a:rPr lang="en-US" sz="2200" dirty="0">
                <a:latin typeface="+mj-lt"/>
              </a:rPr>
              <a:t>Overrides and lexical adjustment may need improvement or change  </a:t>
            </a:r>
          </a:p>
          <a:p>
            <a:pPr marL="0" indent="0">
              <a:buNone/>
            </a:pPr>
            <a:endParaRPr lang="en-US" sz="1800" dirty="0"/>
          </a:p>
          <a:p>
            <a:pPr marL="0" indent="0">
              <a:buNone/>
            </a:pPr>
            <a:endParaRPr lang="en-US" sz="1800" dirty="0"/>
          </a:p>
        </p:txBody>
      </p:sp>
      <p:sp>
        <p:nvSpPr>
          <p:cNvPr id="6" name="Titre 1">
            <a:extLst>
              <a:ext uri="{FF2B5EF4-FFF2-40B4-BE49-F238E27FC236}">
                <a16:creationId xmlns:a16="http://schemas.microsoft.com/office/drawing/2014/main" id="{9279129F-76ED-4193-2589-5641226243ED}"/>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900" dirty="0">
                <a:latin typeface="Bookman Old Style" panose="02050604050505020204" pitchFamily="18" charset="0"/>
              </a:rPr>
              <a:t>Limits</a:t>
            </a:r>
          </a:p>
        </p:txBody>
      </p:sp>
    </p:spTree>
    <p:extLst>
      <p:ext uri="{BB962C8B-B14F-4D97-AF65-F5344CB8AC3E}">
        <p14:creationId xmlns:p14="http://schemas.microsoft.com/office/powerpoint/2010/main" val="286684535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13914</TotalTime>
  <Words>1309</Words>
  <Application>Microsoft Office PowerPoint</Application>
  <PresentationFormat>Grand écran</PresentationFormat>
  <Paragraphs>258</Paragraphs>
  <Slides>27</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27</vt:i4>
      </vt:variant>
    </vt:vector>
  </HeadingPairs>
  <TitlesOfParts>
    <vt:vector size="33" baseType="lpstr">
      <vt:lpstr>Aptos</vt:lpstr>
      <vt:lpstr>Aptos Display</vt:lpstr>
      <vt:lpstr>Arial</vt:lpstr>
      <vt:lpstr>Bookman Old Style</vt:lpstr>
      <vt:lpstr>Wingdings</vt:lpstr>
      <vt:lpstr>Thème Office</vt:lpstr>
      <vt:lpstr>Dream/Wakefulness classification through LLM</vt:lpstr>
      <vt:lpstr>Project Overview</vt:lpstr>
      <vt:lpstr>Project Overview</vt:lpstr>
      <vt:lpstr>Project Overview</vt:lpstr>
      <vt:lpstr>Project Overview</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Supplementary Data</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Enzo Gerbelot</dc:creator>
  <cp:lastModifiedBy>Enzo Gerbelot</cp:lastModifiedBy>
  <cp:revision>11</cp:revision>
  <dcterms:created xsi:type="dcterms:W3CDTF">2026-02-26T13:29:14Z</dcterms:created>
  <dcterms:modified xsi:type="dcterms:W3CDTF">2026-03-18T22:03:06Z</dcterms:modified>
</cp:coreProperties>
</file>